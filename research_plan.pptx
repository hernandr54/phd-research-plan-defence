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1"/>
  </p:notesMasterIdLst>
  <p:handoutMasterIdLst>
    <p:handoutMasterId r:id="rId32"/>
  </p:handoutMasterIdLst>
  <p:sldIdLst>
    <p:sldId id="276" r:id="rId2"/>
    <p:sldId id="2142532373" r:id="rId3"/>
    <p:sldId id="2142532351" r:id="rId4"/>
    <p:sldId id="2142532411" r:id="rId5"/>
    <p:sldId id="2142532412" r:id="rId6"/>
    <p:sldId id="2142532393" r:id="rId7"/>
    <p:sldId id="2142532408" r:id="rId8"/>
    <p:sldId id="2142532361" r:id="rId9"/>
    <p:sldId id="2142532362" r:id="rId10"/>
    <p:sldId id="2142532401" r:id="rId11"/>
    <p:sldId id="2142532360" r:id="rId12"/>
    <p:sldId id="2142532404" r:id="rId13"/>
    <p:sldId id="2142532389" r:id="rId14"/>
    <p:sldId id="2142532405" r:id="rId15"/>
    <p:sldId id="2142532406" r:id="rId16"/>
    <p:sldId id="2142532407" r:id="rId17"/>
    <p:sldId id="2142532388" r:id="rId18"/>
    <p:sldId id="2142532390" r:id="rId19"/>
    <p:sldId id="2142532391" r:id="rId20"/>
    <p:sldId id="2142532397" r:id="rId21"/>
    <p:sldId id="2142532398" r:id="rId22"/>
    <p:sldId id="2142532399" r:id="rId23"/>
    <p:sldId id="2142532410" r:id="rId24"/>
    <p:sldId id="2142532409" r:id="rId25"/>
    <p:sldId id="2142532352" r:id="rId26"/>
    <p:sldId id="2142532413" r:id="rId27"/>
    <p:sldId id="2142532367" r:id="rId28"/>
    <p:sldId id="2142532414" r:id="rId29"/>
    <p:sldId id="2142532415" r:id="rId3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B3D3FA5-DA8A-4AA5-8314-2FCB465A3D88}">
          <p14:sldIdLst>
            <p14:sldId id="276"/>
            <p14:sldId id="2142532373"/>
            <p14:sldId id="2142532351"/>
            <p14:sldId id="2142532411"/>
            <p14:sldId id="2142532412"/>
            <p14:sldId id="2142532393"/>
            <p14:sldId id="2142532408"/>
            <p14:sldId id="2142532361"/>
            <p14:sldId id="2142532362"/>
            <p14:sldId id="2142532401"/>
            <p14:sldId id="2142532360"/>
            <p14:sldId id="2142532404"/>
            <p14:sldId id="2142532389"/>
            <p14:sldId id="2142532405"/>
            <p14:sldId id="2142532406"/>
            <p14:sldId id="2142532407"/>
            <p14:sldId id="2142532388"/>
            <p14:sldId id="2142532390"/>
            <p14:sldId id="2142532391"/>
            <p14:sldId id="2142532397"/>
            <p14:sldId id="2142532398"/>
            <p14:sldId id="2142532399"/>
            <p14:sldId id="2142532410"/>
            <p14:sldId id="2142532409"/>
            <p14:sldId id="2142532352"/>
            <p14:sldId id="2142532413"/>
            <p14:sldId id="2142532367"/>
            <p14:sldId id="2142532414"/>
            <p14:sldId id="2142532415"/>
          </p14:sldIdLst>
        </p14:section>
      </p14:sectionLst>
    </p:ext>
    <p:ext uri="{EFAFB233-063F-42B5-8137-9DF3F51BA10A}">
      <p15:sldGuideLst xmlns:p15="http://schemas.microsoft.com/office/powerpoint/2012/main">
        <p15:guide id="2" pos="2547" userDrawn="1">
          <p15:clr>
            <a:srgbClr val="FBAE40"/>
          </p15:clr>
        </p15:guide>
        <p15:guide id="3" pos="5133" userDrawn="1">
          <p15:clr>
            <a:srgbClr val="FBAE40"/>
          </p15:clr>
        </p15:guide>
        <p15:guide id="4" orient="horz" pos="1434" userDrawn="1">
          <p15:clr>
            <a:srgbClr val="FBAE40"/>
          </p15:clr>
        </p15:guide>
        <p15:guide id="5" orient="horz" pos="2886" userDrawn="1">
          <p15:clr>
            <a:srgbClr val="FBAE40"/>
          </p15:clr>
        </p15:guide>
        <p15:guide id="6" pos="2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BA8BF8B-89C1-08EF-0E82-7D15D892E166}" name="Dani Gallart" initials="DG" userId="949a1c8a8a9bfa61" providerId="Windows Live"/>
  <p188:author id="{DD3783DD-7162-AD64-0E8E-77110A325325}" name="hernán domingo ramos" initials="hd" userId="efafba4a9fc67a8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7C80"/>
    <a:srgbClr val="7F7F7F"/>
    <a:srgbClr val="7030A0"/>
    <a:srgbClr val="2F3D55"/>
    <a:srgbClr val="405374"/>
    <a:srgbClr val="758BB3"/>
    <a:srgbClr val="203864"/>
    <a:srgbClr val="124484"/>
    <a:srgbClr val="E9EB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598" autoAdjust="0"/>
  </p:normalViewPr>
  <p:slideViewPr>
    <p:cSldViewPr snapToGrid="0" showGuides="1">
      <p:cViewPr varScale="1">
        <p:scale>
          <a:sx n="64" d="100"/>
          <a:sy n="64" d="100"/>
        </p:scale>
        <p:origin x="1349" y="58"/>
      </p:cViewPr>
      <p:guideLst>
        <p:guide pos="2547"/>
        <p:guide pos="5133"/>
        <p:guide orient="horz" pos="1434"/>
        <p:guide orient="horz" pos="2886"/>
        <p:guide pos="2570"/>
      </p:guideLst>
    </p:cSldViewPr>
  </p:slideViewPr>
  <p:outlineViewPr>
    <p:cViewPr>
      <p:scale>
        <a:sx n="33" d="100"/>
        <a:sy n="33" d="100"/>
      </p:scale>
      <p:origin x="0" y="-4704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1" d="100"/>
          <a:sy n="81" d="100"/>
        </p:scale>
        <p:origin x="3894" y="10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8D15E8-D622-43C9-BB35-6B75D6F71690}" type="doc">
      <dgm:prSet loTypeId="urn:microsoft.com/office/officeart/2005/8/layout/venn1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GB"/>
        </a:p>
      </dgm:t>
    </dgm:pt>
    <dgm:pt modelId="{7BB9EAA4-F07F-4A26-96D4-1D5E98261A08}">
      <dgm:prSet phldrT="[Text]"/>
      <dgm:spPr/>
      <dgm:t>
        <a:bodyPr/>
        <a:lstStyle/>
        <a:p>
          <a:r>
            <a:rPr lang="en-GB" dirty="0"/>
            <a:t>Plasma equilibrium</a:t>
          </a:r>
        </a:p>
      </dgm:t>
    </dgm:pt>
    <dgm:pt modelId="{C7BDEEF8-EF1B-448D-BC2F-3EAC10C18066}" type="parTrans" cxnId="{7B1E6924-3463-4DBA-9EA4-055BBA1BF58E}">
      <dgm:prSet/>
      <dgm:spPr/>
      <dgm:t>
        <a:bodyPr/>
        <a:lstStyle/>
        <a:p>
          <a:endParaRPr lang="en-GB"/>
        </a:p>
      </dgm:t>
    </dgm:pt>
    <dgm:pt modelId="{D6254A59-672F-49CE-90D6-2E9B083E3296}" type="sibTrans" cxnId="{7B1E6924-3463-4DBA-9EA4-055BBA1BF58E}">
      <dgm:prSet/>
      <dgm:spPr/>
      <dgm:t>
        <a:bodyPr/>
        <a:lstStyle/>
        <a:p>
          <a:endParaRPr lang="en-GB"/>
        </a:p>
      </dgm:t>
    </dgm:pt>
    <dgm:pt modelId="{ECE2EA8D-BB57-428A-9FDB-1ECBB2252F80}">
      <dgm:prSet phldrT="[Text]"/>
      <dgm:spPr/>
      <dgm:t>
        <a:bodyPr/>
        <a:lstStyle/>
        <a:p>
          <a:r>
            <a:rPr lang="en-GB" dirty="0"/>
            <a:t>Plasma heating</a:t>
          </a:r>
        </a:p>
      </dgm:t>
    </dgm:pt>
    <dgm:pt modelId="{8EA4F5C2-5244-44AA-95CC-FC9E8B2732C7}" type="parTrans" cxnId="{93071B02-0588-4B9E-A236-7ADDAF5A0468}">
      <dgm:prSet/>
      <dgm:spPr/>
      <dgm:t>
        <a:bodyPr/>
        <a:lstStyle/>
        <a:p>
          <a:endParaRPr lang="en-GB"/>
        </a:p>
      </dgm:t>
    </dgm:pt>
    <dgm:pt modelId="{FC5184B5-AF03-4F7C-82E9-95CB316C1BEC}" type="sibTrans" cxnId="{93071B02-0588-4B9E-A236-7ADDAF5A0468}">
      <dgm:prSet/>
      <dgm:spPr/>
      <dgm:t>
        <a:bodyPr/>
        <a:lstStyle/>
        <a:p>
          <a:endParaRPr lang="en-GB"/>
        </a:p>
      </dgm:t>
    </dgm:pt>
    <dgm:pt modelId="{2905D6E5-398A-4358-92E7-4A258E554E60}">
      <dgm:prSet phldrT="[Text]"/>
      <dgm:spPr/>
      <dgm:t>
        <a:bodyPr/>
        <a:lstStyle/>
        <a:p>
          <a:r>
            <a:rPr lang="en-GB" dirty="0"/>
            <a:t>Superconductive coils</a:t>
          </a:r>
        </a:p>
      </dgm:t>
    </dgm:pt>
    <dgm:pt modelId="{E9EB0F17-097A-48C7-8735-E0F03E79389C}" type="parTrans" cxnId="{9B0649F6-3138-48C9-8743-2A0670689217}">
      <dgm:prSet/>
      <dgm:spPr/>
      <dgm:t>
        <a:bodyPr/>
        <a:lstStyle/>
        <a:p>
          <a:endParaRPr lang="en-GB"/>
        </a:p>
      </dgm:t>
    </dgm:pt>
    <dgm:pt modelId="{1B07201D-03E7-414F-8489-84894D25549B}" type="sibTrans" cxnId="{9B0649F6-3138-48C9-8743-2A0670689217}">
      <dgm:prSet/>
      <dgm:spPr/>
      <dgm:t>
        <a:bodyPr/>
        <a:lstStyle/>
        <a:p>
          <a:endParaRPr lang="en-GB"/>
        </a:p>
      </dgm:t>
    </dgm:pt>
    <dgm:pt modelId="{CCE86BC9-C239-49EA-A3A5-2CA97D335E17}">
      <dgm:prSet phldrT="[Text]"/>
      <dgm:spPr/>
      <dgm:t>
        <a:bodyPr/>
        <a:lstStyle/>
        <a:p>
          <a:r>
            <a:rPr lang="en-GB" dirty="0"/>
            <a:t>Neutronics</a:t>
          </a:r>
        </a:p>
      </dgm:t>
    </dgm:pt>
    <dgm:pt modelId="{4EFE5828-6DEB-4CD3-97A9-595EAC7B0E40}" type="parTrans" cxnId="{E80EB924-9346-44DC-86D2-A002C1ECFED8}">
      <dgm:prSet/>
      <dgm:spPr/>
      <dgm:t>
        <a:bodyPr/>
        <a:lstStyle/>
        <a:p>
          <a:endParaRPr lang="en-GB"/>
        </a:p>
      </dgm:t>
    </dgm:pt>
    <dgm:pt modelId="{B1AC4FE7-572F-45C4-9C27-A82C7EFE8515}" type="sibTrans" cxnId="{E80EB924-9346-44DC-86D2-A002C1ECFED8}">
      <dgm:prSet/>
      <dgm:spPr/>
      <dgm:t>
        <a:bodyPr/>
        <a:lstStyle/>
        <a:p>
          <a:endParaRPr lang="en-GB"/>
        </a:p>
      </dgm:t>
    </dgm:pt>
    <dgm:pt modelId="{33316868-C618-4EB8-8EC1-03C7A91EFD20}">
      <dgm:prSet phldrT="[Text]"/>
      <dgm:spPr/>
      <dgm:t>
        <a:bodyPr/>
        <a:lstStyle/>
        <a:p>
          <a:r>
            <a:rPr lang="en-GB" dirty="0"/>
            <a:t>Heat transfer</a:t>
          </a:r>
        </a:p>
      </dgm:t>
    </dgm:pt>
    <dgm:pt modelId="{931D8D63-940E-454A-B3F1-0A973A87C35B}" type="parTrans" cxnId="{46C4E74C-8074-42A7-91D6-9BFB129DA0E1}">
      <dgm:prSet/>
      <dgm:spPr/>
      <dgm:t>
        <a:bodyPr/>
        <a:lstStyle/>
        <a:p>
          <a:endParaRPr lang="en-GB"/>
        </a:p>
      </dgm:t>
    </dgm:pt>
    <dgm:pt modelId="{EB0A625F-3C4F-429C-AF46-3621BCBBB0F2}" type="sibTrans" cxnId="{46C4E74C-8074-42A7-91D6-9BFB129DA0E1}">
      <dgm:prSet/>
      <dgm:spPr/>
      <dgm:t>
        <a:bodyPr/>
        <a:lstStyle/>
        <a:p>
          <a:endParaRPr lang="en-GB"/>
        </a:p>
      </dgm:t>
    </dgm:pt>
    <dgm:pt modelId="{47CE6D56-00E9-433C-9B46-0266D3DE01FC}">
      <dgm:prSet phldrT="[Text]"/>
      <dgm:spPr/>
      <dgm:t>
        <a:bodyPr/>
        <a:lstStyle/>
        <a:p>
          <a:r>
            <a:rPr lang="en-GB" dirty="0"/>
            <a:t>Solid mechanics</a:t>
          </a:r>
        </a:p>
      </dgm:t>
    </dgm:pt>
    <dgm:pt modelId="{CAC3FF28-A21A-4B51-A3E6-7394CCCBBEDB}" type="parTrans" cxnId="{D70CE1CC-BE84-4483-9225-70D4C9993950}">
      <dgm:prSet/>
      <dgm:spPr/>
      <dgm:t>
        <a:bodyPr/>
        <a:lstStyle/>
        <a:p>
          <a:endParaRPr lang="en-GB"/>
        </a:p>
      </dgm:t>
    </dgm:pt>
    <dgm:pt modelId="{F2BD9205-36B6-405E-8861-8C53FF376F50}" type="sibTrans" cxnId="{D70CE1CC-BE84-4483-9225-70D4C9993950}">
      <dgm:prSet/>
      <dgm:spPr/>
      <dgm:t>
        <a:bodyPr/>
        <a:lstStyle/>
        <a:p>
          <a:endParaRPr lang="en-GB"/>
        </a:p>
      </dgm:t>
    </dgm:pt>
    <dgm:pt modelId="{FCA8324E-0F93-4623-B877-FB64CAA161CA}" type="pres">
      <dgm:prSet presAssocID="{F68D15E8-D622-43C9-BB35-6B75D6F71690}" presName="compositeShape" presStyleCnt="0">
        <dgm:presLayoutVars>
          <dgm:chMax val="7"/>
          <dgm:dir/>
          <dgm:resizeHandles val="exact"/>
        </dgm:presLayoutVars>
      </dgm:prSet>
      <dgm:spPr/>
    </dgm:pt>
    <dgm:pt modelId="{AC4A8E95-170B-424F-A5DA-3DC07F123B8F}" type="pres">
      <dgm:prSet presAssocID="{7BB9EAA4-F07F-4A26-96D4-1D5E98261A08}" presName="circ1" presStyleLbl="vennNode1" presStyleIdx="0" presStyleCnt="6"/>
      <dgm:spPr/>
    </dgm:pt>
    <dgm:pt modelId="{AE4045B5-A384-42BC-B344-AB7FD96FB11C}" type="pres">
      <dgm:prSet presAssocID="{7BB9EAA4-F07F-4A26-96D4-1D5E98261A08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5442C8FA-FE4D-46F1-89EC-BBCEAA520A88}" type="pres">
      <dgm:prSet presAssocID="{ECE2EA8D-BB57-428A-9FDB-1ECBB2252F80}" presName="circ2" presStyleLbl="vennNode1" presStyleIdx="1" presStyleCnt="6"/>
      <dgm:spPr/>
    </dgm:pt>
    <dgm:pt modelId="{6C489772-76F3-4697-94FC-87BF2C93C82F}" type="pres">
      <dgm:prSet presAssocID="{ECE2EA8D-BB57-428A-9FDB-1ECBB2252F80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D12E33EB-B943-48ED-927C-1F416084A2F9}" type="pres">
      <dgm:prSet presAssocID="{2905D6E5-398A-4358-92E7-4A258E554E60}" presName="circ3" presStyleLbl="vennNode1" presStyleIdx="2" presStyleCnt="6"/>
      <dgm:spPr/>
    </dgm:pt>
    <dgm:pt modelId="{AF0E0835-C4A6-4EDE-86AC-2B37D5E3F0C9}" type="pres">
      <dgm:prSet presAssocID="{2905D6E5-398A-4358-92E7-4A258E554E60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369920EB-644F-4915-B58B-228501894F06}" type="pres">
      <dgm:prSet presAssocID="{CCE86BC9-C239-49EA-A3A5-2CA97D335E17}" presName="circ4" presStyleLbl="vennNode1" presStyleIdx="3" presStyleCnt="6"/>
      <dgm:spPr/>
    </dgm:pt>
    <dgm:pt modelId="{896D0463-D4DB-4402-A823-6CFFC27A7EDE}" type="pres">
      <dgm:prSet presAssocID="{CCE86BC9-C239-49EA-A3A5-2CA97D335E17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32577447-6AD2-4464-B10F-9AAC6AA83675}" type="pres">
      <dgm:prSet presAssocID="{33316868-C618-4EB8-8EC1-03C7A91EFD20}" presName="circ5" presStyleLbl="vennNode1" presStyleIdx="4" presStyleCnt="6"/>
      <dgm:spPr/>
    </dgm:pt>
    <dgm:pt modelId="{ED8E00B4-ABA0-44FC-8A0E-0EAABFAAC5D4}" type="pres">
      <dgm:prSet presAssocID="{33316868-C618-4EB8-8EC1-03C7A91EFD20}" presName="circ5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87217A3D-FB0E-41CA-84DE-1C7A8315277C}" type="pres">
      <dgm:prSet presAssocID="{47CE6D56-00E9-433C-9B46-0266D3DE01FC}" presName="circ6" presStyleLbl="vennNode1" presStyleIdx="5" presStyleCnt="6"/>
      <dgm:spPr/>
    </dgm:pt>
    <dgm:pt modelId="{BC2B9547-496A-46A6-BF75-0262A74B6110}" type="pres">
      <dgm:prSet presAssocID="{47CE6D56-00E9-433C-9B46-0266D3DE01FC}" presName="circ6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32D16701-C6CD-4FFC-8E68-524D91B64234}" type="presOf" srcId="{7BB9EAA4-F07F-4A26-96D4-1D5E98261A08}" destId="{AE4045B5-A384-42BC-B344-AB7FD96FB11C}" srcOrd="0" destOrd="0" presId="urn:microsoft.com/office/officeart/2005/8/layout/venn1"/>
    <dgm:cxn modelId="{93071B02-0588-4B9E-A236-7ADDAF5A0468}" srcId="{F68D15E8-D622-43C9-BB35-6B75D6F71690}" destId="{ECE2EA8D-BB57-428A-9FDB-1ECBB2252F80}" srcOrd="1" destOrd="0" parTransId="{8EA4F5C2-5244-44AA-95CC-FC9E8B2732C7}" sibTransId="{FC5184B5-AF03-4F7C-82E9-95CB316C1BEC}"/>
    <dgm:cxn modelId="{9EE42807-11C7-4C34-88B2-9AE02982325A}" type="presOf" srcId="{ECE2EA8D-BB57-428A-9FDB-1ECBB2252F80}" destId="{6C489772-76F3-4697-94FC-87BF2C93C82F}" srcOrd="0" destOrd="0" presId="urn:microsoft.com/office/officeart/2005/8/layout/venn1"/>
    <dgm:cxn modelId="{1AC9541D-8E95-4FDB-A1D2-E0ECD6DB36AA}" type="presOf" srcId="{2905D6E5-398A-4358-92E7-4A258E554E60}" destId="{AF0E0835-C4A6-4EDE-86AC-2B37D5E3F0C9}" srcOrd="0" destOrd="0" presId="urn:microsoft.com/office/officeart/2005/8/layout/venn1"/>
    <dgm:cxn modelId="{7B1E6924-3463-4DBA-9EA4-055BBA1BF58E}" srcId="{F68D15E8-D622-43C9-BB35-6B75D6F71690}" destId="{7BB9EAA4-F07F-4A26-96D4-1D5E98261A08}" srcOrd="0" destOrd="0" parTransId="{C7BDEEF8-EF1B-448D-BC2F-3EAC10C18066}" sibTransId="{D6254A59-672F-49CE-90D6-2E9B083E3296}"/>
    <dgm:cxn modelId="{E80EB924-9346-44DC-86D2-A002C1ECFED8}" srcId="{F68D15E8-D622-43C9-BB35-6B75D6F71690}" destId="{CCE86BC9-C239-49EA-A3A5-2CA97D335E17}" srcOrd="3" destOrd="0" parTransId="{4EFE5828-6DEB-4CD3-97A9-595EAC7B0E40}" sibTransId="{B1AC4FE7-572F-45C4-9C27-A82C7EFE8515}"/>
    <dgm:cxn modelId="{39659A27-28B1-4180-8ADB-508800D019B8}" type="presOf" srcId="{33316868-C618-4EB8-8EC1-03C7A91EFD20}" destId="{ED8E00B4-ABA0-44FC-8A0E-0EAABFAAC5D4}" srcOrd="0" destOrd="0" presId="urn:microsoft.com/office/officeart/2005/8/layout/venn1"/>
    <dgm:cxn modelId="{90D54F31-E631-423F-BB17-7BAEE3827ACC}" type="presOf" srcId="{F68D15E8-D622-43C9-BB35-6B75D6F71690}" destId="{FCA8324E-0F93-4623-B877-FB64CAA161CA}" srcOrd="0" destOrd="0" presId="urn:microsoft.com/office/officeart/2005/8/layout/venn1"/>
    <dgm:cxn modelId="{46C4E74C-8074-42A7-91D6-9BFB129DA0E1}" srcId="{F68D15E8-D622-43C9-BB35-6B75D6F71690}" destId="{33316868-C618-4EB8-8EC1-03C7A91EFD20}" srcOrd="4" destOrd="0" parTransId="{931D8D63-940E-454A-B3F1-0A973A87C35B}" sibTransId="{EB0A625F-3C4F-429C-AF46-3621BCBBB0F2}"/>
    <dgm:cxn modelId="{02DC5E55-6068-411E-97FA-777715442434}" type="presOf" srcId="{47CE6D56-00E9-433C-9B46-0266D3DE01FC}" destId="{BC2B9547-496A-46A6-BF75-0262A74B6110}" srcOrd="0" destOrd="0" presId="urn:microsoft.com/office/officeart/2005/8/layout/venn1"/>
    <dgm:cxn modelId="{C10B9092-E070-49D8-993E-972771150BD7}" type="presOf" srcId="{CCE86BC9-C239-49EA-A3A5-2CA97D335E17}" destId="{896D0463-D4DB-4402-A823-6CFFC27A7EDE}" srcOrd="0" destOrd="0" presId="urn:microsoft.com/office/officeart/2005/8/layout/venn1"/>
    <dgm:cxn modelId="{D70CE1CC-BE84-4483-9225-70D4C9993950}" srcId="{F68D15E8-D622-43C9-BB35-6B75D6F71690}" destId="{47CE6D56-00E9-433C-9B46-0266D3DE01FC}" srcOrd="5" destOrd="0" parTransId="{CAC3FF28-A21A-4B51-A3E6-7394CCCBBEDB}" sibTransId="{F2BD9205-36B6-405E-8861-8C53FF376F50}"/>
    <dgm:cxn modelId="{9B0649F6-3138-48C9-8743-2A0670689217}" srcId="{F68D15E8-D622-43C9-BB35-6B75D6F71690}" destId="{2905D6E5-398A-4358-92E7-4A258E554E60}" srcOrd="2" destOrd="0" parTransId="{E9EB0F17-097A-48C7-8735-E0F03E79389C}" sibTransId="{1B07201D-03E7-414F-8489-84894D25549B}"/>
    <dgm:cxn modelId="{DAD67D2C-D557-4D1E-954C-30354244B583}" type="presParOf" srcId="{FCA8324E-0F93-4623-B877-FB64CAA161CA}" destId="{AC4A8E95-170B-424F-A5DA-3DC07F123B8F}" srcOrd="0" destOrd="0" presId="urn:microsoft.com/office/officeart/2005/8/layout/venn1"/>
    <dgm:cxn modelId="{E170A993-EF43-4853-A4C1-85DDC1653BF2}" type="presParOf" srcId="{FCA8324E-0F93-4623-B877-FB64CAA161CA}" destId="{AE4045B5-A384-42BC-B344-AB7FD96FB11C}" srcOrd="1" destOrd="0" presId="urn:microsoft.com/office/officeart/2005/8/layout/venn1"/>
    <dgm:cxn modelId="{25C0E34D-D968-4588-A00B-08E75ACC4AA2}" type="presParOf" srcId="{FCA8324E-0F93-4623-B877-FB64CAA161CA}" destId="{5442C8FA-FE4D-46F1-89EC-BBCEAA520A88}" srcOrd="2" destOrd="0" presId="urn:microsoft.com/office/officeart/2005/8/layout/venn1"/>
    <dgm:cxn modelId="{20D041BE-A926-49D8-B739-C06ABE63138F}" type="presParOf" srcId="{FCA8324E-0F93-4623-B877-FB64CAA161CA}" destId="{6C489772-76F3-4697-94FC-87BF2C93C82F}" srcOrd="3" destOrd="0" presId="urn:microsoft.com/office/officeart/2005/8/layout/venn1"/>
    <dgm:cxn modelId="{912D279B-5BAF-49F2-AAFC-F77E30E04569}" type="presParOf" srcId="{FCA8324E-0F93-4623-B877-FB64CAA161CA}" destId="{D12E33EB-B943-48ED-927C-1F416084A2F9}" srcOrd="4" destOrd="0" presId="urn:microsoft.com/office/officeart/2005/8/layout/venn1"/>
    <dgm:cxn modelId="{D7DC3ADD-8226-49C9-B0CA-EFDB4051D133}" type="presParOf" srcId="{FCA8324E-0F93-4623-B877-FB64CAA161CA}" destId="{AF0E0835-C4A6-4EDE-86AC-2B37D5E3F0C9}" srcOrd="5" destOrd="0" presId="urn:microsoft.com/office/officeart/2005/8/layout/venn1"/>
    <dgm:cxn modelId="{EB976B46-AF98-409D-AD5A-3702BF77A299}" type="presParOf" srcId="{FCA8324E-0F93-4623-B877-FB64CAA161CA}" destId="{369920EB-644F-4915-B58B-228501894F06}" srcOrd="6" destOrd="0" presId="urn:microsoft.com/office/officeart/2005/8/layout/venn1"/>
    <dgm:cxn modelId="{6F1E5C25-04D2-4014-92CD-4D83E66F6C72}" type="presParOf" srcId="{FCA8324E-0F93-4623-B877-FB64CAA161CA}" destId="{896D0463-D4DB-4402-A823-6CFFC27A7EDE}" srcOrd="7" destOrd="0" presId="urn:microsoft.com/office/officeart/2005/8/layout/venn1"/>
    <dgm:cxn modelId="{FC3703AB-3401-4DD1-BD9F-8BD2A5A511B4}" type="presParOf" srcId="{FCA8324E-0F93-4623-B877-FB64CAA161CA}" destId="{32577447-6AD2-4464-B10F-9AAC6AA83675}" srcOrd="8" destOrd="0" presId="urn:microsoft.com/office/officeart/2005/8/layout/venn1"/>
    <dgm:cxn modelId="{0FCFB3AB-444A-4D01-9FC3-69A5A9D4F4BE}" type="presParOf" srcId="{FCA8324E-0F93-4623-B877-FB64CAA161CA}" destId="{ED8E00B4-ABA0-44FC-8A0E-0EAABFAAC5D4}" srcOrd="9" destOrd="0" presId="urn:microsoft.com/office/officeart/2005/8/layout/venn1"/>
    <dgm:cxn modelId="{7E08616A-9E82-4593-9C5B-B2534FA3479D}" type="presParOf" srcId="{FCA8324E-0F93-4623-B877-FB64CAA161CA}" destId="{87217A3D-FB0E-41CA-84DE-1C7A8315277C}" srcOrd="10" destOrd="0" presId="urn:microsoft.com/office/officeart/2005/8/layout/venn1"/>
    <dgm:cxn modelId="{9DA0A117-7E3B-43B6-B14B-EFE59E36EE97}" type="presParOf" srcId="{FCA8324E-0F93-4623-B877-FB64CAA161CA}" destId="{BC2B9547-496A-46A6-BF75-0262A74B6110}" srcOrd="11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4A8E95-170B-424F-A5DA-3DC07F123B8F}">
      <dsp:nvSpPr>
        <dsp:cNvPr id="0" name=""/>
        <dsp:cNvSpPr/>
      </dsp:nvSpPr>
      <dsp:spPr>
        <a:xfrm>
          <a:off x="3051591" y="1073304"/>
          <a:ext cx="1437910" cy="1437910"/>
        </a:xfrm>
        <a:prstGeom prst="ellipse">
          <a:avLst/>
        </a:prstGeom>
        <a:solidFill>
          <a:schemeClr val="accent5">
            <a:alpha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AE4045B5-A384-42BC-B344-AB7FD96FB11C}">
      <dsp:nvSpPr>
        <dsp:cNvPr id="0" name=""/>
        <dsp:cNvSpPr/>
      </dsp:nvSpPr>
      <dsp:spPr>
        <a:xfrm>
          <a:off x="2871852" y="0"/>
          <a:ext cx="1797388" cy="97912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Plasma equilibrium</a:t>
          </a:r>
        </a:p>
      </dsp:txBody>
      <dsp:txXfrm>
        <a:off x="2871852" y="0"/>
        <a:ext cx="1797388" cy="979122"/>
      </dsp:txXfrm>
    </dsp:sp>
    <dsp:sp modelId="{5442C8FA-FE4D-46F1-89EC-BBCEAA520A88}">
      <dsp:nvSpPr>
        <dsp:cNvPr id="0" name=""/>
        <dsp:cNvSpPr/>
      </dsp:nvSpPr>
      <dsp:spPr>
        <a:xfrm>
          <a:off x="3518313" y="1342796"/>
          <a:ext cx="1437910" cy="1437910"/>
        </a:xfrm>
        <a:prstGeom prst="ellipse">
          <a:avLst/>
        </a:prstGeom>
        <a:solidFill>
          <a:schemeClr val="accent5">
            <a:alpha val="50000"/>
            <a:hueOff val="-1470669"/>
            <a:satOff val="-2046"/>
            <a:lumOff val="-78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6C489772-76F3-4697-94FC-87BF2C93C82F}">
      <dsp:nvSpPr>
        <dsp:cNvPr id="0" name=""/>
        <dsp:cNvSpPr/>
      </dsp:nvSpPr>
      <dsp:spPr>
        <a:xfrm>
          <a:off x="5062869" y="932497"/>
          <a:ext cx="1703325" cy="107237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Plasma heating</a:t>
          </a:r>
        </a:p>
      </dsp:txBody>
      <dsp:txXfrm>
        <a:off x="5062869" y="932497"/>
        <a:ext cx="1703325" cy="1072372"/>
      </dsp:txXfrm>
    </dsp:sp>
    <dsp:sp modelId="{D12E33EB-B943-48ED-927C-1F416084A2F9}">
      <dsp:nvSpPr>
        <dsp:cNvPr id="0" name=""/>
        <dsp:cNvSpPr/>
      </dsp:nvSpPr>
      <dsp:spPr>
        <a:xfrm>
          <a:off x="3518313" y="1881779"/>
          <a:ext cx="1437910" cy="1437910"/>
        </a:xfrm>
        <a:prstGeom prst="ellipse">
          <a:avLst/>
        </a:prstGeom>
        <a:solidFill>
          <a:schemeClr val="accent5">
            <a:alpha val="50000"/>
            <a:hueOff val="-2941338"/>
            <a:satOff val="-4091"/>
            <a:lumOff val="-156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AF0E0835-C4A6-4EDE-86AC-2B37D5E3F0C9}">
      <dsp:nvSpPr>
        <dsp:cNvPr id="0" name=""/>
        <dsp:cNvSpPr/>
      </dsp:nvSpPr>
      <dsp:spPr>
        <a:xfrm>
          <a:off x="5062869" y="2531730"/>
          <a:ext cx="1703325" cy="119825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Superconductive coils</a:t>
          </a:r>
        </a:p>
      </dsp:txBody>
      <dsp:txXfrm>
        <a:off x="5062869" y="2531730"/>
        <a:ext cx="1703325" cy="1198259"/>
      </dsp:txXfrm>
    </dsp:sp>
    <dsp:sp modelId="{369920EB-644F-4915-B58B-228501894F06}">
      <dsp:nvSpPr>
        <dsp:cNvPr id="0" name=""/>
        <dsp:cNvSpPr/>
      </dsp:nvSpPr>
      <dsp:spPr>
        <a:xfrm>
          <a:off x="3051591" y="2151737"/>
          <a:ext cx="1437910" cy="1437910"/>
        </a:xfrm>
        <a:prstGeom prst="ellipse">
          <a:avLst/>
        </a:prstGeom>
        <a:solidFill>
          <a:schemeClr val="accent5">
            <a:alpha val="50000"/>
            <a:hueOff val="-4412007"/>
            <a:satOff val="-6137"/>
            <a:lumOff val="-2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896D0463-D4DB-4402-A823-6CFFC27A7EDE}">
      <dsp:nvSpPr>
        <dsp:cNvPr id="0" name=""/>
        <dsp:cNvSpPr/>
      </dsp:nvSpPr>
      <dsp:spPr>
        <a:xfrm>
          <a:off x="2871852" y="3683364"/>
          <a:ext cx="1797388" cy="97912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Neutronics</a:t>
          </a:r>
        </a:p>
      </dsp:txBody>
      <dsp:txXfrm>
        <a:off x="2871852" y="3683364"/>
        <a:ext cx="1797388" cy="979122"/>
      </dsp:txXfrm>
    </dsp:sp>
    <dsp:sp modelId="{32577447-6AD2-4464-B10F-9AAC6AA83675}">
      <dsp:nvSpPr>
        <dsp:cNvPr id="0" name=""/>
        <dsp:cNvSpPr/>
      </dsp:nvSpPr>
      <dsp:spPr>
        <a:xfrm>
          <a:off x="2584869" y="1881779"/>
          <a:ext cx="1437910" cy="1437910"/>
        </a:xfrm>
        <a:prstGeom prst="ellipse">
          <a:avLst/>
        </a:prstGeom>
        <a:solidFill>
          <a:schemeClr val="accent5">
            <a:alpha val="50000"/>
            <a:hueOff val="-5882676"/>
            <a:satOff val="-8182"/>
            <a:lumOff val="-313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D8E00B4-ABA0-44FC-8A0E-0EAABFAAC5D4}">
      <dsp:nvSpPr>
        <dsp:cNvPr id="0" name=""/>
        <dsp:cNvSpPr/>
      </dsp:nvSpPr>
      <dsp:spPr>
        <a:xfrm>
          <a:off x="774899" y="2531730"/>
          <a:ext cx="1703325" cy="119825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Heat transfer</a:t>
          </a:r>
        </a:p>
      </dsp:txBody>
      <dsp:txXfrm>
        <a:off x="774899" y="2531730"/>
        <a:ext cx="1703325" cy="1198259"/>
      </dsp:txXfrm>
    </dsp:sp>
    <dsp:sp modelId="{87217A3D-FB0E-41CA-84DE-1C7A8315277C}">
      <dsp:nvSpPr>
        <dsp:cNvPr id="0" name=""/>
        <dsp:cNvSpPr/>
      </dsp:nvSpPr>
      <dsp:spPr>
        <a:xfrm>
          <a:off x="2584869" y="1342796"/>
          <a:ext cx="1437910" cy="1437910"/>
        </a:xfrm>
        <a:prstGeom prst="ellipse">
          <a:avLst/>
        </a:prstGeom>
        <a:solidFill>
          <a:schemeClr val="accent5">
            <a:alpha val="50000"/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BC2B9547-496A-46A6-BF75-0262A74B6110}">
      <dsp:nvSpPr>
        <dsp:cNvPr id="0" name=""/>
        <dsp:cNvSpPr/>
      </dsp:nvSpPr>
      <dsp:spPr>
        <a:xfrm>
          <a:off x="774899" y="932497"/>
          <a:ext cx="1703325" cy="119825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Solid mechanics</a:t>
          </a:r>
        </a:p>
      </dsp:txBody>
      <dsp:txXfrm>
        <a:off x="774899" y="932497"/>
        <a:ext cx="1703325" cy="11982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s-ES"/>
              <a:t>22/11/2024</a:t>
            </a:r>
            <a:endParaRPr lang="es-ES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FA8D5D-EC9E-40FC-98EC-CD281E4E88AF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7699166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s-ES"/>
              <a:t>22/11/2024</a:t>
            </a:r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C39F9-59CF-A24C-83BE-FFCDCFE5F579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60092419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35369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Fusión nuclear: Método de obtención de energía. Fisión de uranio 235. Masa isótopos &gt; masa producto. Comunidad de fusión objetivo D+T. ¿Por qué si hay más reacciones?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964765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Cada </a:t>
            </a:r>
            <a:r>
              <a:rPr lang="es-ES" noProof="0" dirty="0" err="1"/>
              <a:t>reaccion</a:t>
            </a:r>
            <a:r>
              <a:rPr lang="es-ES" noProof="0" dirty="0"/>
              <a:t> tiene ventajas e inconvenientes. Algunas son aneutrónicas (menor radioactividad y menor activación). Otras no requieren tritio, escaso.</a:t>
            </a:r>
          </a:p>
          <a:p>
            <a:r>
              <a:rPr lang="es-ES" noProof="0" dirty="0"/>
              <a:t>El principal motivo es la tasa de reacción a temperaturas más bajas. Sin embargo, como llegamos a millones de Kelvin?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2948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Hay tres métodos principales. Efecto Joule. La corriente transfiere la energía eléctrica a las partículas mediante colisiones elásticas. La resistividad decae y se llega a un umbral.</a:t>
            </a:r>
          </a:p>
          <a:p>
            <a:r>
              <a:rPr lang="es-ES" noProof="0" dirty="0"/>
              <a:t>Haz de partículas neutras que transfieren momento y energía.</a:t>
            </a:r>
          </a:p>
          <a:p>
            <a:r>
              <a:rPr lang="es-ES" noProof="0" dirty="0" err="1"/>
              <a:t>Cyclotron</a:t>
            </a:r>
            <a:r>
              <a:rPr lang="es-ES" noProof="0" dirty="0"/>
              <a:t> </a:t>
            </a:r>
            <a:r>
              <a:rPr lang="es-ES" noProof="0" dirty="0" err="1"/>
              <a:t>resonance</a:t>
            </a:r>
            <a:r>
              <a:rPr lang="es-ES" noProof="0" dirty="0"/>
              <a:t> </a:t>
            </a:r>
            <a:r>
              <a:rPr lang="es-ES" noProof="0" dirty="0" err="1"/>
              <a:t>heating</a:t>
            </a:r>
            <a:r>
              <a:rPr lang="es-ES" noProof="0" dirty="0"/>
              <a:t>. Inyección de Ondas EM mediante antenas. La frecuencia de la </a:t>
            </a:r>
            <a:r>
              <a:rPr lang="es-ES" noProof="0" dirty="0" err="1"/>
              <a:t>ona</a:t>
            </a:r>
            <a:r>
              <a:rPr lang="es-ES" noProof="0" dirty="0"/>
              <a:t> está en resonancia con el movimiento de ciclotrón, transfiriéndole energía.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63491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Los reactores son dispositivos complejos. Con muchos subsistemas. Para simular un reactor necesitas tener en cuenta muchos eventos </a:t>
            </a:r>
            <a:r>
              <a:rPr lang="es-ES" noProof="0" dirty="0" err="1"/>
              <a:t>multifísicos</a:t>
            </a:r>
            <a:r>
              <a:rPr lang="es-ES" noProof="0" dirty="0"/>
              <a:t>. Ejemplos.</a:t>
            </a:r>
          </a:p>
          <a:p>
            <a:r>
              <a:rPr lang="es-ES" noProof="0" dirty="0"/>
              <a:t>Esquema de escalas temporales. Bastante variabilidad. Si el objetivo es simular un reactor en su totalidad (rojo), hace falta un software capaz de ser ejecutado en HPC.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073958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Alya entra en juego. Código </a:t>
            </a:r>
            <a:r>
              <a:rPr lang="es-ES" noProof="0" dirty="0" err="1"/>
              <a:t>multi-física</a:t>
            </a:r>
            <a:r>
              <a:rPr lang="es-ES" noProof="0" dirty="0"/>
              <a:t> con módulos acoplados. Código altamente paralelizado. Usa Fortran y FEM. Intentos de ejecutarlo en GPU. EL grupo ha contribuido desarrollando módulos.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48632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Alya4fusion es el conjunto de módulos que se usarían para simular un reactor de fusión. Hay dos </a:t>
            </a:r>
            <a:r>
              <a:rPr lang="es-ES" noProof="0" dirty="0" err="1"/>
              <a:t>solvers</a:t>
            </a:r>
            <a:r>
              <a:rPr lang="es-ES" noProof="0" dirty="0"/>
              <a:t>, el de ingeniería y el de plasma. Describir módulos.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720301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FEM con </a:t>
            </a:r>
            <a:r>
              <a:rPr lang="es-ES" noProof="0" dirty="0" err="1"/>
              <a:t>Nédélec</a:t>
            </a:r>
            <a:r>
              <a:rPr lang="es-ES" noProof="0" dirty="0"/>
              <a:t> 2º orden en 3D. Inherente al dispositivo y su geometría. Integrado en Alya y paralelizado.</a:t>
            </a:r>
          </a:p>
          <a:p>
            <a:r>
              <a:rPr lang="es-ES" noProof="0" dirty="0"/>
              <a:t>Simulación de casos reales con diseños de antenas realistas, modelo de plasma caliente de alta fidelidad y análisis de variables físicas.</a:t>
            </a:r>
          </a:p>
          <a:p>
            <a:r>
              <a:rPr lang="es-ES" noProof="0" dirty="0"/>
              <a:t>Aplicar el código en otros usos como inyectores y guías de onda, a la vez que comprobar el rango de funcionamiento, de la SOL al </a:t>
            </a:r>
            <a:r>
              <a:rPr lang="es-ES" noProof="0" dirty="0" err="1"/>
              <a:t>core</a:t>
            </a:r>
            <a:r>
              <a:rPr lang="es-ES" noProof="0" dirty="0"/>
              <a:t>.</a:t>
            </a:r>
          </a:p>
          <a:p>
            <a:r>
              <a:rPr lang="es-ES" noProof="0" dirty="0"/>
              <a:t>Una pieza más en el digital </a:t>
            </a:r>
            <a:r>
              <a:rPr lang="es-ES" noProof="0" dirty="0" err="1"/>
              <a:t>twin</a:t>
            </a:r>
            <a:r>
              <a:rPr lang="es-ES" noProof="0" dirty="0"/>
              <a:t>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716855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Hay varios códigos para ICRH que hacen cosas similares a EMWAVE.</a:t>
            </a:r>
          </a:p>
          <a:p>
            <a:r>
              <a:rPr lang="es-ES" noProof="0" dirty="0"/>
              <a:t>Algunos están más focalizados en el </a:t>
            </a:r>
            <a:r>
              <a:rPr lang="es-ES" noProof="0" dirty="0" err="1"/>
              <a:t>core</a:t>
            </a:r>
            <a:r>
              <a:rPr lang="es-ES" noProof="0" dirty="0"/>
              <a:t> del plasma y la física que hay detrás. Otros están más focalizados en el SOL y la configuración de las antenas.</a:t>
            </a:r>
          </a:p>
          <a:p>
            <a:r>
              <a:rPr lang="es-ES" noProof="0" dirty="0"/>
              <a:t>Existen híbridos numéricos FEM + Monte Carlo.</a:t>
            </a:r>
          </a:p>
          <a:p>
            <a:r>
              <a:rPr lang="es-ES" noProof="0" dirty="0"/>
              <a:t>Tienen algunas limitaciones: región del plasma. Simplificaciones. Acoplamiento. Paralelización no optimizada.</a:t>
            </a:r>
          </a:p>
          <a:p>
            <a:r>
              <a:rPr lang="es-ES" noProof="0" dirty="0" err="1"/>
              <a:t>Emwave</a:t>
            </a:r>
            <a:r>
              <a:rPr lang="es-ES" noProof="0" dirty="0"/>
              <a:t> esta creado dentro de un entorno HPC, acoplamiento natural. Funcionará como digital </a:t>
            </a:r>
            <a:r>
              <a:rPr lang="es-ES" noProof="0" dirty="0" err="1"/>
              <a:t>twin</a:t>
            </a:r>
            <a:r>
              <a:rPr lang="es-ES" noProof="0" dirty="0"/>
              <a:t>, lo que ayuda a optimizar el diseño de dispositivos.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052155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Algunas de las tareas es acabar el </a:t>
            </a:r>
            <a:r>
              <a:rPr lang="es-ES" noProof="0" dirty="0" err="1"/>
              <a:t>Nédélec</a:t>
            </a:r>
            <a:r>
              <a:rPr lang="es-ES" noProof="0" dirty="0"/>
              <a:t> en 3D.</a:t>
            </a:r>
          </a:p>
          <a:p>
            <a:r>
              <a:rPr lang="es-ES" noProof="0" dirty="0"/>
              <a:t>Introducir un modelo </a:t>
            </a:r>
            <a:r>
              <a:rPr lang="es-ES" noProof="0" dirty="0" err="1"/>
              <a:t>hot</a:t>
            </a:r>
            <a:r>
              <a:rPr lang="es-ES" noProof="0" dirty="0"/>
              <a:t> plasma, ya sea Maxwell </a:t>
            </a:r>
            <a:r>
              <a:rPr lang="es-ES" noProof="0" dirty="0" err="1"/>
              <a:t>distribution</a:t>
            </a:r>
            <a:r>
              <a:rPr lang="es-ES" noProof="0" dirty="0"/>
              <a:t> o Fokker-</a:t>
            </a:r>
            <a:r>
              <a:rPr lang="es-ES" noProof="0" dirty="0" err="1"/>
              <a:t>Plank</a:t>
            </a:r>
            <a:r>
              <a:rPr lang="es-ES" noProof="0" dirty="0"/>
              <a:t> </a:t>
            </a:r>
            <a:r>
              <a:rPr lang="es-ES" noProof="0" dirty="0" err="1"/>
              <a:t>solver</a:t>
            </a:r>
            <a:r>
              <a:rPr lang="es-ES" noProof="0" dirty="0"/>
              <a:t>.</a:t>
            </a:r>
          </a:p>
          <a:p>
            <a:r>
              <a:rPr lang="es-ES" noProof="0" dirty="0"/>
              <a:t>Analizar resultados.</a:t>
            </a:r>
          </a:p>
          <a:p>
            <a:r>
              <a:rPr lang="es-ES" noProof="0" dirty="0"/>
              <a:t>Validar código.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653719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Estamos “on track”. Queda </a:t>
            </a:r>
            <a:r>
              <a:rPr lang="en-GB" dirty="0" err="1"/>
              <a:t>trabajo</a:t>
            </a:r>
            <a:r>
              <a:rPr lang="en-GB" dirty="0"/>
              <a:t>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hacer</a:t>
            </a:r>
            <a:r>
              <a:rPr lang="en-GB" dirty="0"/>
              <a:t>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90049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Elementos</a:t>
            </a:r>
            <a:r>
              <a:rPr lang="en-GB" dirty="0"/>
              <a:t> </a:t>
            </a:r>
            <a:r>
              <a:rPr lang="en-GB" dirty="0" err="1"/>
              <a:t>nodales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2D. </a:t>
            </a:r>
            <a:r>
              <a:rPr lang="en-GB" dirty="0" err="1"/>
              <a:t>Ecuación</a:t>
            </a:r>
            <a:r>
              <a:rPr lang="en-GB" dirty="0"/>
              <a:t> </a:t>
            </a:r>
            <a:r>
              <a:rPr lang="en-GB" dirty="0" err="1"/>
              <a:t>generalizada</a:t>
            </a:r>
            <a:r>
              <a:rPr lang="en-GB" dirty="0"/>
              <a:t> con </a:t>
            </a:r>
            <a:r>
              <a:rPr lang="en-GB" dirty="0" err="1"/>
              <a:t>fuentes</a:t>
            </a:r>
            <a:r>
              <a:rPr lang="en-GB" dirty="0"/>
              <a:t> </a:t>
            </a:r>
            <a:r>
              <a:rPr lang="en-GB" dirty="0" err="1"/>
              <a:t>finitas</a:t>
            </a:r>
            <a:r>
              <a:rPr lang="en-GB" dirty="0"/>
              <a:t>.</a:t>
            </a:r>
          </a:p>
          <a:p>
            <a:r>
              <a:rPr lang="en-GB" dirty="0" err="1"/>
              <a:t>Elementos</a:t>
            </a:r>
            <a:r>
              <a:rPr lang="en-GB" dirty="0"/>
              <a:t> edge primer </a:t>
            </a:r>
            <a:r>
              <a:rPr lang="en-GB" dirty="0" err="1"/>
              <a:t>orden</a:t>
            </a:r>
            <a:r>
              <a:rPr lang="en-GB" dirty="0"/>
              <a:t> 3D. </a:t>
            </a:r>
            <a:r>
              <a:rPr lang="en-GB" dirty="0" err="1"/>
              <a:t>Primeros</a:t>
            </a:r>
            <a:r>
              <a:rPr lang="en-GB" dirty="0"/>
              <a:t> </a:t>
            </a:r>
            <a:r>
              <a:rPr lang="en-GB" dirty="0" err="1"/>
              <a:t>resultados</a:t>
            </a:r>
            <a:r>
              <a:rPr lang="en-GB" dirty="0"/>
              <a:t>.</a:t>
            </a:r>
          </a:p>
          <a:p>
            <a:r>
              <a:rPr lang="en-GB" dirty="0" err="1"/>
              <a:t>Usamos</a:t>
            </a:r>
            <a:r>
              <a:rPr lang="en-GB" dirty="0"/>
              <a:t> un </a:t>
            </a:r>
            <a:r>
              <a:rPr lang="en-GB" dirty="0" err="1"/>
              <a:t>modelo</a:t>
            </a:r>
            <a:r>
              <a:rPr lang="en-GB" dirty="0"/>
              <a:t> de plasma </a:t>
            </a:r>
            <a:r>
              <a:rPr lang="en-GB" dirty="0" err="1"/>
              <a:t>frío</a:t>
            </a:r>
            <a:r>
              <a:rPr lang="en-GB" dirty="0"/>
              <a:t>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617159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Con el modelo de plasma frío somos capaces de predecir la accesibilidad de la onda. Si se propaga o no.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087895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Cubo de 2 m. “Antena” cúbica de 20 cm. Corriente de 50 A/m^2. En vacío.</a:t>
            </a:r>
          </a:p>
          <a:p>
            <a:r>
              <a:rPr lang="es-ES" noProof="0" dirty="0"/>
              <a:t>Un gráfico para x=z=0 y el otro para y=z=0.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729508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Candidatos a revistas y conferencias.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s-ES"/>
              <a:t>22/11/2024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24303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4064000" y="6095686"/>
            <a:ext cx="8128000" cy="48753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1" y="6095686"/>
            <a:ext cx="4064000" cy="487533"/>
          </a:xfrm>
          <a:prstGeom prst="rect">
            <a:avLst/>
          </a:prstGeom>
          <a:solidFill>
            <a:srgbClr val="00489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dirty="0">
              <a:solidFill>
                <a:schemeClr val="bg1"/>
              </a:solidFill>
            </a:endParaRPr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963889" y="1631730"/>
            <a:ext cx="6702593" cy="299882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5200" b="1">
                <a:solidFill>
                  <a:srgbClr val="004890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  <p:sp>
        <p:nvSpPr>
          <p:cNvPr id="7" name="Subtitle 2"/>
          <p:cNvSpPr>
            <a:spLocks noGrp="1"/>
          </p:cNvSpPr>
          <p:nvPr>
            <p:ph type="subTitle" idx="1"/>
          </p:nvPr>
        </p:nvSpPr>
        <p:spPr>
          <a:xfrm>
            <a:off x="4963889" y="4762500"/>
            <a:ext cx="6702593" cy="1085850"/>
          </a:xfrm>
          <a:prstGeom prst="rect">
            <a:avLst/>
          </a:prstGeom>
          <a:noFill/>
          <a:effectLst/>
        </p:spPr>
        <p:txBody>
          <a:bodyPr anchor="ctr">
            <a:no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GB" sz="3600" baseline="30000" dirty="0">
              <a:solidFill>
                <a:schemeClr val="tx1">
                  <a:lumMod val="50000"/>
                  <a:lumOff val="50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8" name="Marcador de texto 14"/>
          <p:cNvSpPr>
            <a:spLocks noGrp="1"/>
          </p:cNvSpPr>
          <p:nvPr>
            <p:ph type="body" sz="quarter" idx="10" hasCustomPrompt="1"/>
          </p:nvPr>
        </p:nvSpPr>
        <p:spPr>
          <a:xfrm>
            <a:off x="325968" y="6095686"/>
            <a:ext cx="3255433" cy="48753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9" name="Marcador de texto 16"/>
          <p:cNvSpPr>
            <a:spLocks noGrp="1"/>
          </p:cNvSpPr>
          <p:nvPr>
            <p:ph type="body" sz="quarter" idx="11" hasCustomPrompt="1"/>
          </p:nvPr>
        </p:nvSpPr>
        <p:spPr>
          <a:xfrm>
            <a:off x="4963888" y="6095685"/>
            <a:ext cx="6702595" cy="487533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>
                <a:solidFill>
                  <a:srgbClr val="004890"/>
                </a:solidFill>
              </a:defRPr>
            </a:lvl1pPr>
          </a:lstStyle>
          <a:p>
            <a:pPr lvl="0"/>
            <a:r>
              <a:rPr lang="en-US" noProof="0" dirty="0"/>
              <a:t>Venue</a:t>
            </a:r>
          </a:p>
        </p:txBody>
      </p:sp>
      <p:sp>
        <p:nvSpPr>
          <p:cNvPr id="2" name="Picture Placeholder 24">
            <a:extLst>
              <a:ext uri="{FF2B5EF4-FFF2-40B4-BE49-F238E27FC236}">
                <a16:creationId xmlns:a16="http://schemas.microsoft.com/office/drawing/2014/main" id="{AB4207FE-DD3D-B82C-41E9-A01F7C973DA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242425" y="444500"/>
            <a:ext cx="2424113" cy="88106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Extra Logo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8333B875-EB56-431B-23D8-9498F28F79A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443883"/>
            <a:ext cx="4064000" cy="881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6231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y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título 1"/>
          <p:cNvSpPr>
            <a:spLocks noGrp="1"/>
          </p:cNvSpPr>
          <p:nvPr>
            <p:ph type="title" hasCustomPrompt="1"/>
          </p:nvPr>
        </p:nvSpPr>
        <p:spPr>
          <a:xfrm>
            <a:off x="0" y="256068"/>
            <a:ext cx="12192000" cy="80094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 b="1"/>
            </a:lvl1pPr>
          </a:lstStyle>
          <a:p>
            <a:r>
              <a:rPr lang="es-ES" dirty="0"/>
              <a:t>Haga </a:t>
            </a:r>
            <a:r>
              <a:rPr lang="en-US" noProof="0" dirty="0" err="1"/>
              <a:t>clic</a:t>
            </a:r>
            <a:r>
              <a:rPr lang="es-ES" dirty="0"/>
              <a:t> para modificar el estilo de título del patrón</a:t>
            </a:r>
          </a:p>
        </p:txBody>
      </p:sp>
      <p:sp>
        <p:nvSpPr>
          <p:cNvPr id="8" name="Marcador de texto 2"/>
          <p:cNvSpPr>
            <a:spLocks noGrp="1"/>
          </p:cNvSpPr>
          <p:nvPr>
            <p:ph idx="1" hasCustomPrompt="1"/>
          </p:nvPr>
        </p:nvSpPr>
        <p:spPr>
          <a:xfrm>
            <a:off x="603657" y="1514475"/>
            <a:ext cx="10984685" cy="46624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 err="1"/>
              <a:t>Editar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estilo</a:t>
            </a:r>
            <a:r>
              <a:rPr lang="en-US" noProof="0" dirty="0"/>
              <a:t> de </a:t>
            </a:r>
            <a:r>
              <a:rPr lang="en-US" noProof="0" dirty="0" err="1"/>
              <a:t>texto</a:t>
            </a:r>
            <a:r>
              <a:rPr lang="en-US" noProof="0" dirty="0"/>
              <a:t> del </a:t>
            </a:r>
            <a:r>
              <a:rPr lang="en-US" noProof="0" dirty="0" err="1"/>
              <a:t>patrón</a:t>
            </a:r>
            <a:endParaRPr lang="en-US" noProof="0" dirty="0"/>
          </a:p>
          <a:p>
            <a:pPr lvl="1"/>
            <a:r>
              <a:rPr lang="en-US" noProof="0" dirty="0"/>
              <a:t>Segundo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2"/>
            <a:r>
              <a:rPr lang="en-US" noProof="0" dirty="0" err="1"/>
              <a:t>Tercer</a:t>
            </a:r>
            <a:r>
              <a:rPr lang="en-US" noProof="0" dirty="0"/>
              <a:t>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3"/>
            <a:r>
              <a:rPr lang="en-US" noProof="0" dirty="0"/>
              <a:t>Cuarto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4"/>
            <a:r>
              <a:rPr lang="en-US" noProof="0" dirty="0"/>
              <a:t>Quinto </a:t>
            </a:r>
            <a:r>
              <a:rPr lang="en-US" noProof="0" dirty="0" err="1"/>
              <a:t>nivel</a:t>
            </a:r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7A6E51-0CD4-140F-62B6-13D57D2B6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C9C05711-2932-7CE9-A907-A7A3C07629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144888" y="6269299"/>
            <a:ext cx="1447646" cy="36512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GB" dirty="0"/>
              <a:t>Name | Event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900A15F-2709-FA39-0476-207F617E8B3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971800" y="6000750"/>
            <a:ext cx="1447800" cy="60166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Extra logo</a:t>
            </a:r>
          </a:p>
        </p:txBody>
      </p:sp>
    </p:spTree>
    <p:extLst>
      <p:ext uri="{BB962C8B-B14F-4D97-AF65-F5344CB8AC3E}">
        <p14:creationId xmlns:p14="http://schemas.microsoft.com/office/powerpoint/2010/main" val="1917565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2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título 1"/>
          <p:cNvSpPr>
            <a:spLocks noGrp="1"/>
          </p:cNvSpPr>
          <p:nvPr>
            <p:ph type="title" hasCustomPrompt="1"/>
          </p:nvPr>
        </p:nvSpPr>
        <p:spPr>
          <a:xfrm>
            <a:off x="0" y="256068"/>
            <a:ext cx="12192000" cy="80094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 b="1"/>
            </a:lvl1pPr>
          </a:lstStyle>
          <a:p>
            <a:r>
              <a:rPr lang="es-ES" dirty="0"/>
              <a:t>Haga </a:t>
            </a:r>
            <a:r>
              <a:rPr lang="en-US" noProof="0" dirty="0" err="1"/>
              <a:t>clic</a:t>
            </a:r>
            <a:r>
              <a:rPr lang="es-ES" dirty="0"/>
              <a:t> para modificar el estilo de título del patrón</a:t>
            </a:r>
          </a:p>
        </p:txBody>
      </p:sp>
      <p:sp>
        <p:nvSpPr>
          <p:cNvPr id="8" name="Marcador de texto 2"/>
          <p:cNvSpPr>
            <a:spLocks noGrp="1"/>
          </p:cNvSpPr>
          <p:nvPr>
            <p:ph idx="1" hasCustomPrompt="1"/>
          </p:nvPr>
        </p:nvSpPr>
        <p:spPr>
          <a:xfrm>
            <a:off x="603658" y="1514475"/>
            <a:ext cx="5274100" cy="46624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 err="1"/>
              <a:t>Editar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estilo</a:t>
            </a:r>
            <a:r>
              <a:rPr lang="en-US" noProof="0" dirty="0"/>
              <a:t> de </a:t>
            </a:r>
            <a:r>
              <a:rPr lang="en-US" noProof="0" dirty="0" err="1"/>
              <a:t>texto</a:t>
            </a:r>
            <a:r>
              <a:rPr lang="en-US" noProof="0" dirty="0"/>
              <a:t> del </a:t>
            </a:r>
            <a:r>
              <a:rPr lang="en-US" noProof="0" dirty="0" err="1"/>
              <a:t>patrón</a:t>
            </a:r>
            <a:endParaRPr lang="en-US" noProof="0" dirty="0"/>
          </a:p>
          <a:p>
            <a:pPr lvl="1"/>
            <a:r>
              <a:rPr lang="en-US" noProof="0" dirty="0"/>
              <a:t>Segundo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2"/>
            <a:r>
              <a:rPr lang="en-US" noProof="0" dirty="0" err="1"/>
              <a:t>Tercer</a:t>
            </a:r>
            <a:r>
              <a:rPr lang="en-US" noProof="0" dirty="0"/>
              <a:t>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3"/>
            <a:r>
              <a:rPr lang="en-US" noProof="0" dirty="0"/>
              <a:t>Cuarto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4"/>
            <a:r>
              <a:rPr lang="en-US" noProof="0" dirty="0"/>
              <a:t>Quinto </a:t>
            </a:r>
            <a:r>
              <a:rPr lang="en-US" noProof="0" dirty="0" err="1"/>
              <a:t>nivel</a:t>
            </a:r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7A6E51-0CD4-140F-62B6-13D57D2B6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C9C05711-2932-7CE9-A907-A7A3C07629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144888" y="6269299"/>
            <a:ext cx="1447646" cy="36512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GB" dirty="0"/>
              <a:t>Name | Event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900A15F-2709-FA39-0476-207F617E8B3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971800" y="6000750"/>
            <a:ext cx="1447800" cy="60166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Extra logo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197C62F9-5A91-BB8A-ADAA-A4805F11B5B3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314241" y="1514475"/>
            <a:ext cx="5274100" cy="46624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 err="1"/>
              <a:t>Editar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estilo</a:t>
            </a:r>
            <a:r>
              <a:rPr lang="en-US" noProof="0" dirty="0"/>
              <a:t> de </a:t>
            </a:r>
            <a:r>
              <a:rPr lang="en-US" noProof="0" dirty="0" err="1"/>
              <a:t>texto</a:t>
            </a:r>
            <a:r>
              <a:rPr lang="en-US" noProof="0" dirty="0"/>
              <a:t> del </a:t>
            </a:r>
            <a:r>
              <a:rPr lang="en-US" noProof="0" dirty="0" err="1"/>
              <a:t>patrón</a:t>
            </a:r>
            <a:endParaRPr lang="en-US" noProof="0" dirty="0"/>
          </a:p>
          <a:p>
            <a:pPr lvl="1"/>
            <a:r>
              <a:rPr lang="en-US" noProof="0" dirty="0"/>
              <a:t>Segundo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2"/>
            <a:r>
              <a:rPr lang="en-US" noProof="0" dirty="0" err="1"/>
              <a:t>Tercer</a:t>
            </a:r>
            <a:r>
              <a:rPr lang="en-US" noProof="0" dirty="0"/>
              <a:t>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3"/>
            <a:r>
              <a:rPr lang="en-US" noProof="0" dirty="0"/>
              <a:t>Cuarto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4"/>
            <a:r>
              <a:rPr lang="en-US" noProof="0" dirty="0"/>
              <a:t>Quinto </a:t>
            </a:r>
            <a:r>
              <a:rPr lang="en-US" noProof="0" dirty="0" err="1"/>
              <a:t>nivel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8909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subtítulo y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 err="1"/>
              <a:t>Haga</a:t>
            </a:r>
            <a:r>
              <a:rPr lang="en-US" noProof="0" dirty="0"/>
              <a:t> </a:t>
            </a:r>
            <a:r>
              <a:rPr lang="en-US" noProof="0" dirty="0" err="1"/>
              <a:t>clic</a:t>
            </a:r>
            <a:r>
              <a:rPr lang="en-US" noProof="0" dirty="0"/>
              <a:t> para </a:t>
            </a:r>
            <a:r>
              <a:rPr lang="en-US" noProof="0" dirty="0" err="1"/>
              <a:t>modificar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estilo</a:t>
            </a:r>
            <a:r>
              <a:rPr lang="en-US" noProof="0" dirty="0"/>
              <a:t> de </a:t>
            </a:r>
            <a:r>
              <a:rPr lang="en-US" noProof="0" dirty="0" err="1"/>
              <a:t>título</a:t>
            </a:r>
            <a:r>
              <a:rPr lang="en-US" noProof="0" dirty="0"/>
              <a:t> del </a:t>
            </a:r>
            <a:r>
              <a:rPr lang="en-US" noProof="0" dirty="0" err="1"/>
              <a:t>patrón</a:t>
            </a:r>
            <a:endParaRPr lang="en-US" noProof="0" dirty="0"/>
          </a:p>
        </p:txBody>
      </p:sp>
      <p:sp>
        <p:nvSpPr>
          <p:cNvPr id="8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595618" y="1569411"/>
            <a:ext cx="10996916" cy="456627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 err="1"/>
              <a:t>Editar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estilo</a:t>
            </a:r>
            <a:r>
              <a:rPr lang="en-US" noProof="0" dirty="0"/>
              <a:t> de </a:t>
            </a:r>
            <a:r>
              <a:rPr lang="en-US" noProof="0" dirty="0" err="1"/>
              <a:t>texto</a:t>
            </a:r>
            <a:r>
              <a:rPr lang="en-US" noProof="0" dirty="0"/>
              <a:t> del </a:t>
            </a:r>
            <a:r>
              <a:rPr lang="en-US" noProof="0" dirty="0" err="1"/>
              <a:t>patrón</a:t>
            </a:r>
            <a:endParaRPr lang="en-US" noProof="0" dirty="0"/>
          </a:p>
          <a:p>
            <a:pPr lvl="1"/>
            <a:r>
              <a:rPr lang="en-US" noProof="0" dirty="0"/>
              <a:t>Segundo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2"/>
            <a:r>
              <a:rPr lang="en-US" noProof="0" dirty="0" err="1"/>
              <a:t>Tercer</a:t>
            </a:r>
            <a:r>
              <a:rPr lang="en-US" noProof="0" dirty="0"/>
              <a:t>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3"/>
            <a:r>
              <a:rPr lang="en-US" noProof="0" dirty="0"/>
              <a:t>Cuarto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4"/>
            <a:r>
              <a:rPr lang="en-US" noProof="0" dirty="0"/>
              <a:t>Quinto </a:t>
            </a:r>
            <a:r>
              <a:rPr lang="en-US" noProof="0" dirty="0" err="1"/>
              <a:t>nivel</a:t>
            </a:r>
            <a:endParaRPr lang="en-US" noProof="0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057275"/>
            <a:ext cx="12192000" cy="512763"/>
          </a:xfrm>
        </p:spPr>
        <p:txBody>
          <a:bodyPr/>
          <a:lstStyle>
            <a:lvl1pPr marL="0" indent="0" algn="ctr">
              <a:buNone/>
              <a:defRPr b="1"/>
            </a:lvl1pPr>
          </a:lstStyle>
          <a:p>
            <a:pPr lvl="0"/>
            <a:r>
              <a:rPr lang="en-US" noProof="0" dirty="0" err="1"/>
              <a:t>Subtítulo</a:t>
            </a:r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5BA5BF-A525-A0A8-E244-1560363C214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7C400B3-8858-8716-771D-5BB5B970676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144888" y="6269299"/>
            <a:ext cx="1447646" cy="36512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GB" dirty="0"/>
              <a:t>Name | Event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B628364E-52AA-F05F-CA21-D132EFF23A9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971800" y="6000750"/>
            <a:ext cx="1447800" cy="60166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Extra logo</a:t>
            </a:r>
          </a:p>
        </p:txBody>
      </p:sp>
    </p:spTree>
    <p:extLst>
      <p:ext uri="{BB962C8B-B14F-4D97-AF65-F5344CB8AC3E}">
        <p14:creationId xmlns:p14="http://schemas.microsoft.com/office/powerpoint/2010/main" val="1817291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subtítulo y 2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 err="1"/>
              <a:t>Haga</a:t>
            </a:r>
            <a:r>
              <a:rPr lang="en-US" noProof="0" dirty="0"/>
              <a:t> </a:t>
            </a:r>
            <a:r>
              <a:rPr lang="en-US" noProof="0" dirty="0" err="1"/>
              <a:t>clic</a:t>
            </a:r>
            <a:r>
              <a:rPr lang="en-US" noProof="0" dirty="0"/>
              <a:t> para </a:t>
            </a:r>
            <a:r>
              <a:rPr lang="en-US" noProof="0" dirty="0" err="1"/>
              <a:t>modificar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estilo</a:t>
            </a:r>
            <a:r>
              <a:rPr lang="en-US" noProof="0" dirty="0"/>
              <a:t> de </a:t>
            </a:r>
            <a:r>
              <a:rPr lang="en-US" noProof="0" dirty="0" err="1"/>
              <a:t>título</a:t>
            </a:r>
            <a:r>
              <a:rPr lang="en-US" noProof="0" dirty="0"/>
              <a:t> del </a:t>
            </a:r>
            <a:r>
              <a:rPr lang="en-US" noProof="0" dirty="0" err="1"/>
              <a:t>patrón</a:t>
            </a:r>
            <a:endParaRPr lang="en-US" noProof="0" dirty="0"/>
          </a:p>
        </p:txBody>
      </p:sp>
      <p:sp>
        <p:nvSpPr>
          <p:cNvPr id="8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595618" y="1569411"/>
            <a:ext cx="5282139" cy="456627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 err="1"/>
              <a:t>Editar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estilo</a:t>
            </a:r>
            <a:r>
              <a:rPr lang="en-US" noProof="0" dirty="0"/>
              <a:t> de </a:t>
            </a:r>
            <a:r>
              <a:rPr lang="en-US" noProof="0" dirty="0" err="1"/>
              <a:t>texto</a:t>
            </a:r>
            <a:r>
              <a:rPr lang="en-US" noProof="0" dirty="0"/>
              <a:t> del </a:t>
            </a:r>
            <a:r>
              <a:rPr lang="en-US" noProof="0" dirty="0" err="1"/>
              <a:t>patrón</a:t>
            </a:r>
            <a:endParaRPr lang="en-US" noProof="0" dirty="0"/>
          </a:p>
          <a:p>
            <a:pPr lvl="1"/>
            <a:r>
              <a:rPr lang="en-US" noProof="0" dirty="0"/>
              <a:t>Segundo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2"/>
            <a:r>
              <a:rPr lang="en-US" noProof="0" dirty="0" err="1"/>
              <a:t>Tercer</a:t>
            </a:r>
            <a:r>
              <a:rPr lang="en-US" noProof="0" dirty="0"/>
              <a:t>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3"/>
            <a:r>
              <a:rPr lang="en-US" noProof="0" dirty="0"/>
              <a:t>Cuarto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4"/>
            <a:r>
              <a:rPr lang="en-US" noProof="0" dirty="0"/>
              <a:t>Quinto </a:t>
            </a:r>
            <a:r>
              <a:rPr lang="en-US" noProof="0" dirty="0" err="1"/>
              <a:t>nivel</a:t>
            </a:r>
            <a:endParaRPr lang="en-US" noProof="0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057275"/>
            <a:ext cx="12192000" cy="512763"/>
          </a:xfrm>
        </p:spPr>
        <p:txBody>
          <a:bodyPr/>
          <a:lstStyle>
            <a:lvl1pPr marL="0" indent="0" algn="ctr">
              <a:buNone/>
              <a:defRPr b="1"/>
            </a:lvl1pPr>
          </a:lstStyle>
          <a:p>
            <a:pPr lvl="0"/>
            <a:r>
              <a:rPr lang="en-US" noProof="0" dirty="0" err="1"/>
              <a:t>Subtítulo</a:t>
            </a:r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5BA5BF-A525-A0A8-E244-1560363C214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7C400B3-8858-8716-771D-5BB5B970676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144888" y="6269299"/>
            <a:ext cx="1447646" cy="36512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GB" dirty="0"/>
              <a:t>Name | Event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B628364E-52AA-F05F-CA21-D132EFF23A9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971800" y="6000750"/>
            <a:ext cx="1447800" cy="60166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Extra logo</a:t>
            </a: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B5A1DD2F-9BD1-A7F2-757B-24F7F9259D0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316460" y="1569411"/>
            <a:ext cx="5282139" cy="456627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 err="1"/>
              <a:t>Editar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estilo</a:t>
            </a:r>
            <a:r>
              <a:rPr lang="en-US" noProof="0" dirty="0"/>
              <a:t> de </a:t>
            </a:r>
            <a:r>
              <a:rPr lang="en-US" noProof="0" dirty="0" err="1"/>
              <a:t>texto</a:t>
            </a:r>
            <a:r>
              <a:rPr lang="en-US" noProof="0" dirty="0"/>
              <a:t> del </a:t>
            </a:r>
            <a:r>
              <a:rPr lang="en-US" noProof="0" dirty="0" err="1"/>
              <a:t>patrón</a:t>
            </a:r>
            <a:endParaRPr lang="en-US" noProof="0" dirty="0"/>
          </a:p>
          <a:p>
            <a:pPr lvl="1"/>
            <a:r>
              <a:rPr lang="en-US" noProof="0" dirty="0"/>
              <a:t>Segundo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2"/>
            <a:r>
              <a:rPr lang="en-US" noProof="0" dirty="0" err="1"/>
              <a:t>Tercer</a:t>
            </a:r>
            <a:r>
              <a:rPr lang="en-US" noProof="0" dirty="0"/>
              <a:t>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3"/>
            <a:r>
              <a:rPr lang="en-US" noProof="0" dirty="0"/>
              <a:t>Cuarto </a:t>
            </a:r>
            <a:r>
              <a:rPr lang="en-US" noProof="0" dirty="0" err="1"/>
              <a:t>nivel</a:t>
            </a:r>
            <a:endParaRPr lang="en-US" noProof="0" dirty="0"/>
          </a:p>
          <a:p>
            <a:pPr lvl="4"/>
            <a:r>
              <a:rPr lang="en-US" noProof="0" dirty="0"/>
              <a:t>Quinto </a:t>
            </a:r>
            <a:r>
              <a:rPr lang="en-US" noProof="0" dirty="0" err="1"/>
              <a:t>nivel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70724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arado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3658" y="3028528"/>
            <a:ext cx="10984684" cy="800945"/>
          </a:xfrm>
        </p:spPr>
        <p:txBody>
          <a:bodyPr/>
          <a:lstStyle>
            <a:lvl1pPr>
              <a:defRPr/>
            </a:lvl1pPr>
          </a:lstStyle>
          <a:p>
            <a:endParaRPr lang="en-US" noProof="0" dirty="0"/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392059CB-3375-99ED-602B-18DE567B4E9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55605" y="5031684"/>
            <a:ext cx="2280790" cy="62422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Extra Logo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B81A38-A801-E95D-A115-67FF91EBE1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38" y="141288"/>
            <a:ext cx="2273300" cy="39211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GB" dirty="0"/>
              <a:t>Name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5E31040-658A-256A-8D0C-DE4E81F722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732962" y="97632"/>
            <a:ext cx="2273300" cy="39211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GB" dirty="0"/>
              <a:t>Event</a:t>
            </a:r>
          </a:p>
        </p:txBody>
      </p:sp>
    </p:spTree>
    <p:extLst>
      <p:ext uri="{BB962C8B-B14F-4D97-AF65-F5344CB8AC3E}">
        <p14:creationId xmlns:p14="http://schemas.microsoft.com/office/powerpoint/2010/main" val="4267924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4064000" y="6095686"/>
            <a:ext cx="8128000" cy="48753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63889" y="1631730"/>
            <a:ext cx="6702593" cy="299882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8000" b="1">
                <a:solidFill>
                  <a:srgbClr val="004890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63889" y="4900141"/>
            <a:ext cx="6702593" cy="822742"/>
          </a:xfrm>
          <a:prstGeom prst="rect">
            <a:avLst/>
          </a:prstGeom>
          <a:noFill/>
          <a:effectLst/>
        </p:spPr>
        <p:txBody>
          <a:bodyPr anchor="ctr">
            <a:no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noProof="0" dirty="0"/>
          </a:p>
        </p:txBody>
      </p:sp>
      <p:sp>
        <p:nvSpPr>
          <p:cNvPr id="13" name="Rectángulo 12"/>
          <p:cNvSpPr/>
          <p:nvPr userDrawn="1"/>
        </p:nvSpPr>
        <p:spPr>
          <a:xfrm>
            <a:off x="1" y="6095686"/>
            <a:ext cx="4064000" cy="487533"/>
          </a:xfrm>
          <a:prstGeom prst="rect">
            <a:avLst/>
          </a:prstGeom>
          <a:solidFill>
            <a:srgbClr val="00489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dirty="0">
              <a:solidFill>
                <a:schemeClr val="bg1"/>
              </a:solidFill>
            </a:endParaRPr>
          </a:p>
        </p:txBody>
      </p:sp>
      <p:sp>
        <p:nvSpPr>
          <p:cNvPr id="17" name="Marcador de texto 16"/>
          <p:cNvSpPr>
            <a:spLocks noGrp="1"/>
          </p:cNvSpPr>
          <p:nvPr>
            <p:ph type="body" sz="quarter" idx="11" hasCustomPrompt="1"/>
          </p:nvPr>
        </p:nvSpPr>
        <p:spPr>
          <a:xfrm>
            <a:off x="4963888" y="6095685"/>
            <a:ext cx="6702595" cy="487533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>
                <a:solidFill>
                  <a:srgbClr val="004890"/>
                </a:solidFill>
              </a:defRPr>
            </a:lvl1pPr>
          </a:lstStyle>
          <a:p>
            <a:pPr lvl="0"/>
            <a:r>
              <a:rPr lang="en-US" noProof="0" dirty="0"/>
              <a:t>YourEmail@bsc.es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B328BC22-2B62-812E-E91E-5157A65514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443883"/>
            <a:ext cx="4064000" cy="881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2F4A5FD0-775E-8E5B-EFC3-BC25FF2BE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242425" y="444500"/>
            <a:ext cx="2424113" cy="88106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Extra Logo</a:t>
            </a:r>
          </a:p>
        </p:txBody>
      </p:sp>
      <p:sp>
        <p:nvSpPr>
          <p:cNvPr id="4" name="Marcador de texto 14">
            <a:extLst>
              <a:ext uri="{FF2B5EF4-FFF2-40B4-BE49-F238E27FC236}">
                <a16:creationId xmlns:a16="http://schemas.microsoft.com/office/drawing/2014/main" id="{25DD9789-957B-B180-3394-1B747ED696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5968" y="6095686"/>
            <a:ext cx="3255433" cy="48753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15161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0" y="256068"/>
            <a:ext cx="12192000" cy="80094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noProof="0"/>
              <a:t>Haga</a:t>
            </a:r>
            <a:r>
              <a:rPr lang="en-US" noProof="0" dirty="0"/>
              <a:t> </a:t>
            </a:r>
            <a:r>
              <a:rPr lang="en-US" noProof="0" dirty="0" err="1"/>
              <a:t>clic</a:t>
            </a:r>
            <a:r>
              <a:rPr lang="en-US" noProof="0" dirty="0"/>
              <a:t> para </a:t>
            </a:r>
            <a:r>
              <a:rPr lang="en-US" noProof="0" dirty="0" err="1"/>
              <a:t>modificar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estilo</a:t>
            </a:r>
            <a:r>
              <a:rPr lang="en-US" noProof="0" dirty="0"/>
              <a:t> de </a:t>
            </a:r>
            <a:r>
              <a:rPr lang="en-US" noProof="0" dirty="0" err="1"/>
              <a:t>título</a:t>
            </a:r>
            <a:r>
              <a:rPr lang="en-US" noProof="0" dirty="0"/>
              <a:t> del </a:t>
            </a:r>
            <a:r>
              <a:rPr lang="en-US" noProof="0" dirty="0" err="1"/>
              <a:t>patrón</a:t>
            </a:r>
            <a:endParaRPr lang="en-US" noProof="0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03657" y="1514475"/>
            <a:ext cx="10984685" cy="46624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Editar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656D1-C880-27CC-59AE-14156C16BB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77757" y="6269300"/>
            <a:ext cx="4364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E441BF-5F25-472C-890A-B3E0CFED072E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3962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4" r:id="rId2"/>
    <p:sldLayoutId id="2147483679" r:id="rId3"/>
    <p:sldLayoutId id="2147483677" r:id="rId4"/>
    <p:sldLayoutId id="2147483680" r:id="rId5"/>
    <p:sldLayoutId id="2147483675" r:id="rId6"/>
    <p:sldLayoutId id="214748367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 baseline="0">
          <a:solidFill>
            <a:srgbClr val="124484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4.jpeg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5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7.png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7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4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DDB6E1B2-A237-B556-3959-4193509846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63889" y="1127233"/>
            <a:ext cx="6702593" cy="1797270"/>
          </a:xfrm>
        </p:spPr>
        <p:txBody>
          <a:bodyPr/>
          <a:lstStyle/>
          <a:p>
            <a:r>
              <a:rPr lang="en-GB" sz="6600" u="sng" dirty="0"/>
              <a:t>EMWAVE</a:t>
            </a:r>
            <a:endParaRPr lang="en-GB" u="sng" dirty="0"/>
          </a:p>
        </p:txBody>
      </p:sp>
      <p:sp>
        <p:nvSpPr>
          <p:cNvPr id="24" name="Subtitle 23">
            <a:extLst>
              <a:ext uri="{FF2B5EF4-FFF2-40B4-BE49-F238E27FC236}">
                <a16:creationId xmlns:a16="http://schemas.microsoft.com/office/drawing/2014/main" id="{7A4166E1-E10E-F94E-51E1-A8745A61E3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63889" y="2491334"/>
            <a:ext cx="7228111" cy="1677897"/>
          </a:xfrm>
        </p:spPr>
        <p:txBody>
          <a:bodyPr/>
          <a:lstStyle/>
          <a:p>
            <a:r>
              <a:rPr lang="en-GB" sz="4400" dirty="0">
                <a:solidFill>
                  <a:srgbClr val="2F3D55"/>
                </a:solidFill>
              </a:rPr>
              <a:t>FEM code to simulate EM wave propagation in magnetically confined plasma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08844F-7B16-4472-C3FF-886C1438C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5968" y="6095686"/>
            <a:ext cx="3255433" cy="487533"/>
          </a:xfrm>
        </p:spPr>
        <p:txBody>
          <a:bodyPr>
            <a:normAutofit/>
          </a:bodyPr>
          <a:lstStyle/>
          <a:p>
            <a:r>
              <a:rPr lang="en-GB" dirty="0"/>
              <a:t>27/10/2025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11"/>
          </p:nvPr>
        </p:nvSpPr>
        <p:spPr>
          <a:xfrm>
            <a:off x="4963888" y="6095685"/>
            <a:ext cx="6702595" cy="487533"/>
          </a:xfrm>
        </p:spPr>
        <p:txBody>
          <a:bodyPr>
            <a:normAutofit/>
          </a:bodyPr>
          <a:lstStyle/>
          <a:p>
            <a:r>
              <a:rPr lang="en-GB" dirty="0"/>
              <a:t>PhD Research Plan Defence 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5BE79027-FC9A-B18E-BC9A-5B82CAE9A265}"/>
              </a:ext>
            </a:extLst>
          </p:cNvPr>
          <p:cNvSpPr txBox="1">
            <a:spLocks/>
          </p:cNvSpPr>
          <p:nvPr/>
        </p:nvSpPr>
        <p:spPr>
          <a:xfrm>
            <a:off x="4963888" y="4285163"/>
            <a:ext cx="6702593" cy="1797270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GB" sz="1600" dirty="0">
                <a:solidFill>
                  <a:srgbClr val="7F7F7F"/>
                </a:solidFill>
              </a:rPr>
              <a:t>PhD in Nuclear and Ionising Radiation Engineering</a:t>
            </a:r>
          </a:p>
          <a:p>
            <a:pPr>
              <a:spcBef>
                <a:spcPts val="600"/>
              </a:spcBef>
            </a:pPr>
            <a:r>
              <a:rPr lang="en-GB" sz="2800" b="1" dirty="0"/>
              <a:t>Hernán Domingo Ramos</a:t>
            </a:r>
            <a:endParaRPr lang="en-GB" sz="2800" b="1" baseline="30000" dirty="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  <a:ea typeface="Calibri"/>
                <a:cs typeface="Calibri"/>
              </a:rPr>
              <a:t>Directors:			Tutor:</a:t>
            </a:r>
          </a:p>
          <a:p>
            <a:pPr>
              <a:spcBef>
                <a:spcPts val="600"/>
              </a:spcBef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  <a:ea typeface="Calibri"/>
                <a:cs typeface="Calibri"/>
              </a:rPr>
              <a:t>Dani </a:t>
            </a:r>
            <a:r>
              <a:rPr lang="en-GB" sz="2000" dirty="0">
                <a:solidFill>
                  <a:srgbClr val="7F7F7F"/>
                </a:solidFill>
                <a:ea typeface="Calibri"/>
                <a:cs typeface="Calibri"/>
              </a:rPr>
              <a:t>Gallart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  <a:ea typeface="Calibri"/>
                <a:cs typeface="Calibri"/>
              </a:rPr>
              <a:t>, Alejandro Soba	</a:t>
            </a:r>
            <a:r>
              <a:rPr lang="en-GB" sz="2000" dirty="0" err="1">
                <a:solidFill>
                  <a:schemeClr val="tx1">
                    <a:lumMod val="50000"/>
                    <a:lumOff val="50000"/>
                  </a:schemeClr>
                </a:solidFill>
                <a:ea typeface="Calibri"/>
                <a:cs typeface="Calibri"/>
              </a:rPr>
              <a:t>Lluís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  <a:ea typeface="Calibri"/>
                <a:cs typeface="Calibri"/>
              </a:rPr>
              <a:t> </a:t>
            </a:r>
            <a:r>
              <a:rPr lang="en-GB" sz="2000" dirty="0" err="1">
                <a:solidFill>
                  <a:schemeClr val="tx1">
                    <a:lumMod val="50000"/>
                    <a:lumOff val="50000"/>
                  </a:schemeClr>
                </a:solidFill>
                <a:ea typeface="Calibri"/>
                <a:cs typeface="Calibri"/>
              </a:rPr>
              <a:t>Batet</a:t>
            </a:r>
            <a:endParaRPr lang="en-GB" sz="2400" baseline="30000" dirty="0">
              <a:solidFill>
                <a:schemeClr val="tx1">
                  <a:lumMod val="50000"/>
                  <a:lumOff val="50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21" name="Picture Placeholder 20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3426F86C-A373-D10A-D719-27669D042C0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41" b="814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27245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0A895-1F46-1AB9-40E9-36541A49F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C9141-E6AF-3EFC-8860-3D7C2F100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en-GB" sz="3200" dirty="0"/>
              <a:t>Motivation</a:t>
            </a: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en-GB" sz="3200" dirty="0"/>
              <a:t>State of the Art</a:t>
            </a: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en-GB" sz="3200" dirty="0"/>
              <a:t>Goals</a:t>
            </a: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en-GB" sz="3200" dirty="0"/>
              <a:t>Work plan</a:t>
            </a: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en-GB" sz="3200" dirty="0"/>
              <a:t>Work done so far</a:t>
            </a: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en-GB" sz="3200" dirty="0"/>
              <a:t>Journal and Conferences</a:t>
            </a: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en-GB" sz="3200" dirty="0"/>
              <a:t>References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49716-5DCE-40A9-7833-CE901B74EA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n-GB" smtClean="0"/>
              <a:pPr algn="ctr"/>
              <a:t>2</a:t>
            </a:fld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35FAE-FB31-1EE3-22A3-558E17282B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29473" y="6269299"/>
            <a:ext cx="4804792" cy="365125"/>
          </a:xfrm>
        </p:spPr>
        <p:txBody>
          <a:bodyPr>
            <a:normAutofit/>
          </a:bodyPr>
          <a:lstStyle/>
          <a:p>
            <a:r>
              <a:rPr lang="en-GB" dirty="0"/>
              <a:t>Hernán Domingo | PhD Research Plan Defence</a:t>
            </a:r>
          </a:p>
        </p:txBody>
      </p:sp>
      <p:pic>
        <p:nvPicPr>
          <p:cNvPr id="18" name="Picture Placeholder 1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F8B8EAC2-03B3-71E3-47DB-BEE2425FF52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/>
      </p:pic>
      <p:pic>
        <p:nvPicPr>
          <p:cNvPr id="7" name="Picture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98A7AF8F-0E86-3EF9-21E7-E787FF3E74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9473" y="2338668"/>
            <a:ext cx="3004857" cy="3004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744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6A4C38-8676-7137-00CD-5953209A4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Motivation</a:t>
            </a:r>
            <a:endParaRPr lang="es-E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A77C7D7-101A-2197-5327-C1C0145594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93B6A-E546-E4C9-4ABA-93AFAD27AE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D4EC585-7123-4879-64CA-14B6D2EBBBB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10400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4A5E8C5E-E385-BA76-83D4-4DD2FDF463AE}"/>
              </a:ext>
            </a:extLst>
          </p:cNvPr>
          <p:cNvSpPr/>
          <p:nvPr/>
        </p:nvSpPr>
        <p:spPr>
          <a:xfrm>
            <a:off x="564777" y="3953435"/>
            <a:ext cx="726142" cy="1586753"/>
          </a:xfrm>
          <a:prstGeom prst="ellipse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3E77A2-4BF0-7F2C-BC6A-A5CB036E1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fusion?</a:t>
            </a:r>
          </a:p>
        </p:txBody>
      </p:sp>
      <p:pic>
        <p:nvPicPr>
          <p:cNvPr id="8" name="Content Placeholder 7" descr="A black screen with white dots&#10;&#10;AI-generated content may be incorrect.">
            <a:extLst>
              <a:ext uri="{FF2B5EF4-FFF2-40B4-BE49-F238E27FC236}">
                <a16:creationId xmlns:a16="http://schemas.microsoft.com/office/drawing/2014/main" id="{CA521D99-A3BC-C17A-AC57-DDBB17AD9F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728" y="1428326"/>
            <a:ext cx="6692567" cy="439854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D07C0-7359-3CD4-3F35-CB1EC422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4</a:t>
            </a:fld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627921-3EA2-717D-FDBA-026599EDC51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93029" y="6269299"/>
            <a:ext cx="3899506" cy="365125"/>
          </a:xfrm>
        </p:spPr>
        <p:txBody>
          <a:bodyPr>
            <a:normAutofit fontScale="92500"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pic>
        <p:nvPicPr>
          <p:cNvPr id="9" name="Picture Placeholder 1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EC24AB65-6313-10AD-0FA6-3488B321555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pic>
        <p:nvPicPr>
          <p:cNvPr id="11" name="Picture 10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0ADCC78-32AA-3E3F-3F1B-9096359CDF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3028" y="1427668"/>
            <a:ext cx="3666000" cy="43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86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B46A106-8848-1B23-5D24-0E950E62844B}"/>
              </a:ext>
            </a:extLst>
          </p:cNvPr>
          <p:cNvSpPr/>
          <p:nvPr/>
        </p:nvSpPr>
        <p:spPr>
          <a:xfrm>
            <a:off x="425773" y="1633169"/>
            <a:ext cx="4056582" cy="419749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A97C40-13BF-1B58-2FAF-7336A469D90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9502" y="1633169"/>
            <a:ext cx="4515392" cy="3896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A55F97-168A-4A27-E053-98E3D30F6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fusion?</a:t>
            </a:r>
          </a:p>
        </p:txBody>
      </p:sp>
      <p:pic>
        <p:nvPicPr>
          <p:cNvPr id="14" name="Content Placeholder 13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73FE181D-2708-B5C1-D87B-E54115829A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0757" y="1161645"/>
            <a:ext cx="6498225" cy="483910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EA20-748A-9F25-CAFC-C82771D76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5</a:t>
            </a:fld>
            <a:endParaRPr lang="en-GB" dirty="0"/>
          </a:p>
        </p:txBody>
      </p:sp>
      <p:pic>
        <p:nvPicPr>
          <p:cNvPr id="11" name="Picture Placeholder 1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1691E377-D093-0356-6FFA-A8276C0F649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ECD837B3-9234-AE73-8487-15095B22D9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3153" y="6269038"/>
            <a:ext cx="4518772" cy="365125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97240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50728-C075-69A7-B1A8-0E99DC251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B38A9C-1B19-9F16-6111-57B180B2B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How</a:t>
            </a:r>
            <a:r>
              <a:rPr lang="es-ES" dirty="0"/>
              <a:t> do </a:t>
            </a:r>
            <a:r>
              <a:rPr lang="es-ES" dirty="0" err="1"/>
              <a:t>we</a:t>
            </a:r>
            <a:r>
              <a:rPr lang="es-ES" dirty="0"/>
              <a:t> </a:t>
            </a:r>
            <a:r>
              <a:rPr lang="es-ES" dirty="0" err="1"/>
              <a:t>heat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plasma?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F233F-23B4-CA7F-A561-FFAA840EB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s-ES" smtClean="0"/>
              <a:pPr algn="ctr"/>
              <a:t>6</a:t>
            </a:fld>
            <a:endParaRPr lang="es-ES" dirty="0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A7FEDBB6-327E-2D6A-CDBD-3353F1AE9D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15150" y="6269038"/>
            <a:ext cx="4676775" cy="365125"/>
          </a:xfrm>
        </p:spPr>
        <p:txBody>
          <a:bodyPr>
            <a:no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BBB14-71C3-368E-10CE-0ED0D588C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658" y="1514475"/>
            <a:ext cx="4263617" cy="4662488"/>
          </a:xfrm>
        </p:spPr>
        <p:txBody>
          <a:bodyPr/>
          <a:lstStyle/>
          <a:p>
            <a:pPr algn="just">
              <a:spcBef>
                <a:spcPts val="4800"/>
              </a:spcBef>
            </a:pPr>
            <a:r>
              <a:rPr lang="en-US" b="1" dirty="0"/>
              <a:t>Joule effect</a:t>
            </a:r>
            <a:r>
              <a:rPr lang="en-US" dirty="0"/>
              <a:t>: Charges move and collide elastically with each other. Above a certain temperature value, resistivity decreases.</a:t>
            </a:r>
          </a:p>
          <a:p>
            <a:pPr algn="just">
              <a:spcBef>
                <a:spcPts val="4800"/>
              </a:spcBef>
            </a:pPr>
            <a:r>
              <a:rPr lang="es-ES" b="1" dirty="0"/>
              <a:t>NBI</a:t>
            </a:r>
            <a:r>
              <a:rPr lang="es-ES" dirty="0"/>
              <a:t>: </a:t>
            </a:r>
            <a:r>
              <a:rPr lang="en-US" dirty="0"/>
              <a:t>Neutral particles that are not affected by magnetic fields transfer energy and momentum.</a:t>
            </a:r>
          </a:p>
          <a:p>
            <a:pPr algn="just">
              <a:spcBef>
                <a:spcPts val="4800"/>
              </a:spcBef>
            </a:pPr>
            <a:r>
              <a:rPr lang="en-US" b="1" dirty="0"/>
              <a:t>ICRH and ECRH</a:t>
            </a:r>
            <a:r>
              <a:rPr lang="en-US" dirty="0"/>
              <a:t>: Cyclotron resonance heating. Ions resonate in the range of MHz, while electrons resonate in the range of GHz.</a:t>
            </a:r>
            <a:endParaRPr lang="es-ES" dirty="0"/>
          </a:p>
        </p:txBody>
      </p:sp>
      <p:pic>
        <p:nvPicPr>
          <p:cNvPr id="6" name="Picture 5" descr="ICRH antenna for Wendelstein 7-x">
            <a:extLst>
              <a:ext uri="{FF2B5EF4-FFF2-40B4-BE49-F238E27FC236}">
                <a16:creationId xmlns:a16="http://schemas.microsoft.com/office/drawing/2014/main" id="{DD371C91-8F98-B940-0359-70B23080B38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3714" y="1477359"/>
            <a:ext cx="3240000" cy="4320000"/>
          </a:xfrm>
          <a:prstGeom prst="rect">
            <a:avLst/>
          </a:prstGeom>
        </p:spPr>
      </p:pic>
      <p:pic>
        <p:nvPicPr>
          <p:cNvPr id="13" name="Picture 12" descr="A close-up of a metal door&#10;&#10;AI-generated content may be incorrect.">
            <a:extLst>
              <a:ext uri="{FF2B5EF4-FFF2-40B4-BE49-F238E27FC236}">
                <a16:creationId xmlns:a16="http://schemas.microsoft.com/office/drawing/2014/main" id="{712480ED-69CE-A37D-C42E-9D9857E2DC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154" y="1477359"/>
            <a:ext cx="2885818" cy="4320000"/>
          </a:xfrm>
          <a:prstGeom prst="rect">
            <a:avLst/>
          </a:prstGeom>
        </p:spPr>
      </p:pic>
      <p:pic>
        <p:nvPicPr>
          <p:cNvPr id="10" name="Picture Placeholder 9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DEE15556-802A-4F62-3628-88B93BD9E1C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E762D4-8A79-EA3F-772F-E1DB0145E81F}"/>
              </a:ext>
            </a:extLst>
          </p:cNvPr>
          <p:cNvSpPr txBox="1"/>
          <p:nvPr/>
        </p:nvSpPr>
        <p:spPr>
          <a:xfrm>
            <a:off x="5134737" y="5797359"/>
            <a:ext cx="324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i="1" dirty="0"/>
              <a:t>ICRH antenna for </a:t>
            </a:r>
            <a:r>
              <a:rPr lang="en-GB" sz="1200" i="1" dirty="0" err="1"/>
              <a:t>Wendelstein</a:t>
            </a:r>
            <a:r>
              <a:rPr lang="en-GB" sz="1200" i="1" dirty="0"/>
              <a:t> 7-X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961AFD-5C7F-A8ED-0B60-3E86868DD5FD}"/>
              </a:ext>
            </a:extLst>
          </p:cNvPr>
          <p:cNvSpPr txBox="1"/>
          <p:nvPr/>
        </p:nvSpPr>
        <p:spPr>
          <a:xfrm>
            <a:off x="8731176" y="5797359"/>
            <a:ext cx="324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i="1" dirty="0"/>
              <a:t>ICRH antenna for WEST</a:t>
            </a:r>
          </a:p>
        </p:txBody>
      </p:sp>
    </p:spTree>
    <p:extLst>
      <p:ext uri="{BB962C8B-B14F-4D97-AF65-F5344CB8AC3E}">
        <p14:creationId xmlns:p14="http://schemas.microsoft.com/office/powerpoint/2010/main" val="3232227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753C22-C6AF-A11A-1AC3-4AD0DE5E2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9093" y="2088776"/>
            <a:ext cx="7753813" cy="38196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C572E9-3BFA-D152-D03E-0F086FA26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engineering behind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9F7AC-4987-F3D8-CB99-2E26F13CB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 dirty="0"/>
              <a:t>Nuclear Fusion Reactors are complex devices and present multi-physics coupled problems [1]: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A8536F46-DF74-9021-7158-FE8B116EB2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56159232"/>
              </p:ext>
            </p:extLst>
          </p:nvPr>
        </p:nvGraphicFramePr>
        <p:xfrm>
          <a:off x="2543694" y="1789374"/>
          <a:ext cx="7541094" cy="4662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BF9547-091F-9A7E-06D8-DD095CCBC9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7</a:t>
            </a:fld>
            <a:endParaRPr lang="en-GB" dirty="0"/>
          </a:p>
        </p:txBody>
      </p:sp>
      <p:pic>
        <p:nvPicPr>
          <p:cNvPr id="5" name="Picture Placeholder 9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FEAE2B85-34DA-8E64-7DCA-E9F81E929CA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AAD5702-6D62-4F8A-B47F-4DBFF57313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4950" y="6269038"/>
            <a:ext cx="5495925" cy="457200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15014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AC4A8E95-170B-424F-A5DA-3DC07F123B8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graphicEl>
                                              <a:dgm id="{AC4A8E95-170B-424F-A5DA-3DC07F123B8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AE4045B5-A384-42BC-B344-AB7FD96FB11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>
                                            <p:graphicEl>
                                              <a:dgm id="{AE4045B5-A384-42BC-B344-AB7FD96FB11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5442C8FA-FE4D-46F1-89EC-BBCEAA520A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>
                                            <p:graphicEl>
                                              <a:dgm id="{5442C8FA-FE4D-46F1-89EC-BBCEAA520A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6C489772-76F3-4697-94FC-87BF2C93C82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>
                                            <p:graphicEl>
                                              <a:dgm id="{6C489772-76F3-4697-94FC-87BF2C93C82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D12E33EB-B943-48ED-927C-1F416084A2F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>
                                            <p:graphicEl>
                                              <a:dgm id="{D12E33EB-B943-48ED-927C-1F416084A2F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AF0E0835-C4A6-4EDE-86AC-2B37D5E3F0C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>
                                            <p:graphicEl>
                                              <a:dgm id="{AF0E0835-C4A6-4EDE-86AC-2B37D5E3F0C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369920EB-644F-4915-B58B-228501894F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>
                                            <p:graphicEl>
                                              <a:dgm id="{369920EB-644F-4915-B58B-228501894F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896D0463-D4DB-4402-A823-6CFFC27A7ED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>
                                            <p:graphicEl>
                                              <a:dgm id="{896D0463-D4DB-4402-A823-6CFFC27A7ED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32577447-6AD2-4464-B10F-9AAC6AA8367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>
                                            <p:graphicEl>
                                              <a:dgm id="{32577447-6AD2-4464-B10F-9AAC6AA8367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ED8E00B4-ABA0-44FC-8A0E-0EAABFAAC5D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>
                                            <p:graphicEl>
                                              <a:dgm id="{ED8E00B4-ABA0-44FC-8A0E-0EAABFAAC5D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87217A3D-FB0E-41CA-84DE-1C7A8315277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>
                                            <p:graphicEl>
                                              <a:dgm id="{87217A3D-FB0E-41CA-84DE-1C7A8315277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BC2B9547-496A-46A6-BF75-0262A74B61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">
                                            <p:graphicEl>
                                              <a:dgm id="{BC2B9547-496A-46A6-BF75-0262A74B611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AC4A8E95-170B-424F-A5DA-3DC07F123B8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AE4045B5-A384-42BC-B344-AB7FD96FB11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5442C8FA-FE4D-46F1-89EC-BBCEAA520A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6C489772-76F3-4697-94FC-87BF2C93C82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D12E33EB-B943-48ED-927C-1F416084A2F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AF0E0835-C4A6-4EDE-86AC-2B37D5E3F0C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369920EB-644F-4915-B58B-228501894F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896D0463-D4DB-4402-A823-6CFFC27A7ED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32577447-6AD2-4464-B10F-9AAC6AA8367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ED8E00B4-ABA0-44FC-8A0E-0EAABFAAC5D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87217A3D-FB0E-41CA-84DE-1C7A8315277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graphicEl>
                                              <a:dgm id="{BC2B9547-496A-46A6-BF75-0262A74B61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5" grpId="0" uiExpand="1">
        <p:bldSub>
          <a:bldDgm bld="one"/>
        </p:bldSub>
      </p:bldGraphic>
      <p:bldGraphic spid="15" grpId="1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02E20C-7913-ACB7-AF16-65E67B97C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s-ES" b="1" dirty="0"/>
              <a:t>Alya </a:t>
            </a:r>
            <a:r>
              <a:rPr lang="es-ES" dirty="0"/>
              <a:t>[2]</a:t>
            </a:r>
            <a:r>
              <a:rPr lang="es-ES" b="1" dirty="0"/>
              <a:t> </a:t>
            </a:r>
            <a:r>
              <a:rPr lang="en-GB" dirty="0"/>
              <a:t>is a high-performance computational multi-physics code to solve engineering-coupled problems.</a:t>
            </a:r>
            <a:endParaRPr lang="es-ES" dirty="0"/>
          </a:p>
          <a:p>
            <a:pPr lvl="1"/>
            <a:r>
              <a:rPr lang="en-GB" dirty="0"/>
              <a:t>Written in Fortran and uses the Finite Element Method</a:t>
            </a:r>
          </a:p>
          <a:p>
            <a:pPr lvl="1"/>
            <a:r>
              <a:rPr lang="en-GB" dirty="0"/>
              <a:t>Parallelised code with excellent scalability</a:t>
            </a:r>
          </a:p>
          <a:p>
            <a:pPr lvl="1"/>
            <a:r>
              <a:rPr lang="en-US" dirty="0"/>
              <a:t>Early implementation on GPU multicore nodes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AF51F56-D606-82DA-C802-1607B1F0B0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30506" y="6269300"/>
            <a:ext cx="5400000" cy="365125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2B560A-EF43-631F-FAC4-4CAF9093FD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87387" y="3067784"/>
            <a:ext cx="6253707" cy="3012897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D7DA174F-2616-6068-613D-F178DDD76B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s-ES" smtClean="0"/>
              <a:pPr algn="ctr"/>
              <a:t>8</a:t>
            </a:fld>
            <a:endParaRPr lang="es-E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C3B972C-1D68-54E0-81DB-04A3E3231685}"/>
              </a:ext>
            </a:extLst>
          </p:cNvPr>
          <p:cNvGrpSpPr>
            <a:grpSpLocks noChangeAspect="1"/>
          </p:cNvGrpSpPr>
          <p:nvPr/>
        </p:nvGrpSpPr>
        <p:grpSpPr>
          <a:xfrm>
            <a:off x="2973516" y="3788372"/>
            <a:ext cx="5595832" cy="1368000"/>
            <a:chOff x="3434938" y="4725535"/>
            <a:chExt cx="5055797" cy="1235979"/>
          </a:xfrm>
        </p:grpSpPr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F3E69A9C-E489-B75B-3F38-E24E5F7DE5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4938" y="4727201"/>
              <a:ext cx="1848970" cy="1232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4">
              <a:extLst>
                <a:ext uri="{FF2B5EF4-FFF2-40B4-BE49-F238E27FC236}">
                  <a16:creationId xmlns:a16="http://schemas.microsoft.com/office/drawing/2014/main" id="{0C0D97DF-82FD-D3BB-891D-6955F9975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4756" y="4725535"/>
              <a:ext cx="1235979" cy="1235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Plus Sign 26">
              <a:extLst>
                <a:ext uri="{FF2B5EF4-FFF2-40B4-BE49-F238E27FC236}">
                  <a16:creationId xmlns:a16="http://schemas.microsoft.com/office/drawing/2014/main" id="{B0F5D0D5-25EB-1CA0-0E5B-462B29DEB46B}"/>
                </a:ext>
              </a:extLst>
            </p:cNvPr>
            <p:cNvSpPr/>
            <p:nvPr/>
          </p:nvSpPr>
          <p:spPr>
            <a:xfrm>
              <a:off x="5909332" y="4983524"/>
              <a:ext cx="720000" cy="720000"/>
            </a:xfrm>
            <a:prstGeom prst="mathPlus">
              <a:avLst>
                <a:gd name="adj1" fmla="val 11069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  <p:pic>
        <p:nvPicPr>
          <p:cNvPr id="8" name="Picture Placeholder 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75BEBB2B-E289-DE62-D391-EA5E767A82F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/>
      </p:pic>
      <p:sp>
        <p:nvSpPr>
          <p:cNvPr id="2" name="Title 5">
            <a:extLst>
              <a:ext uri="{FF2B5EF4-FFF2-40B4-BE49-F238E27FC236}">
                <a16:creationId xmlns:a16="http://schemas.microsoft.com/office/drawing/2014/main" id="{FF28454C-AC47-017B-F565-2A42CC71E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55588"/>
            <a:ext cx="12192000" cy="801687"/>
          </a:xfrm>
        </p:spPr>
        <p:txBody>
          <a:bodyPr/>
          <a:lstStyle/>
          <a:p>
            <a:r>
              <a:rPr lang="en-GB" dirty="0"/>
              <a:t>What is </a:t>
            </a:r>
            <a:r>
              <a:rPr lang="en-GB" dirty="0" err="1"/>
              <a:t>Alya</a:t>
            </a:r>
            <a:r>
              <a:rPr lang="en-GB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00033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B92283F-D04C-0DA6-4A90-95B39316E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Alya4fusion?</a:t>
            </a:r>
            <a:endParaRPr lang="es-E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02E20C-7913-ACB7-AF16-65E67B97C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657" y="1326216"/>
            <a:ext cx="10984685" cy="4662488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es-ES" b="1" dirty="0"/>
              <a:t>Alya4fusion </a:t>
            </a:r>
            <a:r>
              <a:rPr lang="en-US" altLang="en-US" dirty="0">
                <a:latin typeface="Arial" panose="020B0604020202020204" pitchFamily="34" charset="0"/>
              </a:rPr>
              <a:t>aims to use some of the physics modules developed in Alya to simulate relevant processes in nuclear fusion reactors.</a:t>
            </a:r>
            <a:endParaRPr lang="es-E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AF51F56-D606-82DA-C802-1607B1F0B0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30506" y="6269300"/>
            <a:ext cx="5400000" cy="365125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D7DA174F-2616-6068-613D-F178DDD76B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s-ES" smtClean="0"/>
              <a:pPr algn="ctr"/>
              <a:t>9</a:t>
            </a:fld>
            <a:endParaRPr lang="es-E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4DEAFAF-D50C-F14D-DEB5-E5EF5597A1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4290" y="2201740"/>
            <a:ext cx="6663417" cy="3799009"/>
          </a:xfrm>
          <a:prstGeom prst="rect">
            <a:avLst/>
          </a:prstGeom>
        </p:spPr>
      </p:pic>
      <p:pic>
        <p:nvPicPr>
          <p:cNvPr id="10" name="Picture Placeholder 9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DEE7AD2D-D258-0830-71C0-A0FB17084D9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979683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3C0AC5C-3D3E-501D-5C79-A5DC1CB69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99BD33EA-CE24-00CF-CFD1-BFD8E4C2F5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7240" y="1331651"/>
                <a:ext cx="10984685" cy="466248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200"/>
                  </a:spcBef>
                  <a:spcAft>
                    <a:spcPts val="600"/>
                  </a:spcAft>
                </a:pPr>
                <a:r>
                  <a:rPr lang="en-GB" dirty="0"/>
                  <a:t>Use of FEM to solve Maxwell’s equations in E-H formulation.</a:t>
                </a:r>
              </a:p>
              <a:p>
                <a:pPr lvl="1">
                  <a:spcBef>
                    <a:spcPts val="600"/>
                  </a:spcBef>
                </a:pPr>
                <a:r>
                  <a:rPr lang="en-GB" dirty="0"/>
                  <a:t>3D 2</a:t>
                </a:r>
                <a:r>
                  <a:rPr lang="en-GB" baseline="30000" dirty="0"/>
                  <a:t>nd</a:t>
                </a:r>
                <a:r>
                  <a:rPr lang="en-GB" dirty="0"/>
                  <a:t> order </a:t>
                </a:r>
                <a:r>
                  <a:rPr lang="en-GB" dirty="0" err="1"/>
                  <a:t>Nédélec</a:t>
                </a:r>
                <a:r>
                  <a:rPr lang="en-GB" dirty="0"/>
                  <a:t> elements</a:t>
                </a:r>
              </a:p>
              <a:p>
                <a:pPr lvl="1">
                  <a:spcBef>
                    <a:spcPts val="600"/>
                  </a:spcBef>
                </a:pPr>
                <a:r>
                  <a:rPr lang="en-GB" dirty="0"/>
                  <a:t>Agnostic to geometry: Unstructured meshes for any device (tokamak, stellarator, linear…)</a:t>
                </a:r>
              </a:p>
              <a:p>
                <a:pPr lvl="1">
                  <a:spcBef>
                    <a:spcPts val="600"/>
                  </a:spcBef>
                </a:pPr>
                <a:r>
                  <a:rPr lang="en-GB" dirty="0"/>
                  <a:t>Integrated in Alya: Massively parallelised and coupled with other modules</a:t>
                </a:r>
              </a:p>
              <a:p>
                <a:pPr>
                  <a:spcBef>
                    <a:spcPts val="1200"/>
                  </a:spcBef>
                  <a:spcAft>
                    <a:spcPts val="600"/>
                  </a:spcAft>
                </a:pPr>
                <a:r>
                  <a:rPr lang="en-GB" dirty="0"/>
                  <a:t>Simulate real case scenarios:</a:t>
                </a:r>
              </a:p>
              <a:p>
                <a:pPr lvl="1">
                  <a:spcBef>
                    <a:spcPts val="600"/>
                  </a:spcBef>
                </a:pPr>
                <a:r>
                  <a:rPr lang="en-GB" dirty="0"/>
                  <a:t>Realistic antenna designs</a:t>
                </a:r>
              </a:p>
              <a:p>
                <a:pPr lvl="1">
                  <a:spcBef>
                    <a:spcPts val="600"/>
                  </a:spcBef>
                </a:pPr>
                <a:r>
                  <a:rPr lang="en-GB" dirty="0"/>
                  <a:t>Account for absorption and resonances with a hot plasma model</a:t>
                </a:r>
              </a:p>
              <a:p>
                <a:pPr lvl="1">
                  <a:spcBef>
                    <a:spcPts val="600"/>
                  </a:spcBef>
                </a:pPr>
                <a:r>
                  <a:rPr lang="en-GB" dirty="0"/>
                  <a:t>Perform numerical experiments for a set of variables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GB" dirty="0"/>
                  <a:t>…)</a:t>
                </a:r>
              </a:p>
              <a:p>
                <a:pPr>
                  <a:spcBef>
                    <a:spcPts val="1200"/>
                  </a:spcBef>
                  <a:spcAft>
                    <a:spcPts val="600"/>
                  </a:spcAft>
                </a:pPr>
                <a:r>
                  <a:rPr lang="en-GB" dirty="0"/>
                  <a:t>Extra: Wide region of applicability</a:t>
                </a:r>
              </a:p>
              <a:p>
                <a:pPr lvl="1">
                  <a:spcBef>
                    <a:spcPts val="600"/>
                  </a:spcBef>
                </a:pPr>
                <a:r>
                  <a:rPr lang="en-GB" dirty="0"/>
                  <a:t>From the scrape-off layer to the core</a:t>
                </a:r>
              </a:p>
              <a:p>
                <a:pPr lvl="1">
                  <a:spcBef>
                    <a:spcPts val="600"/>
                  </a:spcBef>
                </a:pPr>
                <a:r>
                  <a:rPr lang="en-GB" dirty="0"/>
                  <a:t>Injectors and waveguides</a:t>
                </a:r>
              </a:p>
              <a:p>
                <a:pPr>
                  <a:spcBef>
                    <a:spcPts val="1200"/>
                  </a:spcBef>
                  <a:spcAft>
                    <a:spcPts val="600"/>
                  </a:spcAft>
                </a:pPr>
                <a:r>
                  <a:rPr lang="en-GB" dirty="0"/>
                  <a:t>A piece in a bigger framework: A push for a Digital Twin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99BD33EA-CE24-00CF-CFD1-BFD8E4C2F5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7240" y="1331651"/>
                <a:ext cx="10984685" cy="4662488"/>
              </a:xfrm>
              <a:blipFill>
                <a:blip r:embed="rId3"/>
                <a:stretch>
                  <a:fillRect l="-499" t="-13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314F1-1EAD-3BCA-0175-ECBCEDCA62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10</a:t>
            </a:fld>
            <a:endParaRPr lang="en-GB" dirty="0"/>
          </a:p>
        </p:txBody>
      </p:sp>
      <p:pic>
        <p:nvPicPr>
          <p:cNvPr id="12" name="Picture Placeholder 11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94042D05-ADEF-3747-278E-5782C037193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79F8BA9-1858-C956-2A9B-1CCBF9EA02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72398" y="6269038"/>
            <a:ext cx="3819527" cy="365125"/>
          </a:xfrm>
        </p:spPr>
        <p:txBody>
          <a:bodyPr>
            <a:normAutofit fontScale="92500"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39558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6A4C38-8676-7137-00CD-5953209A4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State of the Art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A77C7D7-101A-2197-5327-C1C0145594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77AE45-F597-F458-C2DD-CD51691F3D4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5E58B7F-4658-F489-7AFE-F67F69C76F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9016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D584D-372D-915C-A268-98EBD7E19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B4ED7D4-6F28-1DE6-A8EE-BBABC527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State of the Art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13B77E-AB33-A4B0-4E62-7C33AAEF2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657" y="1514475"/>
            <a:ext cx="10984685" cy="4572560"/>
          </a:xfrm>
        </p:spPr>
        <p:txBody>
          <a:bodyPr numCol="2">
            <a:normAutofit/>
          </a:bodyPr>
          <a:lstStyle/>
          <a:p>
            <a:pPr>
              <a:spcBef>
                <a:spcPts val="600"/>
              </a:spcBef>
            </a:pPr>
            <a:r>
              <a:rPr lang="en-GB" b="1" dirty="0"/>
              <a:t>Notable Codes</a:t>
            </a:r>
            <a:endParaRPr lang="en-GB" dirty="0"/>
          </a:p>
          <a:p>
            <a:pPr lvl="1">
              <a:spcBef>
                <a:spcPts val="200"/>
              </a:spcBef>
            </a:pPr>
            <a:r>
              <a:rPr lang="en-GB" dirty="0"/>
              <a:t>TORIC [3], TOPICA [4], SCENIC [6], PION [7], AORSA [8], ERMES [9], EVE [10], FEMIC [11] and FERMI [12]</a:t>
            </a:r>
            <a:endParaRPr lang="en-GB" b="1" dirty="0"/>
          </a:p>
          <a:p>
            <a:pPr>
              <a:spcBef>
                <a:spcPts val="600"/>
              </a:spcBef>
            </a:pPr>
            <a:r>
              <a:rPr lang="en-GB" b="1" dirty="0"/>
              <a:t>Existing Modelling Approaches</a:t>
            </a:r>
          </a:p>
          <a:p>
            <a:pPr lvl="1">
              <a:spcBef>
                <a:spcPts val="200"/>
              </a:spcBef>
            </a:pPr>
            <a:r>
              <a:rPr lang="en-GB" dirty="0"/>
              <a:t>Plasma-focused codes → detailed plasma, simplified SOL/antennas </a:t>
            </a:r>
            <a:r>
              <a:rPr lang="en-GB"/>
              <a:t>[3,6,7,8,10,11]</a:t>
            </a:r>
            <a:endParaRPr lang="en-GB" dirty="0"/>
          </a:p>
          <a:p>
            <a:pPr lvl="1">
              <a:spcBef>
                <a:spcPts val="200"/>
              </a:spcBef>
            </a:pPr>
            <a:r>
              <a:rPr lang="en-GB" dirty="0"/>
              <a:t>Antenna-focused codes → detailed antennas, simplified plasma core [4,9]</a:t>
            </a:r>
          </a:p>
          <a:p>
            <a:pPr lvl="1">
              <a:spcBef>
                <a:spcPts val="200"/>
              </a:spcBef>
            </a:pPr>
            <a:r>
              <a:rPr lang="en-GB" dirty="0"/>
              <a:t>Hybrid/mode-matching approaches (e.g., FEM + TORIC) [5]</a:t>
            </a:r>
          </a:p>
          <a:p>
            <a:pPr>
              <a:spcBef>
                <a:spcPts val="600"/>
              </a:spcBef>
            </a:pPr>
            <a:r>
              <a:rPr lang="en-GB" b="1" dirty="0"/>
              <a:t>Current Limitations of Codes</a:t>
            </a:r>
            <a:endParaRPr lang="en-GB" dirty="0"/>
          </a:p>
          <a:p>
            <a:pPr lvl="1">
              <a:spcBef>
                <a:spcPts val="200"/>
              </a:spcBef>
            </a:pPr>
            <a:r>
              <a:rPr lang="en-GB" dirty="0"/>
              <a:t>Restricted to certain plasma regions</a:t>
            </a:r>
          </a:p>
          <a:p>
            <a:pPr lvl="1">
              <a:spcBef>
                <a:spcPts val="200"/>
              </a:spcBef>
            </a:pPr>
            <a:r>
              <a:rPr lang="en-GB" dirty="0"/>
              <a:t>Simplified antenna or plasma models</a:t>
            </a:r>
          </a:p>
          <a:p>
            <a:pPr lvl="1">
              <a:spcBef>
                <a:spcPts val="200"/>
              </a:spcBef>
            </a:pPr>
            <a:r>
              <a:rPr lang="en-GB" dirty="0"/>
              <a:t>Require coupling between multiple codes</a:t>
            </a:r>
          </a:p>
          <a:p>
            <a:pPr lvl="1">
              <a:spcBef>
                <a:spcPts val="200"/>
              </a:spcBef>
            </a:pPr>
            <a:r>
              <a:rPr lang="en-GB" dirty="0"/>
              <a:t>Limited HPC integration</a:t>
            </a:r>
          </a:p>
          <a:p>
            <a:pPr>
              <a:spcBef>
                <a:spcPts val="600"/>
              </a:spcBef>
            </a:pPr>
            <a:r>
              <a:rPr lang="en-GB" b="1" dirty="0"/>
              <a:t>EMWAVE Contribution</a:t>
            </a:r>
            <a:endParaRPr lang="en-GB" dirty="0"/>
          </a:p>
          <a:p>
            <a:pPr lvl="1">
              <a:spcBef>
                <a:spcPts val="200"/>
              </a:spcBef>
            </a:pPr>
            <a:r>
              <a:rPr lang="en-GB" dirty="0"/>
              <a:t>First HPC-embedded FEM code for a full reactor-shaped domain</a:t>
            </a:r>
          </a:p>
          <a:p>
            <a:pPr lvl="1">
              <a:spcBef>
                <a:spcPts val="200"/>
              </a:spcBef>
            </a:pPr>
            <a:r>
              <a:rPr lang="en-GB" dirty="0"/>
              <a:t>From SOL/antenna to plasma core</a:t>
            </a:r>
          </a:p>
          <a:p>
            <a:pPr lvl="1">
              <a:spcBef>
                <a:spcPts val="200"/>
              </a:spcBef>
            </a:pPr>
            <a:r>
              <a:rPr lang="en-GB" dirty="0"/>
              <a:t>Modular design → integration with other physics modules in Alya</a:t>
            </a:r>
          </a:p>
          <a:p>
            <a:pPr lvl="1">
              <a:spcBef>
                <a:spcPts val="200"/>
              </a:spcBef>
            </a:pPr>
            <a:r>
              <a:rPr lang="en-GB" dirty="0"/>
              <a:t>Toward a digital twin of fusion reactors</a:t>
            </a:r>
          </a:p>
          <a:p>
            <a:pPr lvl="1">
              <a:spcBef>
                <a:spcPts val="200"/>
              </a:spcBef>
            </a:pPr>
            <a:r>
              <a:rPr lang="en-GB" dirty="0"/>
              <a:t>Strategic tool for design &amp; optimisation of current/future devices</a:t>
            </a:r>
            <a:endParaRPr lang="en-GB" b="1" dirty="0"/>
          </a:p>
          <a:p>
            <a:pPr lvl="1">
              <a:spcBef>
                <a:spcPts val="200"/>
              </a:spcBef>
            </a:pPr>
            <a:r>
              <a:rPr lang="en-GB" dirty="0"/>
              <a:t>Similar initiative at Oak Ridge National Laboratory (USA) [12]</a:t>
            </a:r>
          </a:p>
        </p:txBody>
      </p:sp>
      <p:pic>
        <p:nvPicPr>
          <p:cNvPr id="2" name="Picture Placeholder 11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5C41E05A-D023-34BB-2164-EFD63975547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4D54F7F9-38B1-B912-CC80-09DB1C1F08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906871" y="6269038"/>
            <a:ext cx="3685054" cy="365125"/>
          </a:xfrm>
        </p:spPr>
        <p:txBody>
          <a:bodyPr>
            <a:normAutofit fontScale="85000" lnSpcReduction="10000"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9F662-B377-11BE-5B0A-C4C508D06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5011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9C53D-623F-8FB1-90AD-617ABF60E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Work</a:t>
            </a:r>
            <a:r>
              <a:rPr lang="es-ES" dirty="0"/>
              <a:t> Plan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63C67C-ABBC-028E-199E-6A4CEFF22A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BE337-9AA2-0ED7-BA53-EA3FAC69CF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BFB11C-AFB8-D6D0-B68D-A9C1073B9D2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458971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9351B76-90DC-B920-0F1D-0D36448E4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F2F22CE-2438-64F4-2DF6-CA7134CA6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spcBef>
                <a:spcPts val="2400"/>
              </a:spcBef>
            </a:pPr>
            <a:r>
              <a:rPr lang="en-GB" dirty="0"/>
              <a:t>Implement a high-fidelity scheme to solve non-transient wave equations</a:t>
            </a:r>
          </a:p>
          <a:p>
            <a:pPr lvl="1"/>
            <a:r>
              <a:rPr lang="en-GB" dirty="0"/>
              <a:t>Implement a high-order </a:t>
            </a:r>
            <a:r>
              <a:rPr lang="en-GB" dirty="0" err="1"/>
              <a:t>Nédélec</a:t>
            </a:r>
            <a:r>
              <a:rPr lang="en-GB" dirty="0"/>
              <a:t> FEM in 3D in Alya</a:t>
            </a:r>
          </a:p>
          <a:p>
            <a:pPr>
              <a:lnSpc>
                <a:spcPct val="150000"/>
              </a:lnSpc>
              <a:spcBef>
                <a:spcPts val="2400"/>
              </a:spcBef>
            </a:pPr>
            <a:r>
              <a:rPr lang="en-GB" dirty="0"/>
              <a:t>Introduce a hot plasma model to account for resonances and wave absorption</a:t>
            </a:r>
          </a:p>
          <a:p>
            <a:pPr lvl="1"/>
            <a:r>
              <a:rPr lang="en-GB" dirty="0"/>
              <a:t>Maxwell-Boltzmann</a:t>
            </a:r>
          </a:p>
          <a:p>
            <a:pPr lvl="1"/>
            <a:r>
              <a:rPr lang="en-GB" dirty="0"/>
              <a:t>Fokker-Plank solver</a:t>
            </a:r>
          </a:p>
          <a:p>
            <a:pPr>
              <a:lnSpc>
                <a:spcPct val="150000"/>
              </a:lnSpc>
              <a:spcBef>
                <a:spcPts val="2400"/>
              </a:spcBef>
            </a:pPr>
            <a:r>
              <a:rPr lang="en-GB" dirty="0"/>
              <a:t>Numerical experiments to analyse absorption and heating</a:t>
            </a:r>
          </a:p>
          <a:p>
            <a:pPr>
              <a:lnSpc>
                <a:spcPct val="150000"/>
              </a:lnSpc>
              <a:spcBef>
                <a:spcPts val="2400"/>
              </a:spcBef>
            </a:pPr>
            <a:r>
              <a:rPr lang="en-GB" dirty="0"/>
              <a:t>Validate results with well-known codes</a:t>
            </a:r>
          </a:p>
          <a:p>
            <a:pPr>
              <a:lnSpc>
                <a:spcPct val="150000"/>
              </a:lnSpc>
              <a:spcBef>
                <a:spcPts val="2400"/>
              </a:spcBef>
            </a:pPr>
            <a:r>
              <a:rPr lang="en-GB" dirty="0"/>
              <a:t>Write thesis and publish results</a:t>
            </a:r>
          </a:p>
          <a:p>
            <a:pPr lvl="1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31420-0125-2DCF-A4FA-4F840497C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14</a:t>
            </a:fld>
            <a:endParaRPr lang="en-GB" dirty="0"/>
          </a:p>
        </p:txBody>
      </p:sp>
      <p:pic>
        <p:nvPicPr>
          <p:cNvPr id="12" name="Picture Placeholder 11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34DC7549-5552-A386-4B74-0A9793894F1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BA4D45C4-FFE8-3014-76F0-4035D50A18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72398" y="6269038"/>
            <a:ext cx="3819527" cy="365125"/>
          </a:xfrm>
        </p:spPr>
        <p:txBody>
          <a:bodyPr>
            <a:normAutofit fontScale="92500"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713082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31477-A119-01EF-EDC6-328B608D2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Gantt Chart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48CC5-6546-14BE-E1AC-E3E5E1A117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15</a:t>
            </a:fld>
            <a:endParaRPr lang="en-GB" dirty="0"/>
          </a:p>
        </p:txBody>
      </p:sp>
      <p:pic>
        <p:nvPicPr>
          <p:cNvPr id="20" name="Picture Placeholder 11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4425BFA4-40A3-F23C-52D1-C085CAFACC9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F80EFCF5-A559-F188-EF4E-D4E57CAE4E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0070" y="6269038"/>
            <a:ext cx="4751855" cy="365125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BB8B82B6-28D5-80AB-3B39-9990646EC4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83" y="1945532"/>
            <a:ext cx="12000800" cy="3503931"/>
          </a:xfrm>
        </p:spPr>
      </p:pic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0CAD5A6-3E7D-DDB1-63A3-3775837E9AA8}"/>
              </a:ext>
            </a:extLst>
          </p:cNvPr>
          <p:cNvSpPr/>
          <p:nvPr/>
        </p:nvSpPr>
        <p:spPr>
          <a:xfrm rot="10800000">
            <a:off x="5674658" y="1765532"/>
            <a:ext cx="180000" cy="180000"/>
          </a:xfrm>
          <a:prstGeom prst="triangle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180410A-BD1E-2988-8F65-1BA21F038E43}"/>
              </a:ext>
            </a:extLst>
          </p:cNvPr>
          <p:cNvCxnSpPr>
            <a:cxnSpLocks/>
          </p:cNvCxnSpPr>
          <p:nvPr/>
        </p:nvCxnSpPr>
        <p:spPr>
          <a:xfrm>
            <a:off x="5767834" y="2295525"/>
            <a:ext cx="0" cy="3146400"/>
          </a:xfrm>
          <a:prstGeom prst="line">
            <a:avLst/>
          </a:prstGeom>
          <a:ln w="28575" cap="sq">
            <a:solidFill>
              <a:srgbClr val="FF5050"/>
            </a:solidFill>
            <a:prstDash val="sysDot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57F1764-C9DB-4185-D267-1E7A2608651A}"/>
              </a:ext>
            </a:extLst>
          </p:cNvPr>
          <p:cNvSpPr txBox="1"/>
          <p:nvPr/>
        </p:nvSpPr>
        <p:spPr>
          <a:xfrm>
            <a:off x="5233898" y="1533803"/>
            <a:ext cx="10615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We are here</a:t>
            </a:r>
          </a:p>
        </p:txBody>
      </p:sp>
    </p:spTree>
    <p:extLst>
      <p:ext uri="{BB962C8B-B14F-4D97-AF65-F5344CB8AC3E}">
        <p14:creationId xmlns:p14="http://schemas.microsoft.com/office/powerpoint/2010/main" val="20257147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0C68-D97C-8C1D-6DC9-332237355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 done so far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20BCF7E-2034-936F-32E9-F3CF640C8F9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4C7DBE-A66F-C32A-3F9C-B44294A7A9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5A8D821-3A69-BE86-DB83-E5562E533D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C0B454-DCEC-1BC4-F49C-E84E7F86FF5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269038"/>
            <a:ext cx="434975" cy="365125"/>
          </a:xfrm>
        </p:spPr>
        <p:txBody>
          <a:bodyPr/>
          <a:lstStyle/>
          <a:p>
            <a:fld id="{18E441BF-5F25-472C-890A-B3E0CFED072E}" type="slidenum">
              <a:rPr lang="en-GB" smtClean="0"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0101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0044-60B8-B3A0-EB7D-FB4A89249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 done so far: </a:t>
            </a:r>
            <a:r>
              <a:rPr lang="es-ES" dirty="0"/>
              <a:t>EMWAVE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19461-3792-FB3C-FCF5-C5861337DC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s-ES" smtClean="0"/>
              <a:pPr algn="ctr"/>
              <a:t>17</a:t>
            </a:fld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1558916-BC89-0FAE-18A0-854394569A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250" y="1514475"/>
                <a:ext cx="10985500" cy="466248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What does EMWAVE do (for now)?</a:t>
                </a:r>
              </a:p>
              <a:p>
                <a:pPr marL="0" indent="0">
                  <a:buNone/>
                </a:pPr>
                <a:endParaRPr lang="es-ES" dirty="0"/>
              </a:p>
              <a:p>
                <a:pPr lvl="1"/>
                <a:r>
                  <a:rPr lang="en-US" dirty="0"/>
                  <a:t>Solves the generalized Helmholtz equation in 2D. It represents a time-independent wave equation.</a:t>
                </a:r>
              </a:p>
              <a:p>
                <a:pPr lvl="1"/>
                <a:endParaRPr lang="es-ES" dirty="0"/>
              </a:p>
              <a:p>
                <a:pPr marL="1344613" lvl="1"/>
                <a:r>
                  <a:rPr lang="en-GB" dirty="0"/>
                  <a:t>Transverse magnetic (TM) polarisation: </a:t>
                </a:r>
                <a:r>
                  <a:rPr lang="es-ES" b="0" dirty="0"/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ES" b="0" i="0" smtClean="0">
                                <a:latin typeface="Cambria Math" panose="02040503050406030204" pitchFamily="18" charset="0"/>
                              </a:rPr>
                              <m:t>Λ</m:t>
                            </m:r>
                          </m:e>
                          <m:sub>
                            <m:r>
                              <a:rPr lang="es-ES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s-ES" b="0" i="0" smtClean="0">
                            <a:latin typeface="Cambria Math" panose="02040503050406030204" pitchFamily="18" charset="0"/>
                          </a:rPr>
                          <m:t>∇</m:t>
                        </m:r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𝑧𝑧</m:t>
                        </m:r>
                      </m:sub>
                    </m:sSub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1" i="1" smtClean="0">
                            <a:latin typeface="Cambria Math" panose="02040503050406030204" pitchFamily="18" charset="0"/>
                          </a:rPr>
                          <m:t>𝑱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̂"/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es-ES" dirty="0"/>
              </a:p>
              <a:p>
                <a:pPr marL="1344613" lvl="1"/>
                <a:r>
                  <a:rPr lang="en-GB" dirty="0"/>
                  <a:t>Transverse electric (TE) polarisation: </a:t>
                </a:r>
                <a:r>
                  <a:rPr lang="es-ES" dirty="0"/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s-ES" b="0" i="0" smtClean="0">
                                <a:latin typeface="Cambria Math" panose="02040503050406030204" pitchFamily="18" charset="0"/>
                              </a:rPr>
                              <m:t>Λ</m:t>
                            </m:r>
                          </m:e>
                          <m:sub>
                            <m:r>
                              <a:rPr lang="es-ES" b="1" i="1" smtClean="0">
                                <a:latin typeface="Cambria Math" panose="02040503050406030204" pitchFamily="18" charset="0"/>
                              </a:rPr>
                              <m:t>𝜺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s-ES" b="0" i="0" smtClean="0">
                            <a:latin typeface="Cambria Math" panose="02040503050406030204" pitchFamily="18" charset="0"/>
                          </a:rPr>
                          <m:t>∇</m:t>
                        </m:r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𝑧𝑧</m:t>
                        </m:r>
                      </m:sub>
                    </m:sSub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s-ES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es-ES" i="1">
                            <a:latin typeface="Cambria Math" panose="02040503050406030204" pitchFamily="18" charset="0"/>
                          </a:rPr>
                          <m:t>×</m:t>
                        </m:r>
                        <m:d>
                          <m:dPr>
                            <m:ctrlPr>
                              <a:rPr lang="es-E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s-ES" b="1" i="1" smtClean="0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𝑟𝑐</m:t>
                                </m:r>
                              </m:sub>
                              <m:sup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1" i="1" smtClean="0">
                                    <a:latin typeface="Cambria Math" panose="02040503050406030204" pitchFamily="18" charset="0"/>
                                  </a:rPr>
                                  <m:t>𝑱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̂"/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es-ES" dirty="0"/>
              </a:p>
              <a:p>
                <a:pPr marL="457200" lvl="1" indent="0">
                  <a:buNone/>
                </a:pPr>
                <a:endParaRPr lang="es-ES" dirty="0"/>
              </a:p>
              <a:p>
                <a:pPr lvl="1"/>
                <a:r>
                  <a:rPr lang="en-US" dirty="0"/>
                  <a:t>Solves the wave equation in 3D with first order edge elements (preliminary results).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𝑟𝑐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𝑗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dirty="0"/>
                  <a:t>Calculates the permittivity tensor for a cold plasma using Stix [13] formulation</a:t>
                </a:r>
              </a:p>
              <a:p>
                <a:pPr marL="457200" lvl="1" indent="0">
                  <a:buNone/>
                </a:pPr>
                <a:endParaRPr lang="es-E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)= </m:t>
                      </m:r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𝑖𝐷</m:t>
                                </m:r>
                              </m:e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𝑖𝐷</m:t>
                                </m:r>
                              </m:e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1558916-BC89-0FAE-18A0-854394569A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250" y="1514475"/>
                <a:ext cx="10985500" cy="4662488"/>
              </a:xfrm>
              <a:blipFill>
                <a:blip r:embed="rId3"/>
                <a:stretch>
                  <a:fillRect l="-499" t="-18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Placeholder 11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3ABE6C72-00AB-C5E3-68A6-8B4772F717E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4B122961-0F3E-7EDE-B912-5C48C49A45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72300" y="6269038"/>
            <a:ext cx="4619625" cy="365125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397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6142EF6-6E76-22A4-907B-FD8776A8F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What</a:t>
            </a:r>
            <a:r>
              <a:rPr lang="es-ES" dirty="0"/>
              <a:t> do </a:t>
            </a:r>
            <a:r>
              <a:rPr lang="es-ES" dirty="0" err="1"/>
              <a:t>we</a:t>
            </a:r>
            <a:r>
              <a:rPr lang="es-ES" dirty="0"/>
              <a:t> </a:t>
            </a:r>
            <a:r>
              <a:rPr lang="es-ES" dirty="0" err="1"/>
              <a:t>plot</a:t>
            </a:r>
            <a:r>
              <a:rPr lang="es-ES" dirty="0"/>
              <a:t>?</a:t>
            </a:r>
          </a:p>
        </p:txBody>
      </p:sp>
      <p:pic>
        <p:nvPicPr>
          <p:cNvPr id="11" name="te_tot_vacuum">
            <a:hlinkClick r:id="" action="ppaction://media"/>
            <a:extLst>
              <a:ext uri="{FF2B5EF4-FFF2-40B4-BE49-F238E27FC236}">
                <a16:creationId xmlns:a16="http://schemas.microsoft.com/office/drawing/2014/main" id="{EBEA033E-9F10-6E5B-0348-9B6F1BC9A367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3250" y="2065338"/>
            <a:ext cx="5275263" cy="3560762"/>
          </a:xfrm>
        </p:spPr>
      </p:pic>
      <p:pic>
        <p:nvPicPr>
          <p:cNvPr id="13" name="Content Placeholder 12" descr="A red circle on a black background&#10;&#10;AI-generated content may be incorrect.">
            <a:extLst>
              <a:ext uri="{FF2B5EF4-FFF2-40B4-BE49-F238E27FC236}">
                <a16:creationId xmlns:a16="http://schemas.microsoft.com/office/drawing/2014/main" id="{8C465477-BFBB-96DD-4EA9-4AEE913F899E}"/>
              </a:ext>
            </a:extLst>
          </p:cNvPr>
          <p:cNvPicPr>
            <a:picLocks noGrp="1" noChangeAspect="1"/>
          </p:cNvPicPr>
          <p:nvPr>
            <p:ph idx="16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3488" y="2065318"/>
            <a:ext cx="5275262" cy="3560801"/>
          </a:xfr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2211214-CABE-9745-0CC2-F77929357983}"/>
              </a:ext>
            </a:extLst>
          </p:cNvPr>
          <p:cNvSpPr txBox="1"/>
          <p:nvPr/>
        </p:nvSpPr>
        <p:spPr>
          <a:xfrm>
            <a:off x="2412865" y="1241284"/>
            <a:ext cx="1481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dirty="0"/>
              <a:t>Real </a:t>
            </a:r>
            <a:r>
              <a:rPr lang="es-ES" sz="2800" dirty="0" err="1"/>
              <a:t>Part</a:t>
            </a:r>
            <a:endParaRPr lang="es-E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146EE6-190D-45EB-1927-561B60F7DCC1}"/>
              </a:ext>
            </a:extLst>
          </p:cNvPr>
          <p:cNvSpPr txBox="1"/>
          <p:nvPr/>
        </p:nvSpPr>
        <p:spPr>
          <a:xfrm>
            <a:off x="8150259" y="1241284"/>
            <a:ext cx="17796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dirty="0" err="1"/>
              <a:t>Magnitude</a:t>
            </a:r>
            <a:endParaRPr lang="es-ES" sz="2800" dirty="0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2766914-DACC-6B99-D8CE-2735E23480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81825" y="6269038"/>
            <a:ext cx="4610100" cy="365125"/>
          </a:xfrm>
        </p:spPr>
        <p:txBody>
          <a:bodyPr>
            <a:no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3EAD4BE-51A2-5CAD-C63F-661A6F8643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s-ES" smtClean="0"/>
              <a:pPr algn="ctr"/>
              <a:t>18</a:t>
            </a:fld>
            <a:endParaRPr lang="es-ES" dirty="0"/>
          </a:p>
        </p:txBody>
      </p:sp>
      <p:pic>
        <p:nvPicPr>
          <p:cNvPr id="5" name="Picture Placeholder 4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8D8E131B-9976-0F29-5B9C-4683EDAC5AD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109344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C465477-BFBB-96DD-4EA9-4AEE913F899E}"/>
              </a:ext>
            </a:extLst>
          </p:cNvPr>
          <p:cNvPicPr>
            <a:picLocks noGrp="1" noChangeAspect="1"/>
          </p:cNvPicPr>
          <p:nvPr>
            <p:ph idx="16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3488" y="2065318"/>
            <a:ext cx="5275262" cy="3560801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146EE6-190D-45EB-1927-561B60F7DCC1}"/>
              </a:ext>
            </a:extLst>
          </p:cNvPr>
          <p:cNvSpPr txBox="1"/>
          <p:nvPr/>
        </p:nvSpPr>
        <p:spPr>
          <a:xfrm>
            <a:off x="8150259" y="1241284"/>
            <a:ext cx="17796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dirty="0" err="1"/>
              <a:t>Magnitude</a:t>
            </a:r>
            <a:endParaRPr lang="es-ES" sz="2800" dirty="0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2766914-DACC-6B99-D8CE-2735E23480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81825" y="6269038"/>
            <a:ext cx="4610100" cy="365125"/>
          </a:xfrm>
        </p:spPr>
        <p:txBody>
          <a:bodyPr>
            <a:no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3EAD4BE-51A2-5CAD-C63F-661A6F8643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s-ES" smtClean="0"/>
              <a:pPr algn="ctr"/>
              <a:t>19</a:t>
            </a:fld>
            <a:endParaRPr lang="es-ES" dirty="0"/>
          </a:p>
        </p:txBody>
      </p:sp>
      <p:pic>
        <p:nvPicPr>
          <p:cNvPr id="4" name="te_tot_antena">
            <a:hlinkClick r:id="" action="ppaction://media"/>
            <a:extLst>
              <a:ext uri="{FF2B5EF4-FFF2-40B4-BE49-F238E27FC236}">
                <a16:creationId xmlns:a16="http://schemas.microsoft.com/office/drawing/2014/main" id="{09882553-392E-B5EB-A29B-4B058C8178B0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03250" y="2065338"/>
            <a:ext cx="5275263" cy="3560762"/>
          </a:xfrm>
        </p:spPr>
      </p:pic>
      <p:pic>
        <p:nvPicPr>
          <p:cNvPr id="7" name="Picture Placeholder 6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B2E4F10D-CBC4-870B-2D4C-3F6E2F90663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/>
      </p:pic>
      <p:sp>
        <p:nvSpPr>
          <p:cNvPr id="3" name="Title 5">
            <a:extLst>
              <a:ext uri="{FF2B5EF4-FFF2-40B4-BE49-F238E27FC236}">
                <a16:creationId xmlns:a16="http://schemas.microsoft.com/office/drawing/2014/main" id="{F8074A25-B296-C47B-DB17-8A9F44FA2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55588"/>
            <a:ext cx="12192000" cy="801687"/>
          </a:xfrm>
        </p:spPr>
        <p:txBody>
          <a:bodyPr/>
          <a:lstStyle/>
          <a:p>
            <a:r>
              <a:rPr lang="es-ES" dirty="0" err="1"/>
              <a:t>What</a:t>
            </a:r>
            <a:r>
              <a:rPr lang="es-ES" dirty="0"/>
              <a:t> do </a:t>
            </a:r>
            <a:r>
              <a:rPr lang="es-ES" dirty="0" err="1"/>
              <a:t>we</a:t>
            </a:r>
            <a:r>
              <a:rPr lang="es-ES" dirty="0"/>
              <a:t> </a:t>
            </a:r>
            <a:r>
              <a:rPr lang="es-ES" dirty="0" err="1"/>
              <a:t>plot</a:t>
            </a:r>
            <a:r>
              <a:rPr lang="es-ES" dirty="0"/>
              <a:t>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22B200-2B76-78C1-ACA6-67F54DDF77AA}"/>
              </a:ext>
            </a:extLst>
          </p:cNvPr>
          <p:cNvSpPr txBox="1"/>
          <p:nvPr/>
        </p:nvSpPr>
        <p:spPr>
          <a:xfrm>
            <a:off x="2412865" y="1241284"/>
            <a:ext cx="1481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dirty="0"/>
              <a:t>Real </a:t>
            </a:r>
            <a:r>
              <a:rPr lang="es-ES" sz="2800" dirty="0" err="1"/>
              <a:t>Part</a:t>
            </a:r>
            <a:endParaRPr lang="es-ES" sz="2800" dirty="0"/>
          </a:p>
        </p:txBody>
      </p:sp>
    </p:spTree>
    <p:extLst>
      <p:ext uri="{BB962C8B-B14F-4D97-AF65-F5344CB8AC3E}">
        <p14:creationId xmlns:p14="http://schemas.microsoft.com/office/powerpoint/2010/main" val="1934842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D34D2-8001-1F94-6CE4-461AAE660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079B1-F597-EA59-E311-280614416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of O-Waves and X-Waves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C686-F5BC-BF65-7673-14BDC307EC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657" y="1047750"/>
            <a:ext cx="10984685" cy="4662488"/>
          </a:xfrm>
        </p:spPr>
        <p:txBody>
          <a:bodyPr/>
          <a:lstStyle/>
          <a:p>
            <a:r>
              <a:rPr lang="en-GB" dirty="0"/>
              <a:t>For most of the cases: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D2E4E-F9BD-3352-FFAE-5395D3CAD5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n-GB" smtClean="0"/>
              <a:pPr algn="ctr"/>
              <a:t>20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B3D838-AE72-4CA9-5806-173ADDA0B0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4241" y="1572493"/>
            <a:ext cx="5400000" cy="432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11EADA-BF84-7F2F-7AEF-A15B8B96673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56241" y="1572493"/>
            <a:ext cx="5400001" cy="4320000"/>
          </a:xfrm>
          <a:prstGeom prst="rect">
            <a:avLst/>
          </a:prstGeom>
        </p:spPr>
      </p:pic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DC2A23B-222E-C823-445D-73C8060667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81825" y="6269038"/>
            <a:ext cx="4610100" cy="365125"/>
          </a:xfrm>
        </p:spPr>
        <p:txBody>
          <a:bodyPr>
            <a:noAutofit/>
          </a:bodyPr>
          <a:lstStyle/>
          <a:p>
            <a:r>
              <a:rPr lang="en-GB" dirty="0"/>
              <a:t>Hernán Domingo | PhD Research Plan Defence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73BF33A-63EE-66B2-6A1B-5ABE8C56F937}"/>
              </a:ext>
            </a:extLst>
          </p:cNvPr>
          <p:cNvGrpSpPr/>
          <p:nvPr/>
        </p:nvGrpSpPr>
        <p:grpSpPr>
          <a:xfrm>
            <a:off x="426384" y="2945958"/>
            <a:ext cx="1199816" cy="866071"/>
            <a:chOff x="456088" y="3027448"/>
            <a:chExt cx="1199816" cy="86607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A9BAD9D-F241-949F-8381-3494EEBA144F}"/>
                </a:ext>
              </a:extLst>
            </p:cNvPr>
            <p:cNvSpPr txBox="1"/>
            <p:nvPr/>
          </p:nvSpPr>
          <p:spPr>
            <a:xfrm>
              <a:off x="549896" y="3027448"/>
              <a:ext cx="10122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2000" dirty="0"/>
                <a:t>O-Wave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8E3806E-3947-7474-AF6C-E197DD6AB102}"/>
                    </a:ext>
                  </a:extLst>
                </p:cNvPr>
                <p:cNvSpPr txBox="1"/>
                <p:nvPr/>
              </p:nvSpPr>
              <p:spPr>
                <a:xfrm>
                  <a:off x="456088" y="3427558"/>
                  <a:ext cx="1199816" cy="4659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s-E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s-E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s-ES" sz="2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8E3806E-3947-7474-AF6C-E197DD6AB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088" y="3427558"/>
                  <a:ext cx="1199816" cy="465961"/>
                </a:xfrm>
                <a:prstGeom prst="rect">
                  <a:avLst/>
                </a:prstGeom>
                <a:blipFill>
                  <a:blip r:embed="rId5"/>
                  <a:stretch>
                    <a:fillRect b="-259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8FE2998-7891-C87A-928A-538E5499B07E}"/>
              </a:ext>
            </a:extLst>
          </p:cNvPr>
          <p:cNvGrpSpPr/>
          <p:nvPr/>
        </p:nvGrpSpPr>
        <p:grpSpPr>
          <a:xfrm>
            <a:off x="10232379" y="2835450"/>
            <a:ext cx="1366913" cy="1145576"/>
            <a:chOff x="10232379" y="2978884"/>
            <a:chExt cx="1366913" cy="114557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C4A1587-33C8-2F7F-9F50-906A2972DFBC}"/>
                </a:ext>
              </a:extLst>
            </p:cNvPr>
            <p:cNvSpPr txBox="1"/>
            <p:nvPr/>
          </p:nvSpPr>
          <p:spPr>
            <a:xfrm>
              <a:off x="10373413" y="2978884"/>
              <a:ext cx="108484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dirty="0"/>
                <a:t>X-Wave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3D56F12-B4E3-5FC6-9072-71F9A5B120C9}"/>
                    </a:ext>
                  </a:extLst>
                </p:cNvPr>
                <p:cNvSpPr txBox="1"/>
                <p:nvPr/>
              </p:nvSpPr>
              <p:spPr>
                <a:xfrm>
                  <a:off x="10232379" y="3340527"/>
                  <a:ext cx="1366913" cy="78393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s-E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  <m:t>𝑅𝐿</m:t>
                            </m:r>
                          </m:num>
                          <m:den>
                            <m:r>
                              <a:rPr lang="es-ES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den>
                        </m:f>
                      </m:oMath>
                    </m:oMathPara>
                  </a14:m>
                  <a:endParaRPr lang="es-ES" sz="2400" b="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3D56F12-B4E3-5FC6-9072-71F9A5B120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2379" y="3340527"/>
                  <a:ext cx="1366913" cy="78393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" name="Picture Placeholder 10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76E80D9D-13CB-A450-C296-1F280CA48B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5323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A89EC-A3E5-FC86-DA6A-6C539A881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alibri"/>
                <a:ea typeface="Calibri"/>
                <a:cs typeface="Calibri"/>
              </a:rPr>
              <a:t>Cold Plasma: Benchmark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A89FF-097D-E32D-9597-AB9030E9F0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ERMES [9] is a code established within the community.</a:t>
            </a:r>
          </a:p>
          <a:p>
            <a:pPr lvl="1"/>
            <a:r>
              <a:rPr lang="en-US" dirty="0">
                <a:ea typeface="Calibri"/>
                <a:cs typeface="Calibri"/>
              </a:rPr>
              <a:t>Among its various capabilities, it is used to evaluate wave propagation in regions close to the antenna.</a:t>
            </a:r>
          </a:p>
          <a:p>
            <a:r>
              <a:rPr lang="en-US" dirty="0">
                <a:ea typeface="Calibri"/>
                <a:cs typeface="Calibri"/>
              </a:rPr>
              <a:t>The results are perfectly consistent with the cold plasma model.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9A8C4-D2E7-C52E-49EA-A5CDCB01F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n-GB" smtClean="0"/>
              <a:pPr algn="ctr"/>
              <a:t>21</a:t>
            </a:fld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E7BFD8-42D0-A1FF-02E2-0929E627316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05625" y="6269299"/>
            <a:ext cx="4686909" cy="365125"/>
          </a:xfrm>
        </p:spPr>
        <p:txBody>
          <a:bodyPr>
            <a:noAutofit/>
          </a:bodyPr>
          <a:lstStyle/>
          <a:p>
            <a:r>
              <a:rPr lang="en-GB" dirty="0"/>
              <a:t>Hernán Domingo | PhD Research Plan Defence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7FC4887D-1B69-A32B-F631-66EA9B32DFC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78" t="19028" b="8584"/>
          <a:stretch/>
        </p:blipFill>
        <p:spPr>
          <a:xfrm>
            <a:off x="7117021" y="2987993"/>
            <a:ext cx="2872759" cy="288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951BA-A584-7561-9B4D-86DDCC1FC9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77156" y="2791949"/>
            <a:ext cx="4557104" cy="3076044"/>
          </a:xfrm>
          <a:prstGeom prst="rect">
            <a:avLst/>
          </a:prstGeom>
        </p:spPr>
      </p:pic>
      <p:pic>
        <p:nvPicPr>
          <p:cNvPr id="13" name="Picture Placeholder 12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0DD14281-2728-985E-A1DC-A8DEEEB581E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185883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F7673-0A19-9458-2796-F061D7059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>
                <a:latin typeface="Calibri"/>
                <a:ea typeface="Calibri"/>
                <a:cs typeface="Calibri"/>
              </a:rPr>
              <a:t>Cold</a:t>
            </a:r>
            <a:r>
              <a:rPr lang="es-ES" dirty="0">
                <a:latin typeface="Calibri"/>
                <a:ea typeface="Calibri"/>
                <a:cs typeface="Calibri"/>
              </a:rPr>
              <a:t> Plasma: ITER </a:t>
            </a:r>
            <a:r>
              <a:rPr lang="es-ES" dirty="0" err="1">
                <a:latin typeface="Calibri"/>
                <a:ea typeface="Calibri"/>
                <a:cs typeface="Calibri"/>
              </a:rPr>
              <a:t>Scenario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FE3E2-46DC-EFA9-CB88-006DC244DD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18E441BF-5F25-472C-890A-B3E0CFED072E}" type="slidenum">
              <a:rPr lang="es-ES" smtClean="0"/>
              <a:pPr algn="ctr"/>
              <a:t>22</a:t>
            </a:fld>
            <a:endParaRPr lang="es-E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777BB-4D85-2A33-207F-90A10B2D881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15220" y="6269299"/>
            <a:ext cx="4777314" cy="365125"/>
          </a:xfrm>
        </p:spPr>
        <p:txBody>
          <a:bodyPr>
            <a:no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graphicFrame>
        <p:nvGraphicFramePr>
          <p:cNvPr id="9" name="Tabla 2">
            <a:extLst>
              <a:ext uri="{FF2B5EF4-FFF2-40B4-BE49-F238E27FC236}">
                <a16:creationId xmlns:a16="http://schemas.microsoft.com/office/drawing/2014/main" id="{E7F12DDB-139B-F827-A446-A9F319BE59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9768485"/>
              </p:ext>
            </p:extLst>
          </p:nvPr>
        </p:nvGraphicFramePr>
        <p:xfrm>
          <a:off x="865908" y="1327727"/>
          <a:ext cx="5787890" cy="1849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3945">
                  <a:extLst>
                    <a:ext uri="{9D8B030D-6E8A-4147-A177-3AD203B41FA5}">
                      <a16:colId xmlns:a16="http://schemas.microsoft.com/office/drawing/2014/main" val="2696745380"/>
                    </a:ext>
                  </a:extLst>
                </a:gridCol>
                <a:gridCol w="2893945">
                  <a:extLst>
                    <a:ext uri="{9D8B030D-6E8A-4147-A177-3AD203B41FA5}">
                      <a16:colId xmlns:a16="http://schemas.microsoft.com/office/drawing/2014/main" val="2371319299"/>
                    </a:ext>
                  </a:extLst>
                </a:gridCol>
              </a:tblGrid>
              <a:tr h="36079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 err="1"/>
                        <a:t>Parameter</a:t>
                      </a:r>
                      <a:endParaRPr lang="es-E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 err="1"/>
                        <a:t>Value</a:t>
                      </a:r>
                      <a:endParaRPr lang="es-E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4504750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/>
                        <a:t>Plasma </a:t>
                      </a:r>
                      <a:r>
                        <a:rPr lang="es-ES" noProof="0" dirty="0" err="1"/>
                        <a:t>composition</a:t>
                      </a:r>
                      <a:endParaRPr lang="es-E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/>
                        <a:t>50:50 D-T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00844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/>
                        <a:t>Wave </a:t>
                      </a:r>
                      <a:r>
                        <a:rPr lang="es-ES" noProof="0" dirty="0" err="1"/>
                        <a:t>frequency</a:t>
                      </a:r>
                      <a:endParaRPr lang="es-E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/>
                        <a:t>53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982735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/>
                        <a:t>Toroidal </a:t>
                      </a:r>
                      <a:r>
                        <a:rPr lang="es-ES" noProof="0" dirty="0" err="1"/>
                        <a:t>magnetic</a:t>
                      </a:r>
                      <a:r>
                        <a:rPr lang="es-ES" noProof="0" dirty="0"/>
                        <a:t> </a:t>
                      </a:r>
                      <a:r>
                        <a:rPr lang="es-ES" noProof="0" dirty="0" err="1"/>
                        <a:t>field</a:t>
                      </a:r>
                      <a:endParaRPr lang="es-E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/>
                        <a:t>5.3 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993720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/>
                        <a:t>Central </a:t>
                      </a:r>
                      <a:r>
                        <a:rPr lang="es-ES" noProof="0" dirty="0" err="1"/>
                        <a:t>density</a:t>
                      </a:r>
                      <a:endParaRPr lang="es-E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noProof="0" dirty="0"/>
                        <a:t>3.5 x 10</a:t>
                      </a:r>
                      <a:r>
                        <a:rPr lang="es-ES" baseline="30000" noProof="0" dirty="0"/>
                        <a:t>19</a:t>
                      </a:r>
                      <a:r>
                        <a:rPr lang="es-ES" noProof="0" dirty="0"/>
                        <a:t> m</a:t>
                      </a:r>
                      <a:r>
                        <a:rPr lang="es-ES" baseline="30000" noProof="0" dirty="0"/>
                        <a:t>-3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1057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6">
                <a:extLst>
                  <a:ext uri="{FF2B5EF4-FFF2-40B4-BE49-F238E27FC236}">
                    <a16:creationId xmlns:a16="http://schemas.microsoft.com/office/drawing/2014/main" id="{926F2110-0A0B-189B-CFE1-92F2642E479B}"/>
                  </a:ext>
                </a:extLst>
              </p:cNvPr>
              <p:cNvSpPr txBox="1"/>
              <p:nvPr/>
            </p:nvSpPr>
            <p:spPr>
              <a:xfrm>
                <a:off x="822808" y="3620712"/>
                <a:ext cx="5860705" cy="1631216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sz="2000" dirty="0">
                    <a:ea typeface="Calibri" panose="020F0502020204030204"/>
                    <a:cs typeface="Calibri" panose="020F0502020204030204"/>
                  </a:rPr>
                  <a:t>The main ICRH heating scenario for ITER is expected to be with the 2nd harmonic of tritium </a:t>
                </a:r>
                <a:r>
                  <a:rPr lang="es-ES" sz="2000" dirty="0">
                    <a:ea typeface="Calibri" panose="020F0502020204030204"/>
                    <a:cs typeface="Calibri" panose="020F0502020204030204"/>
                  </a:rPr>
                  <a:t>(</a:t>
                </a:r>
                <a14:m>
                  <m:oMath xmlns:m="http://schemas.openxmlformats.org/officeDocument/2006/math">
                    <m:r>
                      <a:rPr lang="es-ES" sz="2000" b="0" i="1" smtClean="0">
                        <a:latin typeface="Cambria Math" panose="02040503050406030204" pitchFamily="18" charset="0"/>
                        <a:ea typeface="Calibri" panose="020F0502020204030204"/>
                        <a:cs typeface="Calibri" panose="020F0502020204030204"/>
                      </a:rPr>
                      <m:t>𝜔</m:t>
                    </m:r>
                    <m:r>
                      <a:rPr lang="es-ES" sz="2000" b="0" i="1" smtClean="0">
                        <a:latin typeface="Cambria Math" panose="02040503050406030204" pitchFamily="18" charset="0"/>
                        <a:ea typeface="Calibri" panose="020F0502020204030204"/>
                        <a:cs typeface="Calibri" panose="020F0502020204030204"/>
                      </a:rPr>
                      <m:t>=2</m:t>
                    </m:r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  <a:ea typeface="Calibri" panose="020F0502020204030204"/>
                            <a:cs typeface="Calibri" panose="020F0502020204030204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  <a:ea typeface="Calibri" panose="020F0502020204030204"/>
                            <a:cs typeface="Calibri" panose="020F0502020204030204"/>
                          </a:rPr>
                          <m:t>𝜔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  <a:ea typeface="Calibri" panose="020F0502020204030204"/>
                            <a:cs typeface="Calibri" panose="020F0502020204030204"/>
                          </a:rPr>
                          <m:t>𝑐𝑇</m:t>
                        </m:r>
                      </m:sub>
                    </m:sSub>
                  </m:oMath>
                </a14:m>
                <a:r>
                  <a:rPr lang="es-ES" sz="2000" dirty="0">
                    <a:ea typeface="Calibri" panose="020F0502020204030204"/>
                    <a:cs typeface="Calibri" panose="020F0502020204030204"/>
                  </a:rPr>
                  <a:t>).</a:t>
                </a:r>
              </a:p>
              <a:p>
                <a:endParaRPr lang="es-ES" sz="2000" dirty="0">
                  <a:ea typeface="Calibri" panose="020F0502020204030204"/>
                  <a:cs typeface="Calibri" panose="020F0502020204030204"/>
                </a:endParaRPr>
              </a:p>
              <a:p>
                <a:pPr marL="285750" indent="-285750">
                  <a:buFont typeface="Arial"/>
                  <a:buChar char="•"/>
                </a:pPr>
                <a:r>
                  <a:rPr lang="en-US" sz="2000" dirty="0">
                    <a:ea typeface="Calibri" panose="020F0502020204030204"/>
                    <a:cs typeface="Calibri" panose="020F0502020204030204"/>
                  </a:rPr>
                  <a:t>Accessibility is satisfactorily evaluated in a scenario derived from</a:t>
                </a:r>
                <a:r>
                  <a:rPr lang="es-ES" sz="2000" dirty="0">
                    <a:ea typeface="Calibri" panose="020F0502020204030204"/>
                    <a:cs typeface="Calibri" panose="020F0502020204030204"/>
                  </a:rPr>
                  <a:t>[14].</a:t>
                </a:r>
              </a:p>
            </p:txBody>
          </p:sp>
        </mc:Choice>
        <mc:Fallback xmlns="">
          <p:sp>
            <p:nvSpPr>
              <p:cNvPr id="10" name="CuadroTexto 6">
                <a:extLst>
                  <a:ext uri="{FF2B5EF4-FFF2-40B4-BE49-F238E27FC236}">
                    <a16:creationId xmlns:a16="http://schemas.microsoft.com/office/drawing/2014/main" id="{926F2110-0A0B-189B-CFE1-92F2642E47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08" y="3620712"/>
                <a:ext cx="5860705" cy="1631216"/>
              </a:xfrm>
              <a:prstGeom prst="rect">
                <a:avLst/>
              </a:prstGeom>
              <a:blipFill>
                <a:blip r:embed="rId4"/>
                <a:stretch>
                  <a:fillRect l="-937" t="-2239" r="-1353" b="-55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Content Placeholder 12">
            <a:extLst>
              <a:ext uri="{FF2B5EF4-FFF2-40B4-BE49-F238E27FC236}">
                <a16:creationId xmlns:a16="http://schemas.microsoft.com/office/drawing/2014/main" id="{D3CE9608-8564-7A4C-6572-5C5ED131DA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89754" y="712883"/>
            <a:ext cx="6602246" cy="5633917"/>
          </a:xfrm>
          <a:prstGeom prst="rect">
            <a:avLst/>
          </a:prstGeom>
        </p:spPr>
      </p:pic>
      <p:pic>
        <p:nvPicPr>
          <p:cNvPr id="15" name="2ndharmonic_vid">
            <a:hlinkClick r:id="" action="ppaction://media"/>
            <a:extLst>
              <a:ext uri="{FF2B5EF4-FFF2-40B4-BE49-F238E27FC236}">
                <a16:creationId xmlns:a16="http://schemas.microsoft.com/office/drawing/2014/main" id="{8B5D73A2-DF98-587B-3F52-C5794101EE1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2943800" y="0"/>
            <a:ext cx="12192000" cy="6858000"/>
          </a:xfrm>
          <a:prstGeom prst="rect">
            <a:avLst/>
          </a:prstGeom>
        </p:spPr>
      </p:pic>
      <p:pic>
        <p:nvPicPr>
          <p:cNvPr id="8" name="Picture Placeholder 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4EFED51E-D672-2C47-4739-8A6F0B37941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9" b="213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43039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0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07593E8-0454-AB18-55CC-DC99FB00E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</a:t>
            </a:r>
            <a:r>
              <a:rPr lang="en-GB" baseline="30000" dirty="0"/>
              <a:t>st</a:t>
            </a:r>
            <a:r>
              <a:rPr lang="en-GB" dirty="0"/>
              <a:t> Order Edge Elements Results</a:t>
            </a:r>
          </a:p>
        </p:txBody>
      </p:sp>
      <p:pic>
        <p:nvPicPr>
          <p:cNvPr id="17" name="Content Placeholder 16" descr="A graph of a normal distribution&#10;&#10;AI-generated content may be incorrect.">
            <a:extLst>
              <a:ext uri="{FF2B5EF4-FFF2-40B4-BE49-F238E27FC236}">
                <a16:creationId xmlns:a16="http://schemas.microsoft.com/office/drawing/2014/main" id="{491638EF-2D65-16F0-835A-2E3C8CAB88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48838"/>
            <a:ext cx="5940000" cy="2997990"/>
          </a:xfr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9EA5CE1-C927-0A27-4F68-1D2EAEB95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72402" y="6269299"/>
            <a:ext cx="3820132" cy="365125"/>
          </a:xfrm>
        </p:spPr>
        <p:txBody>
          <a:bodyPr>
            <a:normAutofit fontScale="92500"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pic>
        <p:nvPicPr>
          <p:cNvPr id="15" name="Picture Placeholder 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57D25394-635B-9985-3EBA-05D23A4BA20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pic>
        <p:nvPicPr>
          <p:cNvPr id="19" name="Picture 18" descr="A graph of a normal distribution&#10;&#10;AI-generated content may be incorrect.">
            <a:extLst>
              <a:ext uri="{FF2B5EF4-FFF2-40B4-BE49-F238E27FC236}">
                <a16:creationId xmlns:a16="http://schemas.microsoft.com/office/drawing/2014/main" id="{11571C7A-4FA9-A31A-5D39-E5F3A751C34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2000" y="2548839"/>
            <a:ext cx="5940000" cy="29979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54AF6C6-20B5-F2ED-5E94-43D64E7AC8E5}"/>
                  </a:ext>
                </a:extLst>
              </p:cNvPr>
              <p:cNvSpPr txBox="1"/>
              <p:nvPr/>
            </p:nvSpPr>
            <p:spPr>
              <a:xfrm>
                <a:off x="295564" y="1292855"/>
                <a:ext cx="11628581" cy="10670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Cube: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=2 </m:t>
                    </m:r>
                    <m:r>
                      <m:rPr>
                        <m:sty m:val="p"/>
                      </m:rPr>
                      <a:rPr lang="es-ES" b="0" i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es-ES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Current: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s-E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s-E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s-E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s-ES" i="1">
                        <a:latin typeface="Cambria Math" panose="02040503050406030204" pitchFamily="18" charset="0"/>
                      </a:rPr>
                      <m:t>2 </m:t>
                    </m:r>
                    <m:r>
                      <m:rPr>
                        <m:sty m:val="p"/>
                      </m:rPr>
                      <a:rPr lang="es-ES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es-ES" dirty="0"/>
                  <a:t>,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=50</m:t>
                    </m:r>
                    <m:f>
                      <m:f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s-ES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sSup>
                          <m:sSup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s-ES" b="0" i="0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es-E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s-ES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dirty="0"/>
                  <a:t>Medium: </a:t>
                </a:r>
                <a:r>
                  <a:rPr lang="es-ES" dirty="0" err="1"/>
                  <a:t>Vacuum</a:t>
                </a:r>
                <a:endParaRPr lang="es-E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54AF6C6-20B5-F2ED-5E94-43D64E7AC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564" y="1292855"/>
                <a:ext cx="11628581" cy="1067023"/>
              </a:xfrm>
              <a:prstGeom prst="rect">
                <a:avLst/>
              </a:prstGeom>
              <a:blipFill>
                <a:blip r:embed="rId6"/>
                <a:stretch>
                  <a:fillRect l="-314" t="-2286" b="-8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6453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C06F6-8CB8-6B39-A01F-ACF270AF4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Potential journals and conferences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5285C-D5A1-0449-0778-1BE3742F8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Already attended:</a:t>
            </a:r>
          </a:p>
          <a:p>
            <a:pPr lvl="1"/>
            <a:r>
              <a:rPr lang="en-GB" dirty="0"/>
              <a:t>51</a:t>
            </a:r>
            <a:r>
              <a:rPr lang="en-GB" baseline="30000" dirty="0"/>
              <a:t>st</a:t>
            </a:r>
            <a:r>
              <a:rPr lang="en-GB" dirty="0"/>
              <a:t> IOP Annual Plasma Physics Conference</a:t>
            </a:r>
          </a:p>
          <a:p>
            <a:pPr lvl="1"/>
            <a:r>
              <a:rPr lang="en-GB" dirty="0"/>
              <a:t>14</a:t>
            </a:r>
            <a:r>
              <a:rPr lang="en-GB" baseline="30000" dirty="0"/>
              <a:t>th</a:t>
            </a:r>
            <a:r>
              <a:rPr lang="en-GB" dirty="0"/>
              <a:t> ITER International School</a:t>
            </a:r>
          </a:p>
          <a:p>
            <a:pPr lvl="1"/>
            <a:r>
              <a:rPr lang="es-ES" dirty="0"/>
              <a:t>XL Simposio Nacional de la Unión Científica Internacional de Radio – URSI</a:t>
            </a:r>
          </a:p>
          <a:p>
            <a:pPr lvl="1"/>
            <a:r>
              <a:rPr lang="en-US" dirty="0"/>
              <a:t>11</a:t>
            </a:r>
            <a:r>
              <a:rPr lang="en-US" baseline="30000" dirty="0"/>
              <a:t>th</a:t>
            </a:r>
            <a:r>
              <a:rPr lang="en-US" dirty="0"/>
              <a:t> and 12</a:t>
            </a:r>
            <a:r>
              <a:rPr lang="en-US" baseline="30000" dirty="0"/>
              <a:t>th</a:t>
            </a:r>
            <a:r>
              <a:rPr lang="en-US" dirty="0"/>
              <a:t> International BSC Severo Ochoa Doctoral Symposium</a:t>
            </a:r>
          </a:p>
          <a:p>
            <a:pPr lvl="1"/>
            <a:r>
              <a:rPr lang="en-US" dirty="0"/>
              <a:t>5</a:t>
            </a:r>
            <a:r>
              <a:rPr lang="en-US" baseline="30000" dirty="0"/>
              <a:t>th</a:t>
            </a:r>
            <a:r>
              <a:rPr lang="en-US" dirty="0"/>
              <a:t> HPC Fusion Workshop</a:t>
            </a:r>
          </a:p>
          <a:p>
            <a:r>
              <a:rPr lang="en-GB" dirty="0"/>
              <a:t>Yet to be attended:</a:t>
            </a:r>
          </a:p>
          <a:p>
            <a:pPr lvl="1"/>
            <a:r>
              <a:rPr lang="en-GB" dirty="0"/>
              <a:t>EPS Conference on Plasma Physics</a:t>
            </a:r>
          </a:p>
          <a:p>
            <a:pPr lvl="1"/>
            <a:r>
              <a:rPr lang="en-US" dirty="0"/>
              <a:t>Topical Conference on Radio-Frequency Power in Plasmas</a:t>
            </a:r>
          </a:p>
          <a:p>
            <a:pPr lvl="1"/>
            <a:r>
              <a:rPr lang="en-GB" dirty="0"/>
              <a:t>International Conference on Plasma Physics (ICPP)</a:t>
            </a:r>
          </a:p>
          <a:p>
            <a:pPr lvl="1"/>
            <a:r>
              <a:rPr lang="en-US" dirty="0"/>
              <a:t>Iberian Meeting on Computational Electromagnetics</a:t>
            </a:r>
          </a:p>
          <a:p>
            <a:pPr lvl="1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6D1B6-2395-C7D1-32A5-F4BDBB6336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24</a:t>
            </a:fld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E246AC-6694-08D9-68A2-60131421F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42094" y="6269299"/>
            <a:ext cx="4250440" cy="365125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C112284-CEBC-D0A9-C258-97348F074502}"/>
              </a:ext>
            </a:extLst>
          </p:cNvPr>
          <p:cNvSpPr>
            <a:spLocks noGrp="1"/>
          </p:cNvSpPr>
          <p:nvPr>
            <p:ph idx="16"/>
          </p:nvPr>
        </p:nvSpPr>
        <p:spPr/>
        <p:txBody>
          <a:bodyPr/>
          <a:lstStyle/>
          <a:p>
            <a:r>
              <a:rPr lang="en-GB" dirty="0"/>
              <a:t>Journals:</a:t>
            </a:r>
          </a:p>
          <a:p>
            <a:pPr lvl="1"/>
            <a:r>
              <a:rPr lang="en-GB" dirty="0"/>
              <a:t>Plasma Physics and Controlled Fusion (PPCF)</a:t>
            </a:r>
          </a:p>
          <a:p>
            <a:pPr lvl="1"/>
            <a:r>
              <a:rPr lang="en-GB" dirty="0"/>
              <a:t>Nuclear Fusion</a:t>
            </a:r>
          </a:p>
          <a:p>
            <a:pPr lvl="1"/>
            <a:r>
              <a:rPr lang="en-GB" dirty="0"/>
              <a:t>Fusion Engineering and Design</a:t>
            </a:r>
          </a:p>
          <a:p>
            <a:pPr lvl="1"/>
            <a:r>
              <a:rPr lang="en-GB" dirty="0"/>
              <a:t>IEEE Antennas &amp; Propagation</a:t>
            </a:r>
          </a:p>
          <a:p>
            <a:pPr lvl="1"/>
            <a:r>
              <a:rPr lang="fr-FR" dirty="0"/>
              <a:t>IEEE Transactions on Plasma Science</a:t>
            </a:r>
          </a:p>
          <a:p>
            <a:pPr lvl="1"/>
            <a:r>
              <a:rPr lang="en-US" dirty="0"/>
              <a:t>Computer Physics Communications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Placeholder 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44AEAF52-DAF7-8E55-6F82-E9FD19C2B3B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</p:spTree>
    <p:extLst>
      <p:ext uri="{BB962C8B-B14F-4D97-AF65-F5344CB8AC3E}">
        <p14:creationId xmlns:p14="http://schemas.microsoft.com/office/powerpoint/2010/main" val="37575221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BDD29754-CC98-552F-85C9-F8979A27B8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63887" y="1667655"/>
            <a:ext cx="6702593" cy="1107427"/>
          </a:xfrm>
        </p:spPr>
        <p:txBody>
          <a:bodyPr>
            <a:normAutofit/>
          </a:bodyPr>
          <a:lstStyle/>
          <a:p>
            <a:r>
              <a:rPr lang="en-GB" sz="3200" dirty="0"/>
              <a:t>These slides and their references can be found in the following repository:</a:t>
            </a:r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AED79C38-D81D-A857-B31D-1883C6374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63887" y="5272943"/>
            <a:ext cx="6702593" cy="822742"/>
          </a:xfrm>
        </p:spPr>
        <p:txBody>
          <a:bodyPr/>
          <a:lstStyle/>
          <a:p>
            <a:r>
              <a:rPr lang="en-GB" sz="4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Thank you!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54BC36D-93BA-DC27-8C2A-9D1FA08C47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hernan.domingo@bsc.es</a:t>
            </a:r>
          </a:p>
        </p:txBody>
      </p:sp>
      <p:pic>
        <p:nvPicPr>
          <p:cNvPr id="3" name="Picture Placeholder 2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986D1135-942A-B43B-764F-2C4C744F703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41" b="8141"/>
          <a:stretch>
            <a:fillRect/>
          </a:stretch>
        </p:blipFill>
        <p:spPr/>
      </p:pic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57DFF04-0222-0A5B-9BB3-3EBD1BC7A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27/10/2025</a:t>
            </a:r>
          </a:p>
        </p:txBody>
      </p:sp>
      <p:pic>
        <p:nvPicPr>
          <p:cNvPr id="5" name="Picture 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2FEB7C-53FE-38D4-707C-7D941D0B14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1813" y="2820642"/>
            <a:ext cx="2406740" cy="240674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323220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2871E-E59D-06A0-44E3-F5099CA58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E90F32C-F747-3BFA-EDF6-E55217F96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Coupling between modules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A404BD-B5C5-A72A-3524-A71A7E3209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72402" y="6269299"/>
            <a:ext cx="3820132" cy="365125"/>
          </a:xfrm>
        </p:spPr>
        <p:txBody>
          <a:bodyPr>
            <a:normAutofit fontScale="92500"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pic>
        <p:nvPicPr>
          <p:cNvPr id="15" name="Picture Placeholder 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5304E724-2088-6866-865A-D6BC248BFAD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  <p:pic>
        <p:nvPicPr>
          <p:cNvPr id="4" name="Content Placeholder 17" descr="Several different colored parts of a tank&#10;&#10;AI-generated content may be incorrect.">
            <a:extLst>
              <a:ext uri="{FF2B5EF4-FFF2-40B4-BE49-F238E27FC236}">
                <a16:creationId xmlns:a16="http://schemas.microsoft.com/office/drawing/2014/main" id="{7A87F1C5-59B0-0267-5219-AC06F67204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348" y="1105710"/>
            <a:ext cx="2989909" cy="4320000"/>
          </a:xfrm>
          <a:prstGeom prst="rect">
            <a:avLst/>
          </a:prstGeom>
        </p:spPr>
      </p:pic>
      <p:pic>
        <p:nvPicPr>
          <p:cNvPr id="5" name="Picture 4" descr="A close-up of a temperature measurement&#10;&#10;AI-generated content may be incorrect.">
            <a:extLst>
              <a:ext uri="{FF2B5EF4-FFF2-40B4-BE49-F238E27FC236}">
                <a16:creationId xmlns:a16="http://schemas.microsoft.com/office/drawing/2014/main" id="{EC9EFD6F-4A38-0C14-3011-F05243D75E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604" y="1105710"/>
            <a:ext cx="1606432" cy="4320000"/>
          </a:xfrm>
          <a:prstGeom prst="rect">
            <a:avLst/>
          </a:prstGeom>
        </p:spPr>
      </p:pic>
      <p:pic>
        <p:nvPicPr>
          <p:cNvPr id="6" name="Picture 5" descr="A blue rectangular object with holes and numbers&#10;&#10;AI-generated content may be incorrect.">
            <a:extLst>
              <a:ext uri="{FF2B5EF4-FFF2-40B4-BE49-F238E27FC236}">
                <a16:creationId xmlns:a16="http://schemas.microsoft.com/office/drawing/2014/main" id="{D40D5C11-5F38-F65C-FC76-3F36922ECE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5383" y="1105710"/>
            <a:ext cx="2051458" cy="4320000"/>
          </a:xfrm>
          <a:prstGeom prst="rect">
            <a:avLst/>
          </a:prstGeom>
        </p:spPr>
      </p:pic>
      <p:pic>
        <p:nvPicPr>
          <p:cNvPr id="8" name="Picture 7" descr="A computer generated image of a machine&#10;&#10;AI-generated content may be incorrect.">
            <a:extLst>
              <a:ext uri="{FF2B5EF4-FFF2-40B4-BE49-F238E27FC236}">
                <a16:creationId xmlns:a16="http://schemas.microsoft.com/office/drawing/2014/main" id="{0496EBC5-DFB9-4FC4-0E9A-81D8AAB7856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7187" y="2006288"/>
            <a:ext cx="3563088" cy="25188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B7453E-5C3B-E9E2-EBB7-F59EC3A5F6B4}"/>
              </a:ext>
            </a:extLst>
          </p:cNvPr>
          <p:cNvSpPr txBox="1"/>
          <p:nvPr/>
        </p:nvSpPr>
        <p:spPr>
          <a:xfrm>
            <a:off x="2722415" y="5457457"/>
            <a:ext cx="674716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NEUTRO + TEMPER + NASTIN</a:t>
            </a:r>
          </a:p>
          <a:p>
            <a:r>
              <a:rPr lang="en-US" dirty="0">
                <a:latin typeface="-apple-system"/>
              </a:rPr>
              <a:t>Goldberg, E. </a:t>
            </a:r>
            <a:r>
              <a:rPr lang="en-US" i="1" dirty="0">
                <a:latin typeface="-apple-system"/>
              </a:rPr>
              <a:t>et al.</a:t>
            </a:r>
            <a:r>
              <a:rPr lang="en-US" dirty="0">
                <a:latin typeface="-apple-system"/>
              </a:rPr>
              <a:t> (2025), </a:t>
            </a:r>
            <a:r>
              <a:rPr lang="en-US" i="1" dirty="0">
                <a:latin typeface="-apple-system"/>
              </a:rPr>
              <a:t>Fusion Science and Technology</a:t>
            </a:r>
            <a:r>
              <a:rPr lang="en-US" dirty="0">
                <a:latin typeface="-apple-system"/>
              </a:rPr>
              <a:t>, pp. 1–15. </a:t>
            </a:r>
            <a:endParaRPr lang="en-GB" sz="2000" b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5557403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A7C22-4812-7ABF-A5AB-D50955751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EQUILI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638F0-D0E4-F742-49A9-D135BDE409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Solves the Grad-</a:t>
            </a:r>
            <a:r>
              <a:rPr lang="en-GB" dirty="0" err="1"/>
              <a:t>Shafranov</a:t>
            </a:r>
            <a:r>
              <a:rPr lang="en-GB" dirty="0"/>
              <a:t> equation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Uses embedded geometry discretization (</a:t>
            </a:r>
            <a:r>
              <a:rPr lang="en-GB" dirty="0" err="1"/>
              <a:t>CutFEM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5A2B-E623-BA4C-8E0F-F1AF4E9EEC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27</a:t>
            </a:fld>
            <a:endParaRPr lang="en-GB" dirty="0"/>
          </a:p>
        </p:txBody>
      </p:sp>
      <p:pic>
        <p:nvPicPr>
          <p:cNvPr id="8" name="Imagen 15">
            <a:extLst>
              <a:ext uri="{FF2B5EF4-FFF2-40B4-BE49-F238E27FC236}">
                <a16:creationId xmlns:a16="http://schemas.microsoft.com/office/drawing/2014/main" id="{A3AF26C4-DBB1-6600-64AE-CB93A7D8C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2467" y="2001762"/>
            <a:ext cx="4630579" cy="6287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B62CDC-46A1-D8B3-8BBB-ED33E57BD576}"/>
              </a:ext>
            </a:extLst>
          </p:cNvPr>
          <p:cNvSpPr txBox="1"/>
          <p:nvPr/>
        </p:nvSpPr>
        <p:spPr>
          <a:xfrm>
            <a:off x="3820942" y="5798030"/>
            <a:ext cx="41136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0" i="0" dirty="0" err="1">
                <a:solidFill>
                  <a:srgbClr val="212529"/>
                </a:solidFill>
                <a:effectLst/>
                <a:latin typeface="system-ui"/>
              </a:rPr>
              <a:t>Manyer</a:t>
            </a:r>
            <a:r>
              <a:rPr lang="en-GB" sz="1100" b="0" i="0" dirty="0">
                <a:solidFill>
                  <a:srgbClr val="212529"/>
                </a:solidFill>
                <a:effectLst/>
                <a:latin typeface="system-ui"/>
              </a:rPr>
              <a:t> Fuertes, Pau. </a:t>
            </a:r>
            <a:r>
              <a:rPr lang="en-GB" sz="1100" b="0" i="1" dirty="0" err="1">
                <a:solidFill>
                  <a:srgbClr val="212529"/>
                </a:solidFill>
                <a:effectLst/>
                <a:latin typeface="system-ui"/>
              </a:rPr>
              <a:t>Universitat</a:t>
            </a:r>
            <a:r>
              <a:rPr lang="en-GB" sz="1100" b="0" i="1" dirty="0">
                <a:solidFill>
                  <a:srgbClr val="212529"/>
                </a:solidFill>
                <a:effectLst/>
                <a:latin typeface="system-ui"/>
              </a:rPr>
              <a:t> </a:t>
            </a:r>
            <a:r>
              <a:rPr lang="en-GB" sz="1100" b="0" i="1" dirty="0" err="1">
                <a:solidFill>
                  <a:srgbClr val="212529"/>
                </a:solidFill>
                <a:effectLst/>
                <a:latin typeface="system-ui"/>
              </a:rPr>
              <a:t>Politècnica</a:t>
            </a:r>
            <a:r>
              <a:rPr lang="en-GB" sz="1100" b="0" i="1" dirty="0">
                <a:solidFill>
                  <a:srgbClr val="212529"/>
                </a:solidFill>
                <a:effectLst/>
                <a:latin typeface="system-ui"/>
              </a:rPr>
              <a:t> de Catalunya</a:t>
            </a:r>
            <a:r>
              <a:rPr lang="en-GB" sz="1100" b="0" i="0" dirty="0">
                <a:solidFill>
                  <a:srgbClr val="212529"/>
                </a:solidFill>
                <a:effectLst/>
                <a:latin typeface="system-ui"/>
              </a:rPr>
              <a:t>, Oct. 2024</a:t>
            </a:r>
            <a:endParaRPr lang="en-GB" sz="1100" dirty="0"/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3EB672D-C751-E25E-EC35-22AF263801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064" y="3201865"/>
            <a:ext cx="6991869" cy="257137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AB5FEF-8D29-D04F-A027-44CBE94E28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70376" y="6269299"/>
            <a:ext cx="4322158" cy="365125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p:pic>
        <p:nvPicPr>
          <p:cNvPr id="11" name="Picture Placeholder 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8F1153A5-8406-D868-537F-60686DD9468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</p:spTree>
    <p:extLst>
      <p:ext uri="{BB962C8B-B14F-4D97-AF65-F5344CB8AC3E}">
        <p14:creationId xmlns:p14="http://schemas.microsoft.com/office/powerpoint/2010/main" val="42510086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ECAC5-6BD9-2A46-A0C4-8A539BF15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FEM in 2D Scalar Equations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F3594-5CD4-410E-7870-A4E669C20B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28</a:t>
            </a:fld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F09F6-8FF3-AD97-93C8-1D5DD9BD2D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01435" y="6269299"/>
            <a:ext cx="4591099" cy="365125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65DB2BC-232F-0219-0851-A79238EDC1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250" y="1514475"/>
                <a:ext cx="10985500" cy="4662488"/>
              </a:xfrm>
            </p:spPr>
            <p:txBody>
              <a:bodyPr/>
              <a:lstStyle/>
              <a:p>
                <a:r>
                  <a:rPr lang="en-GB" dirty="0"/>
                  <a:t>The Finite Element Method (FEM) is a numerical tool to transform a PDE into a linear system of equations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endChr m:val="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𝑞𝑢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 ⟹ </m:t>
                      </m:r>
                      <m:nary>
                        <m:naryPr>
                          <m:chr m:val="∑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Sup>
                            <m:sSub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The PDE is transformed to its weak form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∬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GB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p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b="1" i="1" smtClean="0">
                                          <a:latin typeface="Cambria Math" panose="02040503050406030204" pitchFamily="18" charset="0"/>
                                        </a:rPr>
                                        <m:t>𝒑</m:t>
                                      </m:r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sSubSup>
                                <m:sSub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b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p>
                              <m:sSubSup>
                                <m:sSub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nary>
                      <m:r>
                        <a:rPr lang="en-GB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∮"/>
                          <m:supHide m:val="on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GB" smtClean="0"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e>
                            <m: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p>
                        </m:sub>
                        <m:sup/>
                        <m:e>
                          <m:sSubSup>
                            <m:sSub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  <m:d>
                            <m:d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  <m:sup>
                                  <m: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GB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sSup>
                                <m:sSup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a:rPr lang="en-GB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acc>
                            <m:accPr>
                              <m:chr m:val="⃗"/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GB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GB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p>
                        </m:sub>
                        <m:sup/>
                        <m:e>
                          <m:sSubSup>
                            <m:sSub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GB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nary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:r>
                  <a:rPr lang="en-GB" dirty="0"/>
                  <a:t>Being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bSup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/>
                  <a:t>.	For Galerkin method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65DB2BC-232F-0219-0851-A79238EDC1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250" y="1514475"/>
                <a:ext cx="10985500" cy="4662488"/>
              </a:xfrm>
              <a:blipFill>
                <a:blip r:embed="rId2"/>
                <a:stretch>
                  <a:fillRect l="-499" t="-1307" b="-100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Placeholder 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8D83766F-BF1C-9DCC-6ED7-33B8A879115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</p:spTree>
    <p:extLst>
      <p:ext uri="{BB962C8B-B14F-4D97-AF65-F5344CB8AC3E}">
        <p14:creationId xmlns:p14="http://schemas.microsoft.com/office/powerpoint/2010/main" val="1322454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16F26-CD75-0FDC-DC50-8B8F003D1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ED5EF-AC27-68EE-751F-D10B942E4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FEM in 3D Vector Equations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BF671E-734C-711A-7399-E98A4A6575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E441BF-5F25-472C-890A-B3E0CFED072E}" type="slidenum">
              <a:rPr lang="en-GB" smtClean="0"/>
              <a:t>29</a:t>
            </a:fld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E623A4-62FC-26D1-D5EC-1703589127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01435" y="6269299"/>
            <a:ext cx="4591099" cy="365125"/>
          </a:xfrm>
        </p:spPr>
        <p:txBody>
          <a:bodyPr>
            <a:normAutofit/>
          </a:bodyPr>
          <a:lstStyle/>
          <a:p>
            <a:r>
              <a:rPr lang="es-ES" dirty="0"/>
              <a:t>Hernán Domingo | PhD </a:t>
            </a:r>
            <a:r>
              <a:rPr lang="es-ES" dirty="0" err="1"/>
              <a:t>Research</a:t>
            </a:r>
            <a:r>
              <a:rPr lang="es-ES" dirty="0"/>
              <a:t> Plan </a:t>
            </a:r>
            <a:r>
              <a:rPr lang="es-ES" dirty="0" err="1"/>
              <a:t>Defence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2EC7BC9-8E2D-9307-0E05-71F7EE238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250" y="1514475"/>
                <a:ext cx="10985500" cy="4662488"/>
              </a:xfrm>
            </p:spPr>
            <p:txBody>
              <a:bodyPr/>
              <a:lstStyle/>
              <a:p>
                <a:r>
                  <a:rPr lang="en-GB" dirty="0"/>
                  <a:t>Similar as shown before but now the equation looks like: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endChr m:val="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  <m:t>𝑼</m:t>
                              </m:r>
                            </m:e>
                          </m:d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The PDE is transformed to its weak form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∭"/>
                          <m:supHide m:val="on"/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e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s-ES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s-E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ES" b="1" i="1" smtClean="0">
                                      <a:latin typeface="Cambria Math" panose="02040503050406030204" pitchFamily="18" charset="0"/>
                                    </a:rPr>
                                    <m:t>𝑼</m:t>
                                  </m:r>
                                </m:e>
                                <m:sup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p>
                            </m:e>
                          </m:d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s-ES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bSup>
                                <m:sSubSupPr>
                                  <m:ctrlPr>
                                    <a:rPr lang="es-E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b="1" i="1" smtClean="0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bSup>
                            </m:e>
                          </m:d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nary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∯"/>
                          <m:supHide m:val="on"/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ES" b="1" i="1" smtClean="0"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  <m:sup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s-ES" b="0" i="0" smtClean="0"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×</m:t>
                                  </m:r>
                                  <m:sSup>
                                    <m:sSupPr>
                                      <m:ctrlPr>
                                        <a:rPr lang="es-E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s-ES" b="1" i="1">
                                          <a:latin typeface="Cambria Math" panose="02040503050406030204" pitchFamily="18" charset="0"/>
                                        </a:rPr>
                                        <m:t>𝑼</m:t>
                                      </m:r>
                                    </m:e>
                                    <m:sup>
                                      <m:r>
                                        <a:rPr lang="es-E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bSup>
                                <m:sSubSupPr>
                                  <m:ctrlPr>
                                    <a:rPr lang="es-ES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bSup>
                            </m:e>
                          </m:d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̂"/>
                              <m:ctrlPr>
                                <a:rPr lang="es-E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nary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∭"/>
                          <m:supHide m:val="on"/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s-E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ES" b="1" i="1" smtClean="0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p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p>
                                <m:sSupPr>
                                  <m:ctrlPr>
                                    <a:rPr lang="es-ES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ES" b="1" i="1">
                                      <a:latin typeface="Cambria Math" panose="02040503050406030204" pitchFamily="18" charset="0"/>
                                    </a:rPr>
                                    <m:t>𝑼</m:t>
                                  </m:r>
                                </m:e>
                                <m:sup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p>
                            </m:e>
                          </m:d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s-ES" b="1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nary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∭"/>
                          <m:supHide m:val="on"/>
                          <m:ctrlPr>
                            <a:rPr lang="es-E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s-ES">
                              <a:latin typeface="Cambria Math" panose="02040503050406030204" pitchFamily="18" charset="0"/>
                            </a:rPr>
                            <m:t>Ω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p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s-ES" b="1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es-ES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nary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 algn="ctr">
                  <a:buNone/>
                </a:pPr>
                <a:r>
                  <a:rPr lang="en-GB" dirty="0"/>
                  <a:t>Being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sup>
                        <m:r>
                          <a:rPr lang="es-ES" i="1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bSup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1" i="1" smtClean="0"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/>
                  <a:t>.	For Galerkin method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s-E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ES" i="1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pPr marL="0" indent="0" algn="ctr">
                  <a:buNone/>
                </a:pPr>
                <a:endParaRPr lang="en-GB" dirty="0"/>
              </a:p>
              <a:p>
                <a:r>
                  <a:rPr lang="en-GB" dirty="0" err="1"/>
                  <a:t>Nédélec</a:t>
                </a:r>
                <a:r>
                  <a:rPr lang="en-GB" dirty="0"/>
                  <a:t> shape functions force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s-ES" b="1" i="1" smtClean="0">
                        <a:latin typeface="Cambria Math" panose="02040503050406030204" pitchFamily="18" charset="0"/>
                      </a:rPr>
                      <m:t>𝑵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which is convenient for EM fields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2EC7BC9-8E2D-9307-0E05-71F7EE238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250" y="1514475"/>
                <a:ext cx="10985500" cy="4662488"/>
              </a:xfrm>
              <a:blipFill>
                <a:blip r:embed="rId2"/>
                <a:stretch>
                  <a:fillRect l="-499" t="-13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Placeholder 7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35034EBE-DC32-6309-707A-F508C5FA45F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2113"/>
          <a:stretch>
            <a:fillRect/>
          </a:stretch>
        </p:blipFill>
        <p:spPr>
          <a:xfrm>
            <a:off x="2971800" y="6000750"/>
            <a:ext cx="1447800" cy="601663"/>
          </a:xfrm>
        </p:spPr>
      </p:pic>
    </p:spTree>
    <p:extLst>
      <p:ext uri="{BB962C8B-B14F-4D97-AF65-F5344CB8AC3E}">
        <p14:creationId xmlns:p14="http://schemas.microsoft.com/office/powerpoint/2010/main" val="2639179426"/>
      </p:ext>
    </p:extLst>
  </p:cSld>
  <p:clrMapOvr>
    <a:masterClrMapping/>
  </p:clrMapOvr>
</p:sld>
</file>

<file path=ppt/theme/theme1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1965</Words>
  <Application>Microsoft Office PowerPoint</Application>
  <PresentationFormat>Widescreen</PresentationFormat>
  <Paragraphs>278</Paragraphs>
  <Slides>29</Slides>
  <Notes>15</Notes>
  <HiddenSlides>0</HiddenSlides>
  <MMClips>3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-apple-system</vt:lpstr>
      <vt:lpstr>Arial</vt:lpstr>
      <vt:lpstr>Calibri</vt:lpstr>
      <vt:lpstr>Cambria Math</vt:lpstr>
      <vt:lpstr>system-ui</vt:lpstr>
      <vt:lpstr>Diseño personalizado</vt:lpstr>
      <vt:lpstr>EMWAVE</vt:lpstr>
      <vt:lpstr>Outline</vt:lpstr>
      <vt:lpstr>Motivation</vt:lpstr>
      <vt:lpstr>What is fusion?</vt:lpstr>
      <vt:lpstr>What is fusion?</vt:lpstr>
      <vt:lpstr>How do we heat the plasma?</vt:lpstr>
      <vt:lpstr>The engineering behind</vt:lpstr>
      <vt:lpstr>What is Alya?</vt:lpstr>
      <vt:lpstr>What is Alya4fusion?</vt:lpstr>
      <vt:lpstr>Goals</vt:lpstr>
      <vt:lpstr>State of the Art</vt:lpstr>
      <vt:lpstr>State of the Art</vt:lpstr>
      <vt:lpstr>Work Plan</vt:lpstr>
      <vt:lpstr>Tasks</vt:lpstr>
      <vt:lpstr>Gantt Chart</vt:lpstr>
      <vt:lpstr>Work done so far</vt:lpstr>
      <vt:lpstr>Work done so far: EMWAVE</vt:lpstr>
      <vt:lpstr>What do we plot?</vt:lpstr>
      <vt:lpstr>What do we plot?</vt:lpstr>
      <vt:lpstr>Propagation of O-Waves and X-Waves</vt:lpstr>
      <vt:lpstr>Cold Plasma: Benchmark</vt:lpstr>
      <vt:lpstr>Cold Plasma: ITER Scenario</vt:lpstr>
      <vt:lpstr>1st Order Edge Elements Results</vt:lpstr>
      <vt:lpstr>Potential journals and conferences</vt:lpstr>
      <vt:lpstr>These slides and their references can be found in the following repository:</vt:lpstr>
      <vt:lpstr>Coupling between modules</vt:lpstr>
      <vt:lpstr>EQUILI</vt:lpstr>
      <vt:lpstr>FEM in 2D Scalar Equations</vt:lpstr>
      <vt:lpstr>FEM in 3D Vector Equations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Gemma Ribas</dc:creator>
  <cp:lastModifiedBy>hernán domingo ramos</cp:lastModifiedBy>
  <cp:revision>279</cp:revision>
  <dcterms:created xsi:type="dcterms:W3CDTF">2019-06-06T09:57:11Z</dcterms:created>
  <dcterms:modified xsi:type="dcterms:W3CDTF">2025-10-14T08:50:50Z</dcterms:modified>
</cp:coreProperties>
</file>