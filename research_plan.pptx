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3"/>
  </p:notesMasterIdLst>
  <p:handoutMasterIdLst>
    <p:handoutMasterId r:id="rId34"/>
  </p:handoutMasterIdLst>
  <p:sldIdLst>
    <p:sldId id="276" r:id="rId2"/>
    <p:sldId id="2142532373" r:id="rId3"/>
    <p:sldId id="2142532351" r:id="rId4"/>
    <p:sldId id="2142532411" r:id="rId5"/>
    <p:sldId id="2142532412" r:id="rId6"/>
    <p:sldId id="2142532393" r:id="rId7"/>
    <p:sldId id="2142532408" r:id="rId8"/>
    <p:sldId id="2142532361" r:id="rId9"/>
    <p:sldId id="2142532362" r:id="rId10"/>
    <p:sldId id="2142532401" r:id="rId11"/>
    <p:sldId id="2142532360" r:id="rId12"/>
    <p:sldId id="2142532404" r:id="rId13"/>
    <p:sldId id="2142532389" r:id="rId14"/>
    <p:sldId id="2142532405" r:id="rId15"/>
    <p:sldId id="2142532406" r:id="rId16"/>
    <p:sldId id="2142532407" r:id="rId17"/>
    <p:sldId id="2142532388" r:id="rId18"/>
    <p:sldId id="2142532418" r:id="rId19"/>
    <p:sldId id="2142532390" r:id="rId20"/>
    <p:sldId id="2142532391" r:id="rId21"/>
    <p:sldId id="2142532397" r:id="rId22"/>
    <p:sldId id="2142532398" r:id="rId23"/>
    <p:sldId id="2142532399" r:id="rId24"/>
    <p:sldId id="2142532410" r:id="rId25"/>
    <p:sldId id="2142532416" r:id="rId26"/>
    <p:sldId id="2142532352" r:id="rId27"/>
    <p:sldId id="2142532417" r:id="rId28"/>
    <p:sldId id="2142532413" r:id="rId29"/>
    <p:sldId id="2142532367" r:id="rId30"/>
    <p:sldId id="2142532414" r:id="rId31"/>
    <p:sldId id="2142532415" r:id="rId3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3D3FA5-DA8A-4AA5-8314-2FCB465A3D88}">
          <p14:sldIdLst>
            <p14:sldId id="276"/>
            <p14:sldId id="2142532373"/>
            <p14:sldId id="2142532351"/>
            <p14:sldId id="2142532411"/>
            <p14:sldId id="2142532412"/>
            <p14:sldId id="2142532393"/>
            <p14:sldId id="2142532408"/>
            <p14:sldId id="2142532361"/>
            <p14:sldId id="2142532362"/>
            <p14:sldId id="2142532401"/>
            <p14:sldId id="2142532360"/>
            <p14:sldId id="2142532404"/>
            <p14:sldId id="2142532389"/>
            <p14:sldId id="2142532405"/>
            <p14:sldId id="2142532406"/>
            <p14:sldId id="2142532407"/>
            <p14:sldId id="2142532388"/>
            <p14:sldId id="2142532418"/>
            <p14:sldId id="2142532390"/>
            <p14:sldId id="2142532391"/>
            <p14:sldId id="2142532397"/>
            <p14:sldId id="2142532398"/>
            <p14:sldId id="2142532399"/>
            <p14:sldId id="2142532410"/>
            <p14:sldId id="2142532416"/>
            <p14:sldId id="2142532352"/>
            <p14:sldId id="2142532417"/>
            <p14:sldId id="2142532413"/>
            <p14:sldId id="2142532367"/>
            <p14:sldId id="2142532414"/>
            <p14:sldId id="2142532415"/>
          </p14:sldIdLst>
        </p14:section>
      </p14:sectionLst>
    </p:ext>
    <p:ext uri="{EFAFB233-063F-42B5-8137-9DF3F51BA10A}">
      <p15:sldGuideLst xmlns:p15="http://schemas.microsoft.com/office/powerpoint/2012/main">
        <p15:guide id="2" pos="2547" userDrawn="1">
          <p15:clr>
            <a:srgbClr val="FBAE40"/>
          </p15:clr>
        </p15:guide>
        <p15:guide id="3" pos="5133" userDrawn="1">
          <p15:clr>
            <a:srgbClr val="FBAE40"/>
          </p15:clr>
        </p15:guide>
        <p15:guide id="4" orient="horz" pos="1434" userDrawn="1">
          <p15:clr>
            <a:srgbClr val="FBAE40"/>
          </p15:clr>
        </p15:guide>
        <p15:guide id="5" orient="horz" pos="2886" userDrawn="1">
          <p15:clr>
            <a:srgbClr val="FBAE40"/>
          </p15:clr>
        </p15:guide>
        <p15:guide id="6" pos="2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A8BF8B-89C1-08EF-0E82-7D15D892E166}" name="Dani Gallart" initials="DG" userId="949a1c8a8a9bfa61" providerId="Windows Live"/>
  <p188:author id="{DD3783DD-7162-AD64-0E8E-77110A325325}" name="hernán domingo ramos" initials="hd" userId="efafba4a9fc67a8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5050"/>
    <a:srgbClr val="FF7C80"/>
    <a:srgbClr val="7F7F7F"/>
    <a:srgbClr val="7030A0"/>
    <a:srgbClr val="2F3D55"/>
    <a:srgbClr val="405374"/>
    <a:srgbClr val="758BB3"/>
    <a:srgbClr val="203864"/>
    <a:srgbClr val="124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FD2D2-C878-4C5A-8349-6D57939180E0}" v="1" dt="2025-10-27T09:08:47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656" autoAdjust="0"/>
  </p:normalViewPr>
  <p:slideViewPr>
    <p:cSldViewPr snapToGrid="0" showGuides="1">
      <p:cViewPr varScale="1">
        <p:scale>
          <a:sx n="59" d="100"/>
          <a:sy n="59" d="100"/>
        </p:scale>
        <p:origin x="892" y="48"/>
      </p:cViewPr>
      <p:guideLst>
        <p:guide pos="2547"/>
        <p:guide pos="5133"/>
        <p:guide orient="horz" pos="1434"/>
        <p:guide orient="horz" pos="2886"/>
        <p:guide pos="2570"/>
      </p:guideLst>
    </p:cSldViewPr>
  </p:slideViewPr>
  <p:outlineViewPr>
    <p:cViewPr>
      <p:scale>
        <a:sx n="33" d="100"/>
        <a:sy n="33" d="100"/>
      </p:scale>
      <p:origin x="0" y="-470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nán domingo ramos" userId="efafba4a9fc67a80" providerId="LiveId" clId="{86DF621C-CFDE-4B62-9552-7447E1E827C2}"/>
    <pc:docChg chg="undo custSel delSld modSld modSection">
      <pc:chgData name="hernán domingo ramos" userId="efafba4a9fc67a80" providerId="LiveId" clId="{86DF621C-CFDE-4B62-9552-7447E1E827C2}" dt="2025-10-14T14:41:54.093" v="9" actId="47"/>
      <pc:docMkLst>
        <pc:docMk/>
      </pc:docMkLst>
      <pc:sldChg chg="addSp delSp modSp mod addAnim delAnim modAnim">
        <pc:chgData name="hernán domingo ramos" userId="efafba4a9fc67a80" providerId="LiveId" clId="{86DF621C-CFDE-4B62-9552-7447E1E827C2}" dt="2025-10-14T14:39:38.749" v="8" actId="14826"/>
        <pc:sldMkLst>
          <pc:docMk/>
          <pc:sldMk cId="500033862" sldId="2142532361"/>
        </pc:sldMkLst>
        <pc:picChg chg="add del mod">
          <ac:chgData name="hernán domingo ramos" userId="efafba4a9fc67a80" providerId="LiveId" clId="{86DF621C-CFDE-4B62-9552-7447E1E827C2}" dt="2025-10-14T14:39:38.749" v="8" actId="14826"/>
          <ac:picMkLst>
            <pc:docMk/>
            <pc:sldMk cId="500033862" sldId="2142532361"/>
            <ac:picMk id="10" creationId="{B12B560A-EF43-631F-FAC4-4CAF9093FD99}"/>
          </ac:picMkLst>
        </pc:picChg>
      </pc:sldChg>
      <pc:sldChg chg="del">
        <pc:chgData name="hernán domingo ramos" userId="efafba4a9fc67a80" providerId="LiveId" clId="{86DF621C-CFDE-4B62-9552-7447E1E827C2}" dt="2025-10-14T14:41:54.093" v="9" actId="47"/>
        <pc:sldMkLst>
          <pc:docMk/>
          <pc:sldMk cId="3757522183" sldId="2142532409"/>
        </pc:sldMkLst>
      </pc:sldChg>
    </pc:docChg>
  </pc:docChgLst>
  <pc:docChgLst>
    <pc:chgData name="hernán domingo ramos" userId="efafba4a9fc67a80" providerId="LiveId" clId="{284FD2D2-C878-4C5A-8349-6D57939180E0}"/>
    <pc:docChg chg="modSld">
      <pc:chgData name="hernán domingo ramos" userId="efafba4a9fc67a80" providerId="LiveId" clId="{284FD2D2-C878-4C5A-8349-6D57939180E0}" dt="2025-10-27T09:08:47.931" v="0"/>
      <pc:docMkLst>
        <pc:docMk/>
      </pc:docMkLst>
      <pc:sldChg chg="modAnim">
        <pc:chgData name="hernán domingo ramos" userId="efafba4a9fc67a80" providerId="LiveId" clId="{284FD2D2-C878-4C5A-8349-6D57939180E0}" dt="2025-10-27T09:08:47.931" v="0"/>
        <pc:sldMkLst>
          <pc:docMk/>
          <pc:sldMk cId="500033862" sldId="214253236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s-ES"/>
              <a:t>22/11/2024</a:t>
            </a: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A8D5D-EC9E-40FC-98EC-CD281E4E88AF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7699166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s-ES"/>
              <a:t>22/11/2024</a:t>
            </a:r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C39F9-59CF-A24C-83BE-FFCDCFE5F579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0092419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35369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Fusión nuclear: Método de obtención de energía. Fisión de uranio 235. Masa isótopos &gt; masa producto. Comunidad de fusión objetivo D+T. ¿Por qué si hay más reacciones?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6476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Cada </a:t>
            </a:r>
            <a:r>
              <a:rPr lang="es-ES" noProof="0" dirty="0" err="1"/>
              <a:t>reaccion</a:t>
            </a:r>
            <a:r>
              <a:rPr lang="es-ES" noProof="0" dirty="0"/>
              <a:t> tiene ventajas e inconvenientes. Algunas son aneutrónicas (menor radioactividad y menor activación). Otras no requieren tritio, escaso.</a:t>
            </a:r>
          </a:p>
          <a:p>
            <a:r>
              <a:rPr lang="es-ES" noProof="0" dirty="0"/>
              <a:t>El principal motivo es la tasa de reacción a temperaturas más bajas. Sin embargo, como llegamos a millones de Kelvin?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294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Hay tres métodos principales. Efecto Joule. La corriente transfiere la energía eléctrica a las partículas mediante colisiones elásticas. La resistividad decae y se llega a un umbral.</a:t>
            </a:r>
          </a:p>
          <a:p>
            <a:r>
              <a:rPr lang="es-ES" noProof="0" dirty="0"/>
              <a:t>Haz de partículas neutras que transfieren momento y energía.</a:t>
            </a:r>
          </a:p>
          <a:p>
            <a:r>
              <a:rPr lang="es-ES" noProof="0" dirty="0" err="1"/>
              <a:t>Cyclotron</a:t>
            </a:r>
            <a:r>
              <a:rPr lang="es-ES" noProof="0" dirty="0"/>
              <a:t> </a:t>
            </a:r>
            <a:r>
              <a:rPr lang="es-ES" noProof="0" dirty="0" err="1"/>
              <a:t>resonance</a:t>
            </a:r>
            <a:r>
              <a:rPr lang="es-ES" noProof="0" dirty="0"/>
              <a:t> </a:t>
            </a:r>
            <a:r>
              <a:rPr lang="es-ES" noProof="0" dirty="0" err="1"/>
              <a:t>heating</a:t>
            </a:r>
            <a:r>
              <a:rPr lang="es-ES" noProof="0" dirty="0"/>
              <a:t>. Inyección de Ondas EM mediante antenas. La frecuencia de la </a:t>
            </a:r>
            <a:r>
              <a:rPr lang="es-ES" noProof="0" dirty="0" err="1"/>
              <a:t>ona</a:t>
            </a:r>
            <a:r>
              <a:rPr lang="es-ES" noProof="0" dirty="0"/>
              <a:t> está en resonancia con el movimiento de ciclotrón, transfiriéndole energía.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3491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Los reactores son dispositivos complejos. Con muchos subsistemas. Para simular un reactor necesitas tener en cuenta muchos eventos </a:t>
            </a:r>
            <a:r>
              <a:rPr lang="es-ES" noProof="0" dirty="0" err="1"/>
              <a:t>multifísicos</a:t>
            </a:r>
            <a:r>
              <a:rPr lang="es-ES" noProof="0" dirty="0"/>
              <a:t>. Ejemplos.</a:t>
            </a:r>
          </a:p>
          <a:p>
            <a:r>
              <a:rPr lang="es-ES" noProof="0" dirty="0"/>
              <a:t>Esquema de escalas temporales. Bastante variabilidad. Si el objetivo es simular un reactor en su totalidad (rojo), hace falta un software capaz de ser ejecutado en HPC.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7395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Alya entra en juego. Código </a:t>
            </a:r>
            <a:r>
              <a:rPr lang="es-ES" noProof="0" dirty="0" err="1"/>
              <a:t>multi-física</a:t>
            </a:r>
            <a:r>
              <a:rPr lang="es-ES" noProof="0" dirty="0"/>
              <a:t> con módulos acoplados. Código altamente paralelizado. Usa Fortran y FEM. Intentos de ejecutarlo en GPU. EL grupo ha contribuido desarrollando módulos.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486321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Alya4fusion es el conjunto de módulos que se usarían para simular un reactor de fusión. Hay dos </a:t>
            </a:r>
            <a:r>
              <a:rPr lang="es-ES" noProof="0" dirty="0" err="1"/>
              <a:t>solvers</a:t>
            </a:r>
            <a:r>
              <a:rPr lang="es-ES" noProof="0" dirty="0"/>
              <a:t>, el de ingeniería y el de plasma. Describir módulos.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20301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FEM con </a:t>
            </a:r>
            <a:r>
              <a:rPr lang="es-ES" noProof="0" dirty="0" err="1"/>
              <a:t>Nédélec</a:t>
            </a:r>
            <a:r>
              <a:rPr lang="es-ES" noProof="0" dirty="0"/>
              <a:t> 2º orden en 3D. Inherente al dispositivo y su geometría. Integrado en Alya y paralelizado.</a:t>
            </a:r>
          </a:p>
          <a:p>
            <a:r>
              <a:rPr lang="es-ES" noProof="0" dirty="0"/>
              <a:t>Simulación de casos reales con diseños de antenas realistas, modelo de plasma caliente de alta fidelidad y análisis de variables físicas.</a:t>
            </a:r>
          </a:p>
          <a:p>
            <a:r>
              <a:rPr lang="es-ES" noProof="0" dirty="0"/>
              <a:t>Aplicar el código en otros usos como inyectores y guías de onda, a la vez que comprobar el rango de funcionamiento, de la SOL al </a:t>
            </a:r>
            <a:r>
              <a:rPr lang="es-ES" noProof="0" dirty="0" err="1"/>
              <a:t>core</a:t>
            </a:r>
            <a:r>
              <a:rPr lang="es-ES" noProof="0" dirty="0"/>
              <a:t>.</a:t>
            </a:r>
          </a:p>
          <a:p>
            <a:r>
              <a:rPr lang="es-ES" noProof="0" dirty="0"/>
              <a:t>Una pieza más en el digital </a:t>
            </a:r>
            <a:r>
              <a:rPr lang="es-ES" noProof="0" dirty="0" err="1"/>
              <a:t>twin</a:t>
            </a:r>
            <a:r>
              <a:rPr lang="es-ES" noProof="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716855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Hay varios códigos para ICRH que hacen cosas similares a EMWAVE.</a:t>
            </a:r>
          </a:p>
          <a:p>
            <a:r>
              <a:rPr lang="es-ES" noProof="0" dirty="0"/>
              <a:t>Algunos están más focalizados en el </a:t>
            </a:r>
            <a:r>
              <a:rPr lang="es-ES" noProof="0" dirty="0" err="1"/>
              <a:t>core</a:t>
            </a:r>
            <a:r>
              <a:rPr lang="es-ES" noProof="0" dirty="0"/>
              <a:t> del plasma y la física que hay detrás. Otros están más focalizados en el SOL y la configuración de las antenas.</a:t>
            </a:r>
          </a:p>
          <a:p>
            <a:r>
              <a:rPr lang="es-ES" noProof="0" dirty="0"/>
              <a:t>Tienen algunas limitaciones: región del plasma. Simplificaciones. Acoplamiento. Paralelización no optimizada.</a:t>
            </a:r>
          </a:p>
          <a:p>
            <a:r>
              <a:rPr lang="es-ES" noProof="0" dirty="0" err="1"/>
              <a:t>Emwave</a:t>
            </a:r>
            <a:r>
              <a:rPr lang="es-ES" noProof="0" dirty="0"/>
              <a:t> está creado dentro de un entorno HPC, acoplamiento natural. </a:t>
            </a:r>
            <a:r>
              <a:rPr lang="es-ES" noProof="0" dirty="0" err="1"/>
              <a:t>From</a:t>
            </a:r>
            <a:r>
              <a:rPr lang="es-ES" noProof="0" dirty="0"/>
              <a:t> SOL </a:t>
            </a:r>
            <a:r>
              <a:rPr lang="es-ES" noProof="0" dirty="0" err="1"/>
              <a:t>to</a:t>
            </a:r>
            <a:r>
              <a:rPr lang="es-ES" noProof="0" dirty="0"/>
              <a:t> </a:t>
            </a:r>
            <a:r>
              <a:rPr lang="es-ES" noProof="0" dirty="0" err="1"/>
              <a:t>core</a:t>
            </a:r>
            <a:r>
              <a:rPr lang="es-ES" noProof="0" dirty="0"/>
              <a:t>: No toda la potencia de la antena va a estar directamente inyectada al plasma </a:t>
            </a:r>
            <a:r>
              <a:rPr lang="es-ES" noProof="0" dirty="0" err="1"/>
              <a:t>core</a:t>
            </a:r>
            <a:r>
              <a:rPr lang="es-ES" noProof="0" dirty="0"/>
              <a:t>. Funcionará como digital </a:t>
            </a:r>
            <a:r>
              <a:rPr lang="es-ES" noProof="0" dirty="0" err="1"/>
              <a:t>twin</a:t>
            </a:r>
            <a:r>
              <a:rPr lang="es-ES" noProof="0" dirty="0"/>
              <a:t>, lo que ayudará a optimizar el diseño de dispositivos.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5215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Algunas de las tareas es acabar el </a:t>
            </a:r>
            <a:r>
              <a:rPr lang="es-ES" noProof="0" dirty="0" err="1"/>
              <a:t>Nédélec</a:t>
            </a:r>
            <a:r>
              <a:rPr lang="es-ES" noProof="0" dirty="0"/>
              <a:t> en 3D.</a:t>
            </a:r>
          </a:p>
          <a:p>
            <a:r>
              <a:rPr lang="es-ES" noProof="0" dirty="0"/>
              <a:t>Introducir un modelo </a:t>
            </a:r>
            <a:r>
              <a:rPr lang="es-ES" noProof="0" dirty="0" err="1"/>
              <a:t>hot</a:t>
            </a:r>
            <a:r>
              <a:rPr lang="es-ES" noProof="0" dirty="0"/>
              <a:t> plasma, ya sea Maxwell </a:t>
            </a:r>
            <a:r>
              <a:rPr lang="es-ES" noProof="0" dirty="0" err="1"/>
              <a:t>distribution</a:t>
            </a:r>
            <a:r>
              <a:rPr lang="es-ES" noProof="0" dirty="0"/>
              <a:t> o Fokker-</a:t>
            </a:r>
            <a:r>
              <a:rPr lang="es-ES" noProof="0" dirty="0" err="1"/>
              <a:t>Plank</a:t>
            </a:r>
            <a:r>
              <a:rPr lang="es-ES" noProof="0" dirty="0"/>
              <a:t> </a:t>
            </a:r>
            <a:r>
              <a:rPr lang="es-ES" noProof="0" dirty="0" err="1"/>
              <a:t>solver</a:t>
            </a:r>
            <a:r>
              <a:rPr lang="es-ES" noProof="0" dirty="0"/>
              <a:t>.</a:t>
            </a:r>
          </a:p>
          <a:p>
            <a:r>
              <a:rPr lang="es-ES" noProof="0" dirty="0"/>
              <a:t>Analizar resultados.</a:t>
            </a:r>
          </a:p>
          <a:p>
            <a:r>
              <a:rPr lang="es-ES" noProof="0" dirty="0"/>
              <a:t>Validar código.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5371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Estamos un poco avanzados en el calendario, pero estamos </a:t>
            </a:r>
            <a:r>
              <a:rPr lang="es-ES" noProof="0" dirty="0" err="1"/>
              <a:t>on</a:t>
            </a:r>
            <a:r>
              <a:rPr lang="es-ES" noProof="0" dirty="0"/>
              <a:t> </a:t>
            </a:r>
            <a:r>
              <a:rPr lang="es-ES" noProof="0" dirty="0" err="1"/>
              <a:t>track</a:t>
            </a:r>
            <a:r>
              <a:rPr lang="es-ES" noProof="0" dirty="0"/>
              <a:t>.</a:t>
            </a:r>
          </a:p>
          <a:p>
            <a:r>
              <a:rPr lang="es-ES" noProof="0" dirty="0"/>
              <a:t>1- El desarrollo del código </a:t>
            </a:r>
            <a:r>
              <a:rPr lang="es-ES" noProof="0" dirty="0" err="1"/>
              <a:t>standalone</a:t>
            </a:r>
            <a:r>
              <a:rPr lang="es-ES" noProof="0" dirty="0"/>
              <a:t> lo he dejado atrás. En principio no habrá más mejoras.</a:t>
            </a:r>
          </a:p>
          <a:p>
            <a:r>
              <a:rPr lang="es-ES" noProof="0" dirty="0"/>
              <a:t>2- El código ya se encuentra en </a:t>
            </a:r>
            <a:r>
              <a:rPr lang="es-ES" noProof="0" dirty="0" err="1"/>
              <a:t>alya</a:t>
            </a:r>
            <a:r>
              <a:rPr lang="es-ES" noProof="0" dirty="0"/>
              <a:t>, la versión 2D y una primera versión 3D. Faltaría incluir algunos detalles y 2º orden.</a:t>
            </a:r>
          </a:p>
          <a:p>
            <a:r>
              <a:rPr lang="es-ES" noProof="0" dirty="0"/>
              <a:t>3- Estoy a las puertas de empezar pruebas con </a:t>
            </a:r>
            <a:r>
              <a:rPr lang="es-ES" noProof="0" dirty="0" err="1"/>
              <a:t>hot</a:t>
            </a:r>
            <a:r>
              <a:rPr lang="es-ES" noProof="0" dirty="0"/>
              <a:t> plasma. De momento será simplemente un tensor constante y totalmente poblado.</a:t>
            </a:r>
          </a:p>
          <a:p>
            <a:r>
              <a:rPr lang="es-ES" noProof="0" dirty="0"/>
              <a:t>4- Espero que, a finales de este año, principios del tercero empiece a testear casos relevantes</a:t>
            </a:r>
          </a:p>
          <a:p>
            <a:r>
              <a:rPr lang="es-ES" noProof="0" dirty="0"/>
              <a:t>5- A la vez que publicar un </a:t>
            </a:r>
            <a:r>
              <a:rPr lang="es-ES" noProof="0" dirty="0" err="1"/>
              <a:t>paper</a:t>
            </a:r>
            <a:r>
              <a:rPr lang="es-ES" noProof="0" dirty="0"/>
              <a:t> con la versión inicial de EMWAVE.</a:t>
            </a:r>
          </a:p>
          <a:p>
            <a:endParaRPr lang="es-ES" noProof="0" dirty="0"/>
          </a:p>
          <a:p>
            <a:endParaRPr lang="es-E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0049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Elementos</a:t>
            </a:r>
            <a:r>
              <a:rPr lang="en-GB" dirty="0"/>
              <a:t> </a:t>
            </a:r>
            <a:r>
              <a:rPr lang="en-GB" dirty="0" err="1"/>
              <a:t>nodales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2D. </a:t>
            </a:r>
            <a:r>
              <a:rPr lang="en-GB" dirty="0" err="1"/>
              <a:t>Ecuación</a:t>
            </a:r>
            <a:r>
              <a:rPr lang="en-GB" dirty="0"/>
              <a:t> </a:t>
            </a:r>
            <a:r>
              <a:rPr lang="en-GB" dirty="0" err="1"/>
              <a:t>generalizada</a:t>
            </a:r>
            <a:r>
              <a:rPr lang="en-GB" dirty="0"/>
              <a:t> con </a:t>
            </a:r>
            <a:r>
              <a:rPr lang="en-GB" dirty="0" err="1"/>
              <a:t>fuentes</a:t>
            </a:r>
            <a:r>
              <a:rPr lang="en-GB" dirty="0"/>
              <a:t> </a:t>
            </a:r>
            <a:r>
              <a:rPr lang="en-GB" dirty="0" err="1"/>
              <a:t>finitas</a:t>
            </a:r>
            <a:r>
              <a:rPr lang="en-GB" dirty="0"/>
              <a:t>.</a:t>
            </a:r>
          </a:p>
          <a:p>
            <a:r>
              <a:rPr lang="en-GB" dirty="0" err="1"/>
              <a:t>Elementos</a:t>
            </a:r>
            <a:r>
              <a:rPr lang="en-GB" dirty="0"/>
              <a:t> edge primer </a:t>
            </a:r>
            <a:r>
              <a:rPr lang="en-GB" dirty="0" err="1"/>
              <a:t>orden</a:t>
            </a:r>
            <a:r>
              <a:rPr lang="en-GB" dirty="0"/>
              <a:t> 3D. </a:t>
            </a:r>
            <a:r>
              <a:rPr lang="en-GB" dirty="0" err="1"/>
              <a:t>Primeros</a:t>
            </a:r>
            <a:r>
              <a:rPr lang="en-GB" dirty="0"/>
              <a:t> </a:t>
            </a:r>
            <a:r>
              <a:rPr lang="en-GB" dirty="0" err="1"/>
              <a:t>resultados</a:t>
            </a:r>
            <a:r>
              <a:rPr lang="en-GB" dirty="0"/>
              <a:t>.</a:t>
            </a:r>
          </a:p>
          <a:p>
            <a:r>
              <a:rPr lang="en-GB" dirty="0" err="1"/>
              <a:t>Usamos</a:t>
            </a:r>
            <a:r>
              <a:rPr lang="en-GB" dirty="0"/>
              <a:t> un </a:t>
            </a:r>
            <a:r>
              <a:rPr lang="en-GB" dirty="0" err="1"/>
              <a:t>modelo</a:t>
            </a:r>
            <a:r>
              <a:rPr lang="en-GB" dirty="0"/>
              <a:t> de plasma </a:t>
            </a:r>
            <a:r>
              <a:rPr lang="en-GB" dirty="0" err="1"/>
              <a:t>frío</a:t>
            </a:r>
            <a:r>
              <a:rPr lang="en-GB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1715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Con el modelo de plasma frío somos capaces de predecir la accesibilidad de la onda. Si se propaga o no.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8789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Cubo de 2 m. “Antena” cúbica de 20 cm. Corriente de 50 A/m^2. En vacío.</a:t>
            </a:r>
          </a:p>
          <a:p>
            <a:r>
              <a:rPr lang="es-ES" noProof="0" dirty="0"/>
              <a:t>Un gráfico para x=z=0 y el otro para y=z=0.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2950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81155-26CE-B5F1-272B-4C488A11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096DD-C14E-3AE3-93C3-F53B25DB4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6513D-89B0-84A3-35AD-4E4D247A8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noProof="0" dirty="0"/>
              <a:t>Candidatos a revistas y conferencias.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0931D-7AF1-9FED-03F3-71E3F91E9AB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0387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s-ES"/>
              <a:t>22/11/2024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9390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4064000" y="6095686"/>
            <a:ext cx="8128000" cy="48753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 dirty="0"/>
          </a:p>
        </p:txBody>
      </p:sp>
      <p:sp>
        <p:nvSpPr>
          <p:cNvPr id="11" name="Rectángulo 10"/>
          <p:cNvSpPr/>
          <p:nvPr userDrawn="1"/>
        </p:nvSpPr>
        <p:spPr>
          <a:xfrm>
            <a:off x="1" y="6095686"/>
            <a:ext cx="4064000" cy="487533"/>
          </a:xfrm>
          <a:prstGeom prst="rect">
            <a:avLst/>
          </a:prstGeom>
          <a:solidFill>
            <a:srgbClr val="00489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963889" y="1631730"/>
            <a:ext cx="6702593" cy="299882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5200" b="1">
                <a:solidFill>
                  <a:srgbClr val="004890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4963889" y="4762500"/>
            <a:ext cx="6702593" cy="1085850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sz="3600" baseline="30000" dirty="0">
              <a:solidFill>
                <a:schemeClr val="tx1">
                  <a:lumMod val="50000"/>
                  <a:lumOff val="5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8" name="Marcador de texto 14"/>
          <p:cNvSpPr>
            <a:spLocks noGrp="1"/>
          </p:cNvSpPr>
          <p:nvPr>
            <p:ph type="body" sz="quarter" idx="10" hasCustomPrompt="1"/>
          </p:nvPr>
        </p:nvSpPr>
        <p:spPr>
          <a:xfrm>
            <a:off x="325968" y="6095686"/>
            <a:ext cx="3255433" cy="48753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  <p:sp>
        <p:nvSpPr>
          <p:cNvPr id="9" name="Marcador de texto 16"/>
          <p:cNvSpPr>
            <a:spLocks noGrp="1"/>
          </p:cNvSpPr>
          <p:nvPr>
            <p:ph type="body" sz="quarter" idx="11" hasCustomPrompt="1"/>
          </p:nvPr>
        </p:nvSpPr>
        <p:spPr>
          <a:xfrm>
            <a:off x="4963888" y="6095685"/>
            <a:ext cx="6702595" cy="4875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>
                <a:solidFill>
                  <a:srgbClr val="004890"/>
                </a:solidFill>
              </a:defRPr>
            </a:lvl1pPr>
          </a:lstStyle>
          <a:p>
            <a:pPr lvl="0"/>
            <a:r>
              <a:rPr lang="en-US" noProof="0" dirty="0"/>
              <a:t>Venue</a:t>
            </a:r>
          </a:p>
        </p:txBody>
      </p:sp>
      <p:sp>
        <p:nvSpPr>
          <p:cNvPr id="2" name="Picture Placeholder 24">
            <a:extLst>
              <a:ext uri="{FF2B5EF4-FFF2-40B4-BE49-F238E27FC236}">
                <a16:creationId xmlns:a16="http://schemas.microsoft.com/office/drawing/2014/main" id="{AB4207FE-DD3D-B82C-41E9-A01F7C973DA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42425" y="444500"/>
            <a:ext cx="2424113" cy="881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Extra Logo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8333B875-EB56-431B-23D8-9498F28F79A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43883"/>
            <a:ext cx="4064000" cy="88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231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1"/>
          <p:cNvSpPr>
            <a:spLocks noGrp="1"/>
          </p:cNvSpPr>
          <p:nvPr>
            <p:ph type="title" hasCustomPrompt="1"/>
          </p:nvPr>
        </p:nvSpPr>
        <p:spPr>
          <a:xfrm>
            <a:off x="0" y="256068"/>
            <a:ext cx="12192000" cy="8009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b="1"/>
            </a:lvl1pPr>
          </a:lstStyle>
          <a:p>
            <a:r>
              <a:rPr lang="es-ES" dirty="0"/>
              <a:t>Haga </a:t>
            </a:r>
            <a:r>
              <a:rPr lang="en-US" noProof="0" dirty="0" err="1"/>
              <a:t>clic</a:t>
            </a:r>
            <a:r>
              <a:rPr lang="es-ES" dirty="0"/>
              <a:t> para modificar el estilo de título del patrón</a:t>
            </a:r>
          </a:p>
        </p:txBody>
      </p:sp>
      <p:sp>
        <p:nvSpPr>
          <p:cNvPr id="8" name="Marcador de texto 2"/>
          <p:cNvSpPr>
            <a:spLocks noGrp="1"/>
          </p:cNvSpPr>
          <p:nvPr>
            <p:ph idx="1" hasCustomPrompt="1"/>
          </p:nvPr>
        </p:nvSpPr>
        <p:spPr>
          <a:xfrm>
            <a:off x="603657" y="1514475"/>
            <a:ext cx="10984685" cy="466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err="1"/>
              <a:t>Editar</a:t>
            </a:r>
            <a:r>
              <a:rPr lang="en-US" noProof="0" dirty="0"/>
              <a:t> </a:t>
            </a:r>
            <a:r>
              <a:rPr lang="en-US" noProof="0" dirty="0" err="1"/>
              <a:t>el</a:t>
            </a:r>
            <a:r>
              <a:rPr lang="en-US" noProof="0" dirty="0"/>
              <a:t> </a:t>
            </a:r>
            <a:r>
              <a:rPr lang="en-US" noProof="0" dirty="0" err="1"/>
              <a:t>estilo</a:t>
            </a:r>
            <a:r>
              <a:rPr lang="en-US" noProof="0" dirty="0"/>
              <a:t> de </a:t>
            </a:r>
            <a:r>
              <a:rPr lang="en-US" noProof="0" dirty="0" err="1"/>
              <a:t>texto</a:t>
            </a:r>
            <a:r>
              <a:rPr lang="en-US" noProof="0" dirty="0"/>
              <a:t> del </a:t>
            </a:r>
            <a:r>
              <a:rPr lang="en-US" noProof="0" dirty="0" err="1"/>
              <a:t>patrón</a:t>
            </a:r>
            <a:endParaRPr lang="en-US" noProof="0" dirty="0"/>
          </a:p>
          <a:p>
            <a:pPr lvl="1"/>
            <a:r>
              <a:rPr lang="en-US" noProof="0" dirty="0"/>
              <a:t>Segundo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2"/>
            <a:r>
              <a:rPr lang="en-US" noProof="0" dirty="0" err="1"/>
              <a:t>Tercer</a:t>
            </a:r>
            <a:r>
              <a:rPr lang="en-US" noProof="0" dirty="0"/>
              <a:t>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3"/>
            <a:r>
              <a:rPr lang="en-US" noProof="0" dirty="0"/>
              <a:t>Cuarto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4"/>
            <a:r>
              <a:rPr lang="en-US" noProof="0" dirty="0"/>
              <a:t>Quinto </a:t>
            </a:r>
            <a:r>
              <a:rPr lang="en-US" noProof="0" dirty="0" err="1"/>
              <a:t>nivel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7A6E51-0CD4-140F-62B6-13D57D2B6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9C05711-2932-7CE9-A907-A7A3C07629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44888" y="6269299"/>
            <a:ext cx="1447646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Name | Event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900A15F-2709-FA39-0476-207F617E8B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71800" y="6000750"/>
            <a:ext cx="1447800" cy="6016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Extra logo</a:t>
            </a:r>
          </a:p>
        </p:txBody>
      </p:sp>
    </p:spTree>
    <p:extLst>
      <p:ext uri="{BB962C8B-B14F-4D97-AF65-F5344CB8AC3E}">
        <p14:creationId xmlns:p14="http://schemas.microsoft.com/office/powerpoint/2010/main" val="1917565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ítulo 1"/>
          <p:cNvSpPr>
            <a:spLocks noGrp="1"/>
          </p:cNvSpPr>
          <p:nvPr>
            <p:ph type="title" hasCustomPrompt="1"/>
          </p:nvPr>
        </p:nvSpPr>
        <p:spPr>
          <a:xfrm>
            <a:off x="0" y="256068"/>
            <a:ext cx="12192000" cy="8009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b="1"/>
            </a:lvl1pPr>
          </a:lstStyle>
          <a:p>
            <a:r>
              <a:rPr lang="es-ES" dirty="0"/>
              <a:t>Haga </a:t>
            </a:r>
            <a:r>
              <a:rPr lang="en-US" noProof="0" dirty="0" err="1"/>
              <a:t>clic</a:t>
            </a:r>
            <a:r>
              <a:rPr lang="es-ES" dirty="0"/>
              <a:t> para modificar el estilo de título del patrón</a:t>
            </a:r>
          </a:p>
        </p:txBody>
      </p:sp>
      <p:sp>
        <p:nvSpPr>
          <p:cNvPr id="8" name="Marcador de texto 2"/>
          <p:cNvSpPr>
            <a:spLocks noGrp="1"/>
          </p:cNvSpPr>
          <p:nvPr>
            <p:ph idx="1" hasCustomPrompt="1"/>
          </p:nvPr>
        </p:nvSpPr>
        <p:spPr>
          <a:xfrm>
            <a:off x="603658" y="1514475"/>
            <a:ext cx="5274100" cy="466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err="1"/>
              <a:t>Editar</a:t>
            </a:r>
            <a:r>
              <a:rPr lang="en-US" noProof="0" dirty="0"/>
              <a:t> </a:t>
            </a:r>
            <a:r>
              <a:rPr lang="en-US" noProof="0" dirty="0" err="1"/>
              <a:t>el</a:t>
            </a:r>
            <a:r>
              <a:rPr lang="en-US" noProof="0" dirty="0"/>
              <a:t> </a:t>
            </a:r>
            <a:r>
              <a:rPr lang="en-US" noProof="0" dirty="0" err="1"/>
              <a:t>estilo</a:t>
            </a:r>
            <a:r>
              <a:rPr lang="en-US" noProof="0" dirty="0"/>
              <a:t> de </a:t>
            </a:r>
            <a:r>
              <a:rPr lang="en-US" noProof="0" dirty="0" err="1"/>
              <a:t>texto</a:t>
            </a:r>
            <a:r>
              <a:rPr lang="en-US" noProof="0" dirty="0"/>
              <a:t> del </a:t>
            </a:r>
            <a:r>
              <a:rPr lang="en-US" noProof="0" dirty="0" err="1"/>
              <a:t>patrón</a:t>
            </a:r>
            <a:endParaRPr lang="en-US" noProof="0" dirty="0"/>
          </a:p>
          <a:p>
            <a:pPr lvl="1"/>
            <a:r>
              <a:rPr lang="en-US" noProof="0" dirty="0"/>
              <a:t>Segundo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2"/>
            <a:r>
              <a:rPr lang="en-US" noProof="0" dirty="0" err="1"/>
              <a:t>Tercer</a:t>
            </a:r>
            <a:r>
              <a:rPr lang="en-US" noProof="0" dirty="0"/>
              <a:t>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3"/>
            <a:r>
              <a:rPr lang="en-US" noProof="0" dirty="0"/>
              <a:t>Cuarto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4"/>
            <a:r>
              <a:rPr lang="en-US" noProof="0" dirty="0"/>
              <a:t>Quinto </a:t>
            </a:r>
            <a:r>
              <a:rPr lang="en-US" noProof="0" dirty="0" err="1"/>
              <a:t>nivel</a:t>
            </a:r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7A6E51-0CD4-140F-62B6-13D57D2B6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C9C05711-2932-7CE9-A907-A7A3C07629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44888" y="6269299"/>
            <a:ext cx="1447646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Name | Event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900A15F-2709-FA39-0476-207F617E8B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71800" y="6000750"/>
            <a:ext cx="1447800" cy="6016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Extra logo</a:t>
            </a: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197C62F9-5A91-BB8A-ADAA-A4805F11B5B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314241" y="1514475"/>
            <a:ext cx="5274100" cy="466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err="1"/>
              <a:t>Editar</a:t>
            </a:r>
            <a:r>
              <a:rPr lang="en-US" noProof="0" dirty="0"/>
              <a:t> </a:t>
            </a:r>
            <a:r>
              <a:rPr lang="en-US" noProof="0" dirty="0" err="1"/>
              <a:t>el</a:t>
            </a:r>
            <a:r>
              <a:rPr lang="en-US" noProof="0" dirty="0"/>
              <a:t> </a:t>
            </a:r>
            <a:r>
              <a:rPr lang="en-US" noProof="0" dirty="0" err="1"/>
              <a:t>estilo</a:t>
            </a:r>
            <a:r>
              <a:rPr lang="en-US" noProof="0" dirty="0"/>
              <a:t> de </a:t>
            </a:r>
            <a:r>
              <a:rPr lang="en-US" noProof="0" dirty="0" err="1"/>
              <a:t>texto</a:t>
            </a:r>
            <a:r>
              <a:rPr lang="en-US" noProof="0" dirty="0"/>
              <a:t> del </a:t>
            </a:r>
            <a:r>
              <a:rPr lang="en-US" noProof="0" dirty="0" err="1"/>
              <a:t>patrón</a:t>
            </a:r>
            <a:endParaRPr lang="en-US" noProof="0" dirty="0"/>
          </a:p>
          <a:p>
            <a:pPr lvl="1"/>
            <a:r>
              <a:rPr lang="en-US" noProof="0" dirty="0"/>
              <a:t>Segundo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2"/>
            <a:r>
              <a:rPr lang="en-US" noProof="0" dirty="0" err="1"/>
              <a:t>Tercer</a:t>
            </a:r>
            <a:r>
              <a:rPr lang="en-US" noProof="0" dirty="0"/>
              <a:t>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3"/>
            <a:r>
              <a:rPr lang="en-US" noProof="0" dirty="0"/>
              <a:t>Cuarto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4"/>
            <a:r>
              <a:rPr lang="en-US" noProof="0" dirty="0"/>
              <a:t>Quinto </a:t>
            </a:r>
            <a:r>
              <a:rPr lang="en-US" noProof="0" dirty="0" err="1"/>
              <a:t>nivel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90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 err="1"/>
              <a:t>Haga</a:t>
            </a:r>
            <a:r>
              <a:rPr lang="en-US" noProof="0" dirty="0"/>
              <a:t> </a:t>
            </a:r>
            <a:r>
              <a:rPr lang="en-US" noProof="0" dirty="0" err="1"/>
              <a:t>clic</a:t>
            </a:r>
            <a:r>
              <a:rPr lang="en-US" noProof="0" dirty="0"/>
              <a:t> para </a:t>
            </a:r>
            <a:r>
              <a:rPr lang="en-US" noProof="0" dirty="0" err="1"/>
              <a:t>modificar</a:t>
            </a:r>
            <a:r>
              <a:rPr lang="en-US" noProof="0" dirty="0"/>
              <a:t> </a:t>
            </a:r>
            <a:r>
              <a:rPr lang="en-US" noProof="0" dirty="0" err="1"/>
              <a:t>el</a:t>
            </a:r>
            <a:r>
              <a:rPr lang="en-US" noProof="0" dirty="0"/>
              <a:t> </a:t>
            </a:r>
            <a:r>
              <a:rPr lang="en-US" noProof="0" dirty="0" err="1"/>
              <a:t>estilo</a:t>
            </a:r>
            <a:r>
              <a:rPr lang="en-US" noProof="0" dirty="0"/>
              <a:t> de </a:t>
            </a:r>
            <a:r>
              <a:rPr lang="en-US" noProof="0" dirty="0" err="1"/>
              <a:t>título</a:t>
            </a:r>
            <a:r>
              <a:rPr lang="en-US" noProof="0" dirty="0"/>
              <a:t> del </a:t>
            </a:r>
            <a:r>
              <a:rPr lang="en-US" noProof="0" dirty="0" err="1"/>
              <a:t>patrón</a:t>
            </a:r>
            <a:endParaRPr lang="en-US" noProof="0" dirty="0"/>
          </a:p>
        </p:txBody>
      </p:sp>
      <p:sp>
        <p:nvSpPr>
          <p:cNvPr id="8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95618" y="1569411"/>
            <a:ext cx="10996916" cy="456627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err="1"/>
              <a:t>Editar</a:t>
            </a:r>
            <a:r>
              <a:rPr lang="en-US" noProof="0" dirty="0"/>
              <a:t> </a:t>
            </a:r>
            <a:r>
              <a:rPr lang="en-US" noProof="0" dirty="0" err="1"/>
              <a:t>el</a:t>
            </a:r>
            <a:r>
              <a:rPr lang="en-US" noProof="0" dirty="0"/>
              <a:t> </a:t>
            </a:r>
            <a:r>
              <a:rPr lang="en-US" noProof="0" dirty="0" err="1"/>
              <a:t>estilo</a:t>
            </a:r>
            <a:r>
              <a:rPr lang="en-US" noProof="0" dirty="0"/>
              <a:t> de </a:t>
            </a:r>
            <a:r>
              <a:rPr lang="en-US" noProof="0" dirty="0" err="1"/>
              <a:t>texto</a:t>
            </a:r>
            <a:r>
              <a:rPr lang="en-US" noProof="0" dirty="0"/>
              <a:t> del </a:t>
            </a:r>
            <a:r>
              <a:rPr lang="en-US" noProof="0" dirty="0" err="1"/>
              <a:t>patrón</a:t>
            </a:r>
            <a:endParaRPr lang="en-US" noProof="0" dirty="0"/>
          </a:p>
          <a:p>
            <a:pPr lvl="1"/>
            <a:r>
              <a:rPr lang="en-US" noProof="0" dirty="0"/>
              <a:t>Segundo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2"/>
            <a:r>
              <a:rPr lang="en-US" noProof="0" dirty="0" err="1"/>
              <a:t>Tercer</a:t>
            </a:r>
            <a:r>
              <a:rPr lang="en-US" noProof="0" dirty="0"/>
              <a:t>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3"/>
            <a:r>
              <a:rPr lang="en-US" noProof="0" dirty="0"/>
              <a:t>Cuarto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4"/>
            <a:r>
              <a:rPr lang="en-US" noProof="0" dirty="0"/>
              <a:t>Quinto </a:t>
            </a:r>
            <a:r>
              <a:rPr lang="en-US" noProof="0" dirty="0" err="1"/>
              <a:t>nivel</a:t>
            </a:r>
            <a:endParaRPr lang="en-U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57275"/>
            <a:ext cx="12192000" cy="512763"/>
          </a:xfr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noProof="0" dirty="0" err="1"/>
              <a:t>Subtítulo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BA5BF-A525-A0A8-E244-1560363C21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C400B3-8858-8716-771D-5BB5B97067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44888" y="6269299"/>
            <a:ext cx="1447646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Name | Event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B628364E-52AA-F05F-CA21-D132EFF23A9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71800" y="6000750"/>
            <a:ext cx="1447800" cy="6016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Extra logo</a:t>
            </a:r>
          </a:p>
        </p:txBody>
      </p:sp>
    </p:spTree>
    <p:extLst>
      <p:ext uri="{BB962C8B-B14F-4D97-AF65-F5344CB8AC3E}">
        <p14:creationId xmlns:p14="http://schemas.microsoft.com/office/powerpoint/2010/main" val="181729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subtítulo y 2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 err="1"/>
              <a:t>Haga</a:t>
            </a:r>
            <a:r>
              <a:rPr lang="en-US" noProof="0" dirty="0"/>
              <a:t> </a:t>
            </a:r>
            <a:r>
              <a:rPr lang="en-US" noProof="0" dirty="0" err="1"/>
              <a:t>clic</a:t>
            </a:r>
            <a:r>
              <a:rPr lang="en-US" noProof="0" dirty="0"/>
              <a:t> para </a:t>
            </a:r>
            <a:r>
              <a:rPr lang="en-US" noProof="0" dirty="0" err="1"/>
              <a:t>modificar</a:t>
            </a:r>
            <a:r>
              <a:rPr lang="en-US" noProof="0" dirty="0"/>
              <a:t> </a:t>
            </a:r>
            <a:r>
              <a:rPr lang="en-US" noProof="0" dirty="0" err="1"/>
              <a:t>el</a:t>
            </a:r>
            <a:r>
              <a:rPr lang="en-US" noProof="0" dirty="0"/>
              <a:t> </a:t>
            </a:r>
            <a:r>
              <a:rPr lang="en-US" noProof="0" dirty="0" err="1"/>
              <a:t>estilo</a:t>
            </a:r>
            <a:r>
              <a:rPr lang="en-US" noProof="0" dirty="0"/>
              <a:t> de </a:t>
            </a:r>
            <a:r>
              <a:rPr lang="en-US" noProof="0" dirty="0" err="1"/>
              <a:t>título</a:t>
            </a:r>
            <a:r>
              <a:rPr lang="en-US" noProof="0" dirty="0"/>
              <a:t> del </a:t>
            </a:r>
            <a:r>
              <a:rPr lang="en-US" noProof="0" dirty="0" err="1"/>
              <a:t>patrón</a:t>
            </a:r>
            <a:endParaRPr lang="en-US" noProof="0" dirty="0"/>
          </a:p>
        </p:txBody>
      </p:sp>
      <p:sp>
        <p:nvSpPr>
          <p:cNvPr id="8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95618" y="1569411"/>
            <a:ext cx="5282139" cy="456627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err="1"/>
              <a:t>Editar</a:t>
            </a:r>
            <a:r>
              <a:rPr lang="en-US" noProof="0" dirty="0"/>
              <a:t> </a:t>
            </a:r>
            <a:r>
              <a:rPr lang="en-US" noProof="0" dirty="0" err="1"/>
              <a:t>el</a:t>
            </a:r>
            <a:r>
              <a:rPr lang="en-US" noProof="0" dirty="0"/>
              <a:t> </a:t>
            </a:r>
            <a:r>
              <a:rPr lang="en-US" noProof="0" dirty="0" err="1"/>
              <a:t>estilo</a:t>
            </a:r>
            <a:r>
              <a:rPr lang="en-US" noProof="0" dirty="0"/>
              <a:t> de </a:t>
            </a:r>
            <a:r>
              <a:rPr lang="en-US" noProof="0" dirty="0" err="1"/>
              <a:t>texto</a:t>
            </a:r>
            <a:r>
              <a:rPr lang="en-US" noProof="0" dirty="0"/>
              <a:t> del </a:t>
            </a:r>
            <a:r>
              <a:rPr lang="en-US" noProof="0" dirty="0" err="1"/>
              <a:t>patrón</a:t>
            </a:r>
            <a:endParaRPr lang="en-US" noProof="0" dirty="0"/>
          </a:p>
          <a:p>
            <a:pPr lvl="1"/>
            <a:r>
              <a:rPr lang="en-US" noProof="0" dirty="0"/>
              <a:t>Segundo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2"/>
            <a:r>
              <a:rPr lang="en-US" noProof="0" dirty="0" err="1"/>
              <a:t>Tercer</a:t>
            </a:r>
            <a:r>
              <a:rPr lang="en-US" noProof="0" dirty="0"/>
              <a:t>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3"/>
            <a:r>
              <a:rPr lang="en-US" noProof="0" dirty="0"/>
              <a:t>Cuarto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4"/>
            <a:r>
              <a:rPr lang="en-US" noProof="0" dirty="0"/>
              <a:t>Quinto </a:t>
            </a:r>
            <a:r>
              <a:rPr lang="en-US" noProof="0" dirty="0" err="1"/>
              <a:t>nivel</a:t>
            </a:r>
            <a:endParaRPr lang="en-U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57275"/>
            <a:ext cx="12192000" cy="512763"/>
          </a:xfrm>
        </p:spPr>
        <p:txBody>
          <a:bodyPr/>
          <a:lstStyle>
            <a:lvl1pPr marL="0" indent="0" algn="ctr">
              <a:buNone/>
              <a:defRPr b="1"/>
            </a:lvl1pPr>
          </a:lstStyle>
          <a:p>
            <a:pPr lvl="0"/>
            <a:r>
              <a:rPr lang="en-US" noProof="0" dirty="0" err="1"/>
              <a:t>Subtítulo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BA5BF-A525-A0A8-E244-1560363C21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C400B3-8858-8716-771D-5BB5B97067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44888" y="6269299"/>
            <a:ext cx="1447646" cy="3651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Name | Event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B628364E-52AA-F05F-CA21-D132EFF23A9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971800" y="6000750"/>
            <a:ext cx="1447800" cy="6016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Extra logo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B5A1DD2F-9BD1-A7F2-757B-24F7F9259D0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316460" y="1569411"/>
            <a:ext cx="5282139" cy="456627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 err="1"/>
              <a:t>Editar</a:t>
            </a:r>
            <a:r>
              <a:rPr lang="en-US" noProof="0" dirty="0"/>
              <a:t> </a:t>
            </a:r>
            <a:r>
              <a:rPr lang="en-US" noProof="0" dirty="0" err="1"/>
              <a:t>el</a:t>
            </a:r>
            <a:r>
              <a:rPr lang="en-US" noProof="0" dirty="0"/>
              <a:t> </a:t>
            </a:r>
            <a:r>
              <a:rPr lang="en-US" noProof="0" dirty="0" err="1"/>
              <a:t>estilo</a:t>
            </a:r>
            <a:r>
              <a:rPr lang="en-US" noProof="0" dirty="0"/>
              <a:t> de </a:t>
            </a:r>
            <a:r>
              <a:rPr lang="en-US" noProof="0" dirty="0" err="1"/>
              <a:t>texto</a:t>
            </a:r>
            <a:r>
              <a:rPr lang="en-US" noProof="0" dirty="0"/>
              <a:t> del </a:t>
            </a:r>
            <a:r>
              <a:rPr lang="en-US" noProof="0" dirty="0" err="1"/>
              <a:t>patrón</a:t>
            </a:r>
            <a:endParaRPr lang="en-US" noProof="0" dirty="0"/>
          </a:p>
          <a:p>
            <a:pPr lvl="1"/>
            <a:r>
              <a:rPr lang="en-US" noProof="0" dirty="0"/>
              <a:t>Segundo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2"/>
            <a:r>
              <a:rPr lang="en-US" noProof="0" dirty="0" err="1"/>
              <a:t>Tercer</a:t>
            </a:r>
            <a:r>
              <a:rPr lang="en-US" noProof="0" dirty="0"/>
              <a:t>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3"/>
            <a:r>
              <a:rPr lang="en-US" noProof="0" dirty="0"/>
              <a:t>Cuarto </a:t>
            </a:r>
            <a:r>
              <a:rPr lang="en-US" noProof="0" dirty="0" err="1"/>
              <a:t>nivel</a:t>
            </a:r>
            <a:endParaRPr lang="en-US" noProof="0" dirty="0"/>
          </a:p>
          <a:p>
            <a:pPr lvl="4"/>
            <a:r>
              <a:rPr lang="en-US" noProof="0" dirty="0"/>
              <a:t>Quinto </a:t>
            </a:r>
            <a:r>
              <a:rPr lang="en-US" noProof="0" dirty="0" err="1"/>
              <a:t>nivel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072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3658" y="3028528"/>
            <a:ext cx="10984684" cy="800945"/>
          </a:xfrm>
        </p:spPr>
        <p:txBody>
          <a:bodyPr/>
          <a:lstStyle>
            <a:lvl1pPr>
              <a:defRPr/>
            </a:lvl1pPr>
          </a:lstStyle>
          <a:p>
            <a:endParaRPr lang="en-US" noProof="0" dirty="0"/>
          </a:p>
        </p:txBody>
      </p:sp>
      <p:sp>
        <p:nvSpPr>
          <p:cNvPr id="3" name="Picture Placeholder 24">
            <a:extLst>
              <a:ext uri="{FF2B5EF4-FFF2-40B4-BE49-F238E27FC236}">
                <a16:creationId xmlns:a16="http://schemas.microsoft.com/office/drawing/2014/main" id="{392059CB-3375-99ED-602B-18DE567B4E9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55605" y="5031684"/>
            <a:ext cx="2280790" cy="62422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Extra Logo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81A38-A801-E95D-A115-67FF91EBE1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5738" y="141288"/>
            <a:ext cx="2273300" cy="3921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5E31040-658A-256A-8D0C-DE4E81F722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32962" y="97632"/>
            <a:ext cx="2273300" cy="39211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GB" dirty="0"/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426792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4064000" y="6095686"/>
            <a:ext cx="8128000" cy="48753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63889" y="1631730"/>
            <a:ext cx="6702593" cy="299882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8000" b="1">
                <a:solidFill>
                  <a:srgbClr val="004890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3889" y="4900141"/>
            <a:ext cx="6702593" cy="822742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noProof="0" dirty="0"/>
          </a:p>
        </p:txBody>
      </p:sp>
      <p:sp>
        <p:nvSpPr>
          <p:cNvPr id="13" name="Rectángulo 12"/>
          <p:cNvSpPr/>
          <p:nvPr userDrawn="1"/>
        </p:nvSpPr>
        <p:spPr>
          <a:xfrm>
            <a:off x="1" y="6095686"/>
            <a:ext cx="4064000" cy="487533"/>
          </a:xfrm>
          <a:prstGeom prst="rect">
            <a:avLst/>
          </a:prstGeom>
          <a:solidFill>
            <a:srgbClr val="00489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chemeClr val="bg1"/>
              </a:solidFill>
            </a:endParaRPr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11" hasCustomPrompt="1"/>
          </p:nvPr>
        </p:nvSpPr>
        <p:spPr>
          <a:xfrm>
            <a:off x="4963888" y="6095685"/>
            <a:ext cx="6702595" cy="4875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>
                <a:solidFill>
                  <a:srgbClr val="004890"/>
                </a:solidFill>
              </a:defRPr>
            </a:lvl1pPr>
          </a:lstStyle>
          <a:p>
            <a:pPr lvl="0"/>
            <a:r>
              <a:rPr lang="en-US" noProof="0" dirty="0"/>
              <a:t>YourEmail@bsc.es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328BC22-2B62-812E-E91E-5157A65514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443883"/>
            <a:ext cx="4064000" cy="88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2F4A5FD0-775E-8E5B-EFC3-BC25FF2BE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242425" y="444500"/>
            <a:ext cx="2424113" cy="8810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Extra Logo</a:t>
            </a:r>
          </a:p>
        </p:txBody>
      </p:sp>
      <p:sp>
        <p:nvSpPr>
          <p:cNvPr id="4" name="Marcador de texto 14">
            <a:extLst>
              <a:ext uri="{FF2B5EF4-FFF2-40B4-BE49-F238E27FC236}">
                <a16:creationId xmlns:a16="http://schemas.microsoft.com/office/drawing/2014/main" id="{25DD9789-957B-B180-3394-1B747ED696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5968" y="6095686"/>
            <a:ext cx="3255433" cy="48753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1516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0" y="256068"/>
            <a:ext cx="12192000" cy="8009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0"/>
              <a:t>Haga</a:t>
            </a:r>
            <a:r>
              <a:rPr lang="en-US" noProof="0" dirty="0"/>
              <a:t> </a:t>
            </a:r>
            <a:r>
              <a:rPr lang="en-US" noProof="0" dirty="0" err="1"/>
              <a:t>clic</a:t>
            </a:r>
            <a:r>
              <a:rPr lang="en-US" noProof="0" dirty="0"/>
              <a:t> para </a:t>
            </a:r>
            <a:r>
              <a:rPr lang="en-US" noProof="0" dirty="0" err="1"/>
              <a:t>modificar</a:t>
            </a:r>
            <a:r>
              <a:rPr lang="en-US" noProof="0" dirty="0"/>
              <a:t> </a:t>
            </a:r>
            <a:r>
              <a:rPr lang="en-US" noProof="0" dirty="0" err="1"/>
              <a:t>el</a:t>
            </a:r>
            <a:r>
              <a:rPr lang="en-US" noProof="0" dirty="0"/>
              <a:t> </a:t>
            </a:r>
            <a:r>
              <a:rPr lang="en-US" noProof="0" dirty="0" err="1"/>
              <a:t>estilo</a:t>
            </a:r>
            <a:r>
              <a:rPr lang="en-US" noProof="0" dirty="0"/>
              <a:t> de </a:t>
            </a:r>
            <a:r>
              <a:rPr lang="en-US" noProof="0" dirty="0" err="1"/>
              <a:t>título</a:t>
            </a:r>
            <a:r>
              <a:rPr lang="en-US" noProof="0" dirty="0"/>
              <a:t> del </a:t>
            </a:r>
            <a:r>
              <a:rPr lang="en-US" noProof="0" dirty="0" err="1"/>
              <a:t>patrón</a:t>
            </a:r>
            <a:endParaRPr lang="en-U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3657" y="1514475"/>
            <a:ext cx="10984685" cy="466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656D1-C880-27CC-59AE-14156C16B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77757" y="6269300"/>
            <a:ext cx="436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441BF-5F25-472C-890A-B3E0CFED072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396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9" r:id="rId3"/>
    <p:sldLayoutId id="2147483677" r:id="rId4"/>
    <p:sldLayoutId id="2147483680" r:id="rId5"/>
    <p:sldLayoutId id="2147483675" r:id="rId6"/>
    <p:sldLayoutId id="2147483673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24484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7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2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7.png"/><Relationship Id="rId5" Type="http://schemas.openxmlformats.org/officeDocument/2006/relationships/image" Target="../media/image34.png"/><Relationship Id="rId4" Type="http://schemas.openxmlformats.org/officeDocument/2006/relationships/notesSlide" Target="../notesSlides/notesSlide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DDB6E1B2-A237-B556-3959-419350984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3889" y="1127233"/>
            <a:ext cx="6702593" cy="1797270"/>
          </a:xfrm>
        </p:spPr>
        <p:txBody>
          <a:bodyPr/>
          <a:lstStyle/>
          <a:p>
            <a:r>
              <a:rPr lang="en-GB" sz="6600" u="sng" dirty="0"/>
              <a:t>EMWAVE</a:t>
            </a:r>
            <a:endParaRPr lang="en-GB" u="sng" dirty="0"/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7A4166E1-E10E-F94E-51E1-A8745A61E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63889" y="2491334"/>
            <a:ext cx="7228111" cy="1677897"/>
          </a:xfrm>
        </p:spPr>
        <p:txBody>
          <a:bodyPr/>
          <a:lstStyle/>
          <a:p>
            <a:r>
              <a:rPr lang="en-GB" sz="4400" dirty="0">
                <a:solidFill>
                  <a:srgbClr val="2F3D55"/>
                </a:solidFill>
              </a:rPr>
              <a:t>FEM code to simulate EM wave propagation in magnetically confined plasma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508844F-7B16-4472-C3FF-886C1438C9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5968" y="6095686"/>
            <a:ext cx="3255433" cy="487533"/>
          </a:xfrm>
        </p:spPr>
        <p:txBody>
          <a:bodyPr>
            <a:normAutofit/>
          </a:bodyPr>
          <a:lstStyle/>
          <a:p>
            <a:r>
              <a:rPr lang="en-GB" dirty="0"/>
              <a:t>27/10/2025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1"/>
          </p:nvPr>
        </p:nvSpPr>
        <p:spPr>
          <a:xfrm>
            <a:off x="4963888" y="6095685"/>
            <a:ext cx="6702595" cy="487533"/>
          </a:xfrm>
        </p:spPr>
        <p:txBody>
          <a:bodyPr>
            <a:normAutofit/>
          </a:bodyPr>
          <a:lstStyle/>
          <a:p>
            <a:r>
              <a:rPr lang="en-GB" dirty="0"/>
              <a:t>PhD Research Plan Defence 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5BE79027-FC9A-B18E-BC9A-5B82CAE9A265}"/>
              </a:ext>
            </a:extLst>
          </p:cNvPr>
          <p:cNvSpPr txBox="1">
            <a:spLocks/>
          </p:cNvSpPr>
          <p:nvPr/>
        </p:nvSpPr>
        <p:spPr>
          <a:xfrm>
            <a:off x="4963888" y="4285163"/>
            <a:ext cx="6702593" cy="1797270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GB" sz="1600" dirty="0">
                <a:solidFill>
                  <a:srgbClr val="7F7F7F"/>
                </a:solidFill>
              </a:rPr>
              <a:t>PhD in Nuclear and Ionising Radiation Engineering</a:t>
            </a:r>
          </a:p>
          <a:p>
            <a:pPr>
              <a:spcBef>
                <a:spcPts val="600"/>
              </a:spcBef>
            </a:pPr>
            <a:r>
              <a:rPr lang="en-GB" sz="2800" b="1" dirty="0"/>
              <a:t>Hernán Domingo Ramos</a:t>
            </a:r>
            <a:endParaRPr lang="en-GB" sz="2800" b="1" baseline="30000" dirty="0"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ea typeface="Calibri"/>
                <a:cs typeface="Calibri"/>
              </a:rPr>
              <a:t>Directors:			Tutor:</a:t>
            </a:r>
          </a:p>
          <a:p>
            <a:pPr>
              <a:spcBef>
                <a:spcPts val="600"/>
              </a:spcBef>
            </a:pP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ea typeface="Calibri"/>
                <a:cs typeface="Calibri"/>
              </a:rPr>
              <a:t>Dani </a:t>
            </a:r>
            <a:r>
              <a:rPr lang="en-GB" sz="2000" dirty="0">
                <a:solidFill>
                  <a:srgbClr val="7F7F7F"/>
                </a:solidFill>
                <a:ea typeface="Calibri"/>
                <a:cs typeface="Calibri"/>
              </a:rPr>
              <a:t>Gallart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ea typeface="Calibri"/>
                <a:cs typeface="Calibri"/>
              </a:rPr>
              <a:t>, Alejandro Soba	</a:t>
            </a:r>
            <a:r>
              <a:rPr lang="en-GB" sz="2000" dirty="0" err="1">
                <a:solidFill>
                  <a:schemeClr val="tx1">
                    <a:lumMod val="50000"/>
                    <a:lumOff val="50000"/>
                  </a:schemeClr>
                </a:solidFill>
                <a:ea typeface="Calibri"/>
                <a:cs typeface="Calibri"/>
              </a:rPr>
              <a:t>Lluís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ea typeface="Calibri"/>
                <a:cs typeface="Calibri"/>
              </a:rPr>
              <a:t> </a:t>
            </a:r>
            <a:r>
              <a:rPr lang="en-GB" sz="2000" dirty="0" err="1">
                <a:solidFill>
                  <a:schemeClr val="tx1">
                    <a:lumMod val="50000"/>
                    <a:lumOff val="50000"/>
                  </a:schemeClr>
                </a:solidFill>
                <a:ea typeface="Calibri"/>
                <a:cs typeface="Calibri"/>
              </a:rPr>
              <a:t>Batet</a:t>
            </a:r>
            <a:endParaRPr lang="en-GB" sz="2400" baseline="30000" dirty="0">
              <a:solidFill>
                <a:schemeClr val="tx1">
                  <a:lumMod val="50000"/>
                  <a:lumOff val="5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21" name="Picture Placeholder 20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3426F86C-A373-D10A-D719-27669D042C0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1" b="814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7245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A895-1F46-1AB9-40E9-36541A49F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C9141-E6AF-3EFC-8860-3D7C2F100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200" dirty="0"/>
              <a:t>Motivation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200" dirty="0"/>
              <a:t>State of the Art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200" dirty="0"/>
              <a:t>Goals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200" dirty="0"/>
              <a:t>Work plan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200" dirty="0"/>
              <a:t>Work done so far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200" dirty="0"/>
              <a:t>Journal and Conferences</a:t>
            </a: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en-GB" sz="3200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49716-5DCE-40A9-7833-CE901B74E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8E441BF-5F25-472C-890A-B3E0CFED072E}" type="slidenum">
              <a:rPr lang="en-GB" smtClean="0"/>
              <a:pPr algn="ctr"/>
              <a:t>2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35FAE-FB31-1EE3-22A3-558E17282B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29473" y="6269299"/>
            <a:ext cx="4804792" cy="365125"/>
          </a:xfrm>
        </p:spPr>
        <p:txBody>
          <a:bodyPr>
            <a:normAutofit/>
          </a:bodyPr>
          <a:lstStyle/>
          <a:p>
            <a:r>
              <a:rPr lang="en-GB" dirty="0"/>
              <a:t>Hernán Domingo | PhD Research Plan Defence</a:t>
            </a:r>
          </a:p>
        </p:txBody>
      </p:sp>
      <p:pic>
        <p:nvPicPr>
          <p:cNvPr id="18" name="Picture Placeholder 1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F8B8EAC2-03B3-71E3-47DB-BEE2425FF52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9" b="2139"/>
          <a:stretch>
            <a:fillRect/>
          </a:stretch>
        </p:blipFill>
        <p:spPr/>
      </p:pic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8A7AF8F-0E86-3EF9-21E7-E787FF3E7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473" y="2338668"/>
            <a:ext cx="3004857" cy="300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44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6A4C38-8676-7137-00CD-5953209A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Motivation</a:t>
            </a:r>
            <a:endParaRPr lang="es-E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A77C7D7-101A-2197-5327-C1C0145594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93B6A-E546-E4C9-4ABA-93AFAD27AE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4EC585-7123-4879-64CA-14B6D2EBBB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0400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4A5E8C5E-E385-BA76-83D4-4DD2FDF463AE}"/>
              </a:ext>
            </a:extLst>
          </p:cNvPr>
          <p:cNvSpPr/>
          <p:nvPr/>
        </p:nvSpPr>
        <p:spPr>
          <a:xfrm>
            <a:off x="564777" y="3953435"/>
            <a:ext cx="726142" cy="1586753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E77A2-4BF0-7F2C-BC6A-A5CB036E1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fusion?</a:t>
            </a:r>
          </a:p>
        </p:txBody>
      </p:sp>
      <p:pic>
        <p:nvPicPr>
          <p:cNvPr id="8" name="Content Placeholder 7" descr="A black screen with white dots&#10;&#10;AI-generated content may be incorrect.">
            <a:extLst>
              <a:ext uri="{FF2B5EF4-FFF2-40B4-BE49-F238E27FC236}">
                <a16:creationId xmlns:a16="http://schemas.microsoft.com/office/drawing/2014/main" id="{CA521D99-A3BC-C17A-AC57-DDBB17AD9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28" y="1428326"/>
            <a:ext cx="6692567" cy="439854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D07C0-7359-3CD4-3F35-CB1EC422E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4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27921-3EA2-717D-FDBA-026599EDC5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93029" y="6269299"/>
            <a:ext cx="3899506" cy="365125"/>
          </a:xfrm>
        </p:spPr>
        <p:txBody>
          <a:bodyPr>
            <a:normAutofit fontScale="92500"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pic>
        <p:nvPicPr>
          <p:cNvPr id="9" name="Picture Placeholder 1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EC24AB65-6313-10AD-0FA6-3488B321555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0ADCC78-32AA-3E3F-3F1B-9096359CDF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028" y="1427668"/>
            <a:ext cx="3666000" cy="43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86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B46A106-8848-1B23-5D24-0E950E62844B}"/>
              </a:ext>
            </a:extLst>
          </p:cNvPr>
          <p:cNvSpPr/>
          <p:nvPr/>
        </p:nvSpPr>
        <p:spPr>
          <a:xfrm>
            <a:off x="425773" y="1633169"/>
            <a:ext cx="4056582" cy="41974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6A97C40-13BF-1B58-2FAF-7336A469D90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502" y="1633169"/>
            <a:ext cx="4515392" cy="38960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A55F97-168A-4A27-E053-98E3D30F6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fusion?</a:t>
            </a:r>
          </a:p>
        </p:txBody>
      </p:sp>
      <p:pic>
        <p:nvPicPr>
          <p:cNvPr id="14" name="Content Placeholder 13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73FE181D-2708-B5C1-D87B-E54115829A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757" y="1161645"/>
            <a:ext cx="6498225" cy="48391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8EA20-748A-9F25-CAFC-C82771D76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5</a:t>
            </a:fld>
            <a:endParaRPr lang="en-GB" dirty="0"/>
          </a:p>
        </p:txBody>
      </p:sp>
      <p:pic>
        <p:nvPicPr>
          <p:cNvPr id="11" name="Picture Placeholder 1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1691E377-D093-0356-6FFA-A8276C0F649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CD837B3-9234-AE73-8487-15095B22D9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73153" y="6269038"/>
            <a:ext cx="4518772" cy="365125"/>
          </a:xfrm>
        </p:spPr>
        <p:txBody>
          <a:bodyPr>
            <a:norm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7240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0728-C075-69A7-B1A8-0E99DC251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8A9C-1B19-9F16-6111-57B180B2B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How</a:t>
            </a:r>
            <a:r>
              <a:rPr lang="es-ES" dirty="0"/>
              <a:t> do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heat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plasma?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F233F-23B4-CA7F-A561-FFAA840EBC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8E441BF-5F25-472C-890A-B3E0CFED072E}" type="slidenum">
              <a:rPr lang="es-ES" smtClean="0"/>
              <a:pPr algn="ctr"/>
              <a:t>6</a:t>
            </a:fld>
            <a:endParaRPr lang="es-E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7FEDBB6-327E-2D6A-CDBD-3353F1AE9D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15150" y="6269038"/>
            <a:ext cx="4676775" cy="365125"/>
          </a:xfrm>
        </p:spPr>
        <p:txBody>
          <a:bodyPr>
            <a:no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BBB14-71C3-368E-10CE-0ED0D588C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58" y="1514475"/>
            <a:ext cx="4263617" cy="4662488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4800"/>
              </a:spcBef>
            </a:pPr>
            <a:r>
              <a:rPr lang="en-US" b="1" dirty="0"/>
              <a:t>Joule effect</a:t>
            </a:r>
            <a:r>
              <a:rPr lang="en-US" dirty="0"/>
              <a:t>: Charges move due to induced current. Elastic (Coulomb) and stochastic collisions raise the temperature. Resistivity decreases, reducing the heating effect.</a:t>
            </a:r>
          </a:p>
          <a:p>
            <a:pPr algn="just">
              <a:spcBef>
                <a:spcPts val="4800"/>
              </a:spcBef>
            </a:pPr>
            <a:r>
              <a:rPr lang="es-ES" b="1" dirty="0"/>
              <a:t>NBI</a:t>
            </a:r>
            <a:r>
              <a:rPr lang="es-ES" dirty="0"/>
              <a:t>: </a:t>
            </a:r>
            <a:r>
              <a:rPr lang="en-US" dirty="0"/>
              <a:t>Neutral particle beam gets ionised and deposits energy and momentum at a desired location. It can be used to drive current.</a:t>
            </a:r>
          </a:p>
          <a:p>
            <a:pPr algn="just">
              <a:spcBef>
                <a:spcPts val="4800"/>
              </a:spcBef>
            </a:pPr>
            <a:r>
              <a:rPr lang="en-US" b="1" dirty="0"/>
              <a:t>ICRH and ECRH</a:t>
            </a:r>
            <a:r>
              <a:rPr lang="en-US" dirty="0"/>
              <a:t>: Cyclotron resonance heating. Ions resonate in the range of MHz, while electrons resonate in the range of GHz.</a:t>
            </a:r>
            <a:endParaRPr lang="es-ES" dirty="0"/>
          </a:p>
        </p:txBody>
      </p:sp>
      <p:pic>
        <p:nvPicPr>
          <p:cNvPr id="6" name="Picture 5" descr="ICRH antenna for Wendelstein 7-x">
            <a:extLst>
              <a:ext uri="{FF2B5EF4-FFF2-40B4-BE49-F238E27FC236}">
                <a16:creationId xmlns:a16="http://schemas.microsoft.com/office/drawing/2014/main" id="{DD371C91-8F98-B940-0359-70B23080B38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714" y="1477359"/>
            <a:ext cx="3240000" cy="4320000"/>
          </a:xfrm>
          <a:prstGeom prst="rect">
            <a:avLst/>
          </a:prstGeom>
        </p:spPr>
      </p:pic>
      <p:pic>
        <p:nvPicPr>
          <p:cNvPr id="13" name="Picture 12" descr="A close-up of a metal door&#10;&#10;AI-generated content may be incorrect.">
            <a:extLst>
              <a:ext uri="{FF2B5EF4-FFF2-40B4-BE49-F238E27FC236}">
                <a16:creationId xmlns:a16="http://schemas.microsoft.com/office/drawing/2014/main" id="{712480ED-69CE-A37D-C42E-9D9857E2DC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54" y="1477359"/>
            <a:ext cx="2885818" cy="4320000"/>
          </a:xfrm>
          <a:prstGeom prst="rect">
            <a:avLst/>
          </a:prstGeom>
        </p:spPr>
      </p:pic>
      <p:pic>
        <p:nvPicPr>
          <p:cNvPr id="10" name="Picture Placeholder 9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DEE15556-802A-4F62-3628-88B93BD9E1C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9" b="2139"/>
          <a:stretch>
            <a:fillRect/>
          </a:stretch>
        </p:blipFill>
        <p:spPr/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E762D4-8A79-EA3F-772F-E1DB0145E81F}"/>
              </a:ext>
            </a:extLst>
          </p:cNvPr>
          <p:cNvSpPr txBox="1"/>
          <p:nvPr/>
        </p:nvSpPr>
        <p:spPr>
          <a:xfrm>
            <a:off x="5134737" y="5797359"/>
            <a:ext cx="32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ICRH antenna for </a:t>
            </a:r>
            <a:r>
              <a:rPr lang="en-GB" sz="1200" i="1" dirty="0" err="1"/>
              <a:t>Wendelstein</a:t>
            </a:r>
            <a:r>
              <a:rPr lang="en-GB" sz="1200" i="1" dirty="0"/>
              <a:t> 7-X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961AFD-5C7F-A8ED-0B60-3E86868DD5FD}"/>
              </a:ext>
            </a:extLst>
          </p:cNvPr>
          <p:cNvSpPr txBox="1"/>
          <p:nvPr/>
        </p:nvSpPr>
        <p:spPr>
          <a:xfrm>
            <a:off x="8731176" y="5797359"/>
            <a:ext cx="324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ICRH antenna for WEST</a:t>
            </a:r>
          </a:p>
        </p:txBody>
      </p:sp>
    </p:spTree>
    <p:extLst>
      <p:ext uri="{BB962C8B-B14F-4D97-AF65-F5344CB8AC3E}">
        <p14:creationId xmlns:p14="http://schemas.microsoft.com/office/powerpoint/2010/main" val="323222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753C22-C6AF-A11A-1AC3-4AD0DE5E2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093" y="2088776"/>
            <a:ext cx="7753813" cy="38196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C572E9-3BFA-D152-D03E-0F086FA26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Fusion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9F7AC-4987-F3D8-CB99-2E26F13CB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Nuclear Fusion Reactors are complex devices and present multi-physics coupled problems [1]: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F9547-091F-9A7E-06D8-DD095CCBC9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7</a:t>
            </a:fld>
            <a:endParaRPr lang="en-GB" dirty="0"/>
          </a:p>
        </p:txBody>
      </p:sp>
      <p:pic>
        <p:nvPicPr>
          <p:cNvPr id="5" name="Picture Placeholder 9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FEAE2B85-34DA-8E64-7DCA-E9F81E929CA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9" b="2139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AAD5702-6D62-4F8A-B47F-4DBFF57313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84950" y="6269038"/>
            <a:ext cx="5495925" cy="457200"/>
          </a:xfrm>
        </p:spPr>
        <p:txBody>
          <a:bodyPr>
            <a:norm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6986E-C144-5F82-745C-F085D37FECB5}"/>
              </a:ext>
            </a:extLst>
          </p:cNvPr>
          <p:cNvSpPr txBox="1"/>
          <p:nvPr/>
        </p:nvSpPr>
        <p:spPr>
          <a:xfrm>
            <a:off x="2172171" y="5836741"/>
            <a:ext cx="8284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</a:rPr>
              <a:t>Garcia-</a:t>
            </a:r>
            <a:r>
              <a:rPr lang="en-GB" sz="1200" b="0" i="0" dirty="0" err="1">
                <a:solidFill>
                  <a:srgbClr val="222222"/>
                </a:solidFill>
                <a:effectLst/>
                <a:latin typeface="-apple-system"/>
              </a:rPr>
              <a:t>Gasulla</a:t>
            </a:r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</a:rPr>
              <a:t>, M., Mantsinen, M.J. Challenges and opportunities in exascale fusion simulations. </a:t>
            </a:r>
            <a:r>
              <a:rPr lang="en-GB" sz="1200" b="0" i="1" dirty="0">
                <a:solidFill>
                  <a:srgbClr val="222222"/>
                </a:solidFill>
                <a:effectLst/>
                <a:latin typeface="-apple-system"/>
              </a:rPr>
              <a:t>Nat Rev Phys</a:t>
            </a:r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</a:rPr>
              <a:t> </a:t>
            </a:r>
            <a:r>
              <a:rPr lang="en-GB" sz="1200" b="1" i="0" dirty="0">
                <a:solidFill>
                  <a:srgbClr val="222222"/>
                </a:solidFill>
                <a:effectLst/>
                <a:latin typeface="-apple-system"/>
              </a:rPr>
              <a:t>7</a:t>
            </a:r>
            <a:r>
              <a:rPr lang="en-GB" sz="1200" b="0" i="0" dirty="0">
                <a:solidFill>
                  <a:srgbClr val="222222"/>
                </a:solidFill>
                <a:effectLst/>
                <a:latin typeface="-apple-system"/>
              </a:rPr>
              <a:t>, 355–364 (2025).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91501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02E20C-7913-ACB7-AF16-65E67B97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57" y="1267045"/>
            <a:ext cx="10984685" cy="466248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s-ES" b="1" dirty="0"/>
              <a:t>Alya </a:t>
            </a:r>
            <a:r>
              <a:rPr lang="es-ES" dirty="0"/>
              <a:t>[2]</a:t>
            </a:r>
            <a:r>
              <a:rPr lang="es-ES" b="1" dirty="0"/>
              <a:t> </a:t>
            </a:r>
            <a:r>
              <a:rPr lang="en-GB" dirty="0"/>
              <a:t>is a high-performance computational multi-physics code to solve engineering-coupled problems.</a:t>
            </a:r>
            <a:endParaRPr lang="es-ES" dirty="0"/>
          </a:p>
          <a:p>
            <a:pPr lvl="1"/>
            <a:r>
              <a:rPr lang="en-GB" dirty="0"/>
              <a:t>Written in Fortran and uses the Finite Element Method</a:t>
            </a:r>
          </a:p>
          <a:p>
            <a:pPr lvl="1"/>
            <a:r>
              <a:rPr lang="en-GB" dirty="0"/>
              <a:t>Parallelised code with excellent scalability</a:t>
            </a:r>
          </a:p>
          <a:p>
            <a:pPr lvl="1"/>
            <a:r>
              <a:rPr lang="en-US" dirty="0"/>
              <a:t>Early implementation on GPU multicore nodes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F51F56-D606-82DA-C802-1607B1F0B0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30506" y="6269300"/>
            <a:ext cx="5400000" cy="365125"/>
          </a:xfrm>
        </p:spPr>
        <p:txBody>
          <a:bodyPr>
            <a:norm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2B560A-EF43-631F-FAC4-4CAF9093FD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11232" y="2852624"/>
            <a:ext cx="5969537" cy="3012896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7DA174F-2616-6068-613D-F178DDD76B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8E441BF-5F25-472C-890A-B3E0CFED072E}" type="slidenum">
              <a:rPr lang="es-ES" smtClean="0"/>
              <a:pPr algn="ctr"/>
              <a:t>8</a:t>
            </a:fld>
            <a:endParaRPr lang="es-ES" dirty="0"/>
          </a:p>
        </p:txBody>
      </p:sp>
      <p:pic>
        <p:nvPicPr>
          <p:cNvPr id="8" name="Picture Placeholder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75BEBB2B-E289-DE62-D391-EA5E767A82F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9" b="2139"/>
          <a:stretch>
            <a:fillRect/>
          </a:stretch>
        </p:blipFill>
        <p:spPr/>
      </p:pic>
      <p:sp>
        <p:nvSpPr>
          <p:cNvPr id="2" name="Title 5">
            <a:extLst>
              <a:ext uri="{FF2B5EF4-FFF2-40B4-BE49-F238E27FC236}">
                <a16:creationId xmlns:a16="http://schemas.microsoft.com/office/drawing/2014/main" id="{FF28454C-AC47-017B-F565-2A42CC71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588"/>
            <a:ext cx="12192000" cy="801687"/>
          </a:xfrm>
        </p:spPr>
        <p:txBody>
          <a:bodyPr/>
          <a:lstStyle/>
          <a:p>
            <a:r>
              <a:rPr lang="en-GB" dirty="0"/>
              <a:t>What is </a:t>
            </a:r>
            <a:r>
              <a:rPr lang="en-GB" dirty="0" err="1"/>
              <a:t>Alya</a:t>
            </a:r>
            <a:r>
              <a:rPr lang="en-GB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92F4D-0C96-D58F-1A13-426DCA0868EF}"/>
              </a:ext>
            </a:extLst>
          </p:cNvPr>
          <p:cNvSpPr txBox="1"/>
          <p:nvPr/>
        </p:nvSpPr>
        <p:spPr>
          <a:xfrm>
            <a:off x="1966409" y="5835416"/>
            <a:ext cx="82591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Vázquez, M. et al.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Alya: Multiphysics engineering simulation toward exascale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. 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Jour </a:t>
            </a:r>
            <a:r>
              <a:rPr kumimoji="0" lang="en-GB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Comput</a:t>
            </a: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Sci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 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14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, 15-27 (2016).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003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B92283F-D04C-0DA6-4A90-95B39316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Alya4fusion?</a:t>
            </a:r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C02E20C-7913-ACB7-AF16-65E67B97C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57" y="1326216"/>
            <a:ext cx="10984685" cy="466248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s-ES" b="1" dirty="0"/>
              <a:t>Alya4fusion </a:t>
            </a:r>
            <a:r>
              <a:rPr lang="en-US" altLang="en-US" dirty="0">
                <a:latin typeface="Arial" panose="020B0604020202020204" pitchFamily="34" charset="0"/>
              </a:rPr>
              <a:t>aims to use some of the physics modules developed in Alya to simulate relevant processes in nuclear fusion reactors.</a:t>
            </a:r>
            <a:endParaRPr lang="es-E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F51F56-D606-82DA-C802-1607B1F0B0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30506" y="6269300"/>
            <a:ext cx="5400000" cy="365125"/>
          </a:xfrm>
        </p:spPr>
        <p:txBody>
          <a:bodyPr>
            <a:norm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7DA174F-2616-6068-613D-F178DDD76B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8E441BF-5F25-472C-890A-B3E0CFED072E}" type="slidenum">
              <a:rPr lang="es-ES" smtClean="0"/>
              <a:pPr algn="ctr"/>
              <a:t>9</a:t>
            </a:fld>
            <a:endParaRPr lang="es-E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4DEAFAF-D50C-F14D-DEB5-E5EF5597A1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4290" y="2201740"/>
            <a:ext cx="6663417" cy="3799009"/>
          </a:xfrm>
          <a:prstGeom prst="rect">
            <a:avLst/>
          </a:prstGeom>
        </p:spPr>
      </p:pic>
      <p:pic>
        <p:nvPicPr>
          <p:cNvPr id="10" name="Picture Placeholder 9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DEE7AD2D-D258-0830-71C0-A0FB17084D9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9" b="2139"/>
          <a:stretch>
            <a:fillRect/>
          </a:stretch>
        </p:blipFill>
        <p:spPr/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BA08CDB-C226-7B7B-080D-F8B5F9E5815F}"/>
              </a:ext>
            </a:extLst>
          </p:cNvPr>
          <p:cNvSpPr/>
          <p:nvPr/>
        </p:nvSpPr>
        <p:spPr>
          <a:xfrm>
            <a:off x="2981326" y="3009900"/>
            <a:ext cx="1065600" cy="1066799"/>
          </a:xfrm>
          <a:prstGeom prst="ellipse">
            <a:avLst/>
          </a:prstGeom>
          <a:solidFill>
            <a:srgbClr val="FF0000">
              <a:alpha val="5882"/>
            </a:srgb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683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3C0AC5C-3D3E-501D-5C79-A5DC1CB6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9BD33EA-CE24-00CF-CFD1-BFD8E4C2F5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7240" y="1331651"/>
                <a:ext cx="10984685" cy="466248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GB" dirty="0"/>
                  <a:t>Use of FEM to solve Maxwell’s equations in E-H formulation.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GB" dirty="0"/>
                  <a:t>3D </a:t>
                </a:r>
                <a:r>
                  <a:rPr lang="en-GB" b="1" dirty="0"/>
                  <a:t>2</a:t>
                </a:r>
                <a:r>
                  <a:rPr lang="en-GB" b="1" baseline="30000" dirty="0"/>
                  <a:t>nd</a:t>
                </a:r>
                <a:r>
                  <a:rPr lang="en-GB" b="1" dirty="0"/>
                  <a:t> </a:t>
                </a:r>
                <a:r>
                  <a:rPr lang="en-GB" dirty="0"/>
                  <a:t>order</a:t>
                </a:r>
                <a:r>
                  <a:rPr lang="en-GB" b="1" dirty="0"/>
                  <a:t> </a:t>
                </a:r>
                <a:r>
                  <a:rPr lang="en-GB" dirty="0" err="1"/>
                  <a:t>Nédélec</a:t>
                </a:r>
                <a:r>
                  <a:rPr lang="en-GB" dirty="0"/>
                  <a:t> elements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GB" dirty="0"/>
                  <a:t>Agnostic to geometry: Unstructured meshes for any device (tokamak, stellarator, linear…)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GB" dirty="0"/>
                  <a:t>Integrated in Alya: Massively parallelised and coupled with other modules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GB" dirty="0"/>
                  <a:t>Simulate real case scenarios: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GB" dirty="0"/>
                  <a:t>Realistic antenna designs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GB" dirty="0"/>
                  <a:t>Perform numerical experiments for a set of experimental or synthetic profiles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,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,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GB" dirty="0"/>
                  <a:t>…)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GB" dirty="0"/>
                  <a:t>Use a hot plasma model to account for absorption and resonances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GB" dirty="0"/>
                  <a:t>Extra: Wide region of applicability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GB" dirty="0"/>
                  <a:t>From the scrape-off layer to the core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GB" dirty="0"/>
                  <a:t>Injectors and waveguides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GB" dirty="0"/>
                  <a:t>A piece in a bigger framework: A push for a Digital Twin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99BD33EA-CE24-00CF-CFD1-BFD8E4C2F5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7240" y="1331651"/>
                <a:ext cx="10984685" cy="4662488"/>
              </a:xfrm>
              <a:blipFill>
                <a:blip r:embed="rId3"/>
                <a:stretch>
                  <a:fillRect l="-499" t="-13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314F1-1EAD-3BCA-0175-ECBCEDCA62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10</a:t>
            </a:fld>
            <a:endParaRPr lang="en-GB" dirty="0"/>
          </a:p>
        </p:txBody>
      </p:sp>
      <p:pic>
        <p:nvPicPr>
          <p:cNvPr id="12" name="Picture Placeholder 1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94042D05-ADEF-3747-278E-5782C037193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79F8BA9-1858-C956-2A9B-1CCBF9EA02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72398" y="6269038"/>
            <a:ext cx="3819527" cy="365125"/>
          </a:xfrm>
        </p:spPr>
        <p:txBody>
          <a:bodyPr>
            <a:normAutofit fontScale="92500"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9558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6A4C38-8676-7137-00CD-5953209A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State of the Art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A77C7D7-101A-2197-5327-C1C0145594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7AE45-F597-F458-C2DD-CD51691F3D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E58B7F-4658-F489-7AFE-F67F69C76F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9016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D584D-372D-915C-A268-98EBD7E1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B4ED7D4-6F28-1DE6-A8EE-BBABC5275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State of the Art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13B77E-AB33-A4B0-4E62-7C33AAEF2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57" y="1514475"/>
            <a:ext cx="10984685" cy="4572560"/>
          </a:xfrm>
        </p:spPr>
        <p:txBody>
          <a:bodyPr numCol="2">
            <a:normAutofit/>
          </a:bodyPr>
          <a:lstStyle/>
          <a:p>
            <a:pPr>
              <a:spcBef>
                <a:spcPts val="600"/>
              </a:spcBef>
            </a:pPr>
            <a:r>
              <a:rPr lang="en-GB" b="1" dirty="0"/>
              <a:t>Notable Codes</a:t>
            </a:r>
            <a:endParaRPr lang="en-GB" dirty="0"/>
          </a:p>
          <a:p>
            <a:pPr lvl="1">
              <a:spcBef>
                <a:spcPts val="200"/>
              </a:spcBef>
            </a:pPr>
            <a:r>
              <a:rPr lang="en-GB" dirty="0"/>
              <a:t>TORIC [3], TOPICA [4], SCENIC [6], PION [7], AORSA [8], ERMES [9], EVE [10], FEMIC [11] and FERMI [12]</a:t>
            </a:r>
            <a:endParaRPr lang="en-GB" b="1" dirty="0"/>
          </a:p>
          <a:p>
            <a:pPr>
              <a:spcBef>
                <a:spcPts val="600"/>
              </a:spcBef>
            </a:pPr>
            <a:r>
              <a:rPr lang="en-GB" b="1" dirty="0"/>
              <a:t>Existing Modelling Approaches</a:t>
            </a:r>
          </a:p>
          <a:p>
            <a:pPr lvl="1">
              <a:spcBef>
                <a:spcPts val="200"/>
              </a:spcBef>
            </a:pPr>
            <a:r>
              <a:rPr lang="en-GB" dirty="0"/>
              <a:t>Plasma-focused codes → detailed plasma, simplified SOL/antennas [3,6,7,8,10,11]</a:t>
            </a:r>
          </a:p>
          <a:p>
            <a:pPr lvl="1">
              <a:spcBef>
                <a:spcPts val="200"/>
              </a:spcBef>
            </a:pPr>
            <a:r>
              <a:rPr lang="en-GB" dirty="0"/>
              <a:t>Antenna-focused codes → detailed antennas, simplified plasma core [4,9]</a:t>
            </a:r>
          </a:p>
          <a:p>
            <a:pPr lvl="1">
              <a:spcBef>
                <a:spcPts val="200"/>
              </a:spcBef>
            </a:pPr>
            <a:r>
              <a:rPr lang="en-GB" dirty="0"/>
              <a:t>Hybrid/mode-matching approaches (e.g., FEM + TORIC) [5]</a:t>
            </a:r>
          </a:p>
          <a:p>
            <a:pPr>
              <a:spcBef>
                <a:spcPts val="600"/>
              </a:spcBef>
            </a:pPr>
            <a:r>
              <a:rPr lang="en-GB" b="1" dirty="0"/>
              <a:t>Current Limitations of Codes</a:t>
            </a:r>
            <a:endParaRPr lang="en-GB" dirty="0"/>
          </a:p>
          <a:p>
            <a:pPr lvl="1">
              <a:spcBef>
                <a:spcPts val="200"/>
              </a:spcBef>
            </a:pPr>
            <a:r>
              <a:rPr lang="en-GB" dirty="0"/>
              <a:t>Restricted to certain plasma regions</a:t>
            </a:r>
          </a:p>
          <a:p>
            <a:pPr lvl="1">
              <a:spcBef>
                <a:spcPts val="200"/>
              </a:spcBef>
            </a:pPr>
            <a:r>
              <a:rPr lang="en-GB" dirty="0"/>
              <a:t>Simplified antenna or plasma models</a:t>
            </a:r>
          </a:p>
          <a:p>
            <a:pPr lvl="1">
              <a:spcBef>
                <a:spcPts val="200"/>
              </a:spcBef>
            </a:pPr>
            <a:r>
              <a:rPr lang="en-GB" dirty="0"/>
              <a:t>Require coupling between multiple codes</a:t>
            </a:r>
          </a:p>
          <a:p>
            <a:pPr lvl="1">
              <a:spcBef>
                <a:spcPts val="200"/>
              </a:spcBef>
            </a:pPr>
            <a:r>
              <a:rPr lang="en-GB" dirty="0"/>
              <a:t>Limited HPC integration</a:t>
            </a:r>
          </a:p>
          <a:p>
            <a:pPr>
              <a:spcBef>
                <a:spcPts val="600"/>
              </a:spcBef>
            </a:pPr>
            <a:r>
              <a:rPr lang="en-GB" b="1" dirty="0"/>
              <a:t>EMWAVE Contribution</a:t>
            </a:r>
            <a:endParaRPr lang="en-GB" dirty="0"/>
          </a:p>
          <a:p>
            <a:pPr lvl="1">
              <a:spcBef>
                <a:spcPts val="2200"/>
              </a:spcBef>
            </a:pPr>
            <a:r>
              <a:rPr lang="en-GB" dirty="0"/>
              <a:t>First HPC-embedded FEM code for a full reactor-shaped domain</a:t>
            </a:r>
          </a:p>
          <a:p>
            <a:pPr lvl="1">
              <a:spcBef>
                <a:spcPts val="2200"/>
              </a:spcBef>
            </a:pPr>
            <a:r>
              <a:rPr lang="en-GB" dirty="0"/>
              <a:t>From SOL/antenna to plasma core</a:t>
            </a:r>
          </a:p>
          <a:p>
            <a:pPr lvl="1">
              <a:spcBef>
                <a:spcPts val="2200"/>
              </a:spcBef>
            </a:pPr>
            <a:r>
              <a:rPr lang="en-GB" dirty="0"/>
              <a:t>Modular design → integration with other physics modules in Alya</a:t>
            </a:r>
          </a:p>
          <a:p>
            <a:pPr lvl="1">
              <a:spcBef>
                <a:spcPts val="2200"/>
              </a:spcBef>
            </a:pPr>
            <a:r>
              <a:rPr lang="en-GB" dirty="0"/>
              <a:t>Toward a digital twin of fusion reactors</a:t>
            </a:r>
          </a:p>
          <a:p>
            <a:pPr lvl="1">
              <a:spcBef>
                <a:spcPts val="2200"/>
              </a:spcBef>
            </a:pPr>
            <a:r>
              <a:rPr lang="en-GB" dirty="0"/>
              <a:t>Strategic tool for design &amp; optimisation of current/future devices</a:t>
            </a:r>
            <a:endParaRPr lang="en-GB" b="1" dirty="0"/>
          </a:p>
          <a:p>
            <a:pPr lvl="1">
              <a:spcBef>
                <a:spcPts val="2200"/>
              </a:spcBef>
            </a:pPr>
            <a:r>
              <a:rPr lang="en-GB" dirty="0"/>
              <a:t>Similar initiative at Oak Ridge National Laboratory (USA) [12]</a:t>
            </a:r>
          </a:p>
        </p:txBody>
      </p:sp>
      <p:pic>
        <p:nvPicPr>
          <p:cNvPr id="2" name="Picture Placeholder 1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5C41E05A-D023-34BB-2164-EFD63975547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D54F7F9-38B1-B912-CC80-09DB1C1F08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06871" y="6269038"/>
            <a:ext cx="3685054" cy="365125"/>
          </a:xfrm>
        </p:spPr>
        <p:txBody>
          <a:bodyPr>
            <a:normAutofit fontScale="85000" lnSpcReduction="10000"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9F662-B377-11BE-5B0A-C4C508D067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5011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9C53D-623F-8FB1-90AD-617ABF60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Work</a:t>
            </a:r>
            <a:r>
              <a:rPr lang="es-ES" dirty="0"/>
              <a:t> Plan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63C67C-ABBC-028E-199E-6A4CEFF22A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BE337-9AA2-0ED7-BA53-EA3FAC69CF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FB11C-AFB8-D6D0-B68D-A9C1073B9D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5897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9351B76-90DC-B920-0F1D-0D36448E4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F2F22CE-2438-64F4-2DF6-CA7134CA6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GB" dirty="0"/>
              <a:t>Implement a high-fidelity scheme to solve non-transient wave equations</a:t>
            </a:r>
          </a:p>
          <a:p>
            <a:pPr lvl="1"/>
            <a:r>
              <a:rPr lang="en-GB" dirty="0"/>
              <a:t>Implement a high-order </a:t>
            </a:r>
            <a:r>
              <a:rPr lang="en-GB" dirty="0" err="1"/>
              <a:t>Nédélec</a:t>
            </a:r>
            <a:r>
              <a:rPr lang="en-GB" dirty="0"/>
              <a:t> FEM in 3D in Alya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GB" dirty="0"/>
              <a:t>Introduce a hot plasma model to account for resonances and wave absorption</a:t>
            </a:r>
          </a:p>
          <a:p>
            <a:pPr lvl="1"/>
            <a:r>
              <a:rPr lang="en-GB" dirty="0"/>
              <a:t>Maxwell-Boltzmann</a:t>
            </a:r>
          </a:p>
          <a:p>
            <a:pPr lvl="1"/>
            <a:r>
              <a:rPr lang="en-GB" dirty="0"/>
              <a:t>Fokker-Plank solver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GB" dirty="0"/>
              <a:t>Numerical experiments to analyse absorption and heating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GB" dirty="0"/>
              <a:t>Validate results with well-known codes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en-GB" dirty="0"/>
              <a:t>Write thesis and publish results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31420-0125-2DCF-A4FA-4F840497C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14</a:t>
            </a:fld>
            <a:endParaRPr lang="en-GB" dirty="0"/>
          </a:p>
        </p:txBody>
      </p:sp>
      <p:pic>
        <p:nvPicPr>
          <p:cNvPr id="12" name="Picture Placeholder 1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34DC7549-5552-A386-4B74-0A9793894F17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A4D45C4-FFE8-3014-76F0-4035D50A18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72398" y="6269038"/>
            <a:ext cx="3819527" cy="365125"/>
          </a:xfrm>
        </p:spPr>
        <p:txBody>
          <a:bodyPr>
            <a:normAutofit fontScale="92500"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1308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 descr="A diagram with text on it&#10;&#10;AI-generated content may be incorrect.">
            <a:extLst>
              <a:ext uri="{FF2B5EF4-FFF2-40B4-BE49-F238E27FC236}">
                <a16:creationId xmlns:a16="http://schemas.microsoft.com/office/drawing/2014/main" id="{771A58A1-ED6D-6F51-8CB8-F06CDEC3D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46" y="1353512"/>
            <a:ext cx="10800000" cy="467345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631477-A119-01EF-EDC6-328B608D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Gantt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48CC5-6546-14BE-E1AC-E3E5E1A117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15</a:t>
            </a:fld>
            <a:endParaRPr lang="en-GB" dirty="0"/>
          </a:p>
        </p:txBody>
      </p:sp>
      <p:pic>
        <p:nvPicPr>
          <p:cNvPr id="20" name="Picture Placeholder 1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4425BFA4-40A3-F23C-52D1-C085CAFACC9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80EFCF5-A559-F188-EF4E-D4E57CAE4E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40070" y="6269038"/>
            <a:ext cx="4751855" cy="365125"/>
          </a:xfrm>
        </p:spPr>
        <p:txBody>
          <a:bodyPr>
            <a:norm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40CAD5A6-3E7D-DDB1-63A3-3775837E9AA8}"/>
              </a:ext>
            </a:extLst>
          </p:cNvPr>
          <p:cNvSpPr/>
          <p:nvPr/>
        </p:nvSpPr>
        <p:spPr>
          <a:xfrm rot="10800000">
            <a:off x="6814973" y="1195371"/>
            <a:ext cx="180000" cy="180000"/>
          </a:xfrm>
          <a:prstGeom prst="triangle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80410A-BD1E-2988-8F65-1BA21F038E43}"/>
              </a:ext>
            </a:extLst>
          </p:cNvPr>
          <p:cNvCxnSpPr>
            <a:cxnSpLocks/>
          </p:cNvCxnSpPr>
          <p:nvPr/>
        </p:nvCxnSpPr>
        <p:spPr>
          <a:xfrm>
            <a:off x="6897392" y="1843706"/>
            <a:ext cx="0" cy="4140000"/>
          </a:xfrm>
          <a:prstGeom prst="line">
            <a:avLst/>
          </a:prstGeom>
          <a:ln w="28575" cap="sq">
            <a:solidFill>
              <a:srgbClr val="FF5050"/>
            </a:solidFill>
            <a:prstDash val="sysDot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7F1764-C9DB-4185-D267-1E7A2608651A}"/>
              </a:ext>
            </a:extLst>
          </p:cNvPr>
          <p:cNvSpPr txBox="1"/>
          <p:nvPr/>
        </p:nvSpPr>
        <p:spPr>
          <a:xfrm>
            <a:off x="6177392" y="863013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We are here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9B6B12DB-E275-74D2-6296-87DD6C985589}"/>
              </a:ext>
            </a:extLst>
          </p:cNvPr>
          <p:cNvSpPr/>
          <p:nvPr/>
        </p:nvSpPr>
        <p:spPr>
          <a:xfrm rot="10800000">
            <a:off x="4751508" y="1240401"/>
            <a:ext cx="126000" cy="1260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7C72EF-646F-A038-744F-CDBA2FA63B19}"/>
              </a:ext>
            </a:extLst>
          </p:cNvPr>
          <p:cNvSpPr txBox="1"/>
          <p:nvPr/>
        </p:nvSpPr>
        <p:spPr>
          <a:xfrm>
            <a:off x="4358117" y="972303"/>
            <a:ext cx="92333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1200" dirty="0"/>
              <a:t>Aug 2024</a:t>
            </a: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4DE3E8F-911F-9B1E-82B3-5FD9E355C4AD}"/>
              </a:ext>
            </a:extLst>
          </p:cNvPr>
          <p:cNvSpPr/>
          <p:nvPr/>
        </p:nvSpPr>
        <p:spPr>
          <a:xfrm rot="10800000">
            <a:off x="11429101" y="1242859"/>
            <a:ext cx="126000" cy="126000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03B338-FA35-2B2A-9BD3-854CF1CB63D8}"/>
              </a:ext>
            </a:extLst>
          </p:cNvPr>
          <p:cNvSpPr txBox="1"/>
          <p:nvPr/>
        </p:nvSpPr>
        <p:spPr>
          <a:xfrm>
            <a:off x="11028566" y="986332"/>
            <a:ext cx="92333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GB" sz="1200" dirty="0"/>
              <a:t>Aug 2028</a:t>
            </a:r>
          </a:p>
        </p:txBody>
      </p:sp>
    </p:spTree>
    <p:extLst>
      <p:ext uri="{BB962C8B-B14F-4D97-AF65-F5344CB8AC3E}">
        <p14:creationId xmlns:p14="http://schemas.microsoft.com/office/powerpoint/2010/main" val="2025714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0C68-D97C-8C1D-6DC9-332237355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done so far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20BCF7E-2034-936F-32E9-F3CF640C8F9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4C7DBE-A66F-C32A-3F9C-B44294A7A9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A8D821-3A69-BE86-DB83-E5562E533D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0B454-DCEC-1BC4-F49C-E84E7F86FF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69038"/>
            <a:ext cx="434975" cy="365125"/>
          </a:xfrm>
        </p:spPr>
        <p:txBody>
          <a:bodyPr/>
          <a:lstStyle/>
          <a:p>
            <a:fld id="{18E441BF-5F25-472C-890A-B3E0CFED072E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101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0044-60B8-B3A0-EB7D-FB4A89249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done so far: </a:t>
            </a:r>
            <a:r>
              <a:rPr lang="es-ES" dirty="0"/>
              <a:t>EMWAVE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19461-3792-FB3C-FCF5-C5861337DC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8E441BF-5F25-472C-890A-B3E0CFED072E}" type="slidenum">
              <a:rPr lang="es-ES" smtClean="0"/>
              <a:pPr algn="ctr"/>
              <a:t>17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1558916-BC89-0FAE-18A0-854394569A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250" y="1514475"/>
                <a:ext cx="10985500" cy="46624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What does EMWAVE do (for now)?</a:t>
                </a:r>
              </a:p>
              <a:p>
                <a:pPr marL="0" indent="0">
                  <a:buNone/>
                </a:pPr>
                <a:endParaRPr lang="es-ES" dirty="0"/>
              </a:p>
              <a:p>
                <a:pPr lvl="1"/>
                <a:r>
                  <a:rPr lang="en-US" dirty="0"/>
                  <a:t>Solves the generalized Helmholtz equation in 2D. It represents a time-independent wave equation.</a:t>
                </a:r>
              </a:p>
              <a:p>
                <a:pPr lvl="1"/>
                <a:endParaRPr lang="es-ES" dirty="0"/>
              </a:p>
              <a:p>
                <a:pPr marL="1344613" lvl="1"/>
                <a:r>
                  <a:rPr lang="en-GB" dirty="0"/>
                  <a:t>Transverse magnetic (TM) polarisation: </a:t>
                </a:r>
                <a:r>
                  <a:rPr lang="es-ES" b="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𝑧𝑧</m:t>
                        </m:r>
                      </m:sub>
                    </m:sSub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endParaRPr lang="es-ES" dirty="0"/>
              </a:p>
              <a:p>
                <a:pPr marL="1344613" lvl="1"/>
                <a:r>
                  <a:rPr lang="en-GB" dirty="0"/>
                  <a:t>Transverse electric (TE) polarisation: </a:t>
                </a:r>
                <a:r>
                  <a:rPr lang="es-ES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𝜺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∇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𝑧𝑧</m:t>
                        </m:r>
                      </m:sub>
                    </m:sSub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  <m:t>𝜺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𝑟𝑐</m:t>
                                </m:r>
                              </m:sub>
                              <m:sup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1" i="1" smtClean="0"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endParaRPr lang="es-ES" dirty="0"/>
              </a:p>
              <a:p>
                <a:pPr marL="457200" lvl="1" indent="0">
                  <a:buNone/>
                </a:pPr>
                <a:endParaRPr lang="es-ES" dirty="0"/>
              </a:p>
              <a:p>
                <a:pPr lvl="1"/>
                <a:r>
                  <a:rPr lang="en-US" dirty="0"/>
                  <a:t>Solves the wave equation in 3D with </a:t>
                </a:r>
                <a:r>
                  <a:rPr lang="en-US" b="1" dirty="0"/>
                  <a:t>first order </a:t>
                </a:r>
                <a:r>
                  <a:rPr lang="en-US" dirty="0"/>
                  <a:t>edge elements (preliminary results).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d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𝑟𝑐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𝑗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Calculates the permittivity tensor for a cold plasma using Stix [13] formulation</a:t>
                </a:r>
              </a:p>
              <a:p>
                <a:pPr marL="457200" lvl="1" indent="0">
                  <a:buNone/>
                </a:pPr>
                <a:endParaRPr lang="es-E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)= </m:t>
                      </m:r>
                      <m:d>
                        <m:d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𝑖𝐷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𝑖𝐷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1558916-BC89-0FAE-18A0-854394569A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250" y="1514475"/>
                <a:ext cx="10985500" cy="4662488"/>
              </a:xfrm>
              <a:blipFill>
                <a:blip r:embed="rId3"/>
                <a:stretch>
                  <a:fillRect l="-499" t="-1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Placeholder 1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3ABE6C72-00AB-C5E3-68A6-8B4772F717E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B122961-0F3E-7EDE-B912-5C48C49A45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72300" y="6269038"/>
            <a:ext cx="4619625" cy="365125"/>
          </a:xfrm>
        </p:spPr>
        <p:txBody>
          <a:bodyPr>
            <a:norm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397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A4DB-2F08-2EE6-3FAD-8D31A39C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Cold Plasma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4DCF30-C5C0-EE33-E447-7403C83509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numCol="1"/>
              <a:lstStyle/>
              <a:p>
                <a:pPr>
                  <a:spcBef>
                    <a:spcPts val="2400"/>
                  </a:spcBef>
                </a:pPr>
                <a:r>
                  <a:rPr lang="en-GB" dirty="0"/>
                  <a:t> The cold plasma model assumes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≫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GB" dirty="0"/>
                  <a:t>, simplifying the momentum equations.</a:t>
                </a:r>
              </a:p>
              <a:p>
                <a:pPr>
                  <a:spcBef>
                    <a:spcPts val="2400"/>
                  </a:spcBef>
                </a:pPr>
                <a:r>
                  <a:rPr lang="en-GB" dirty="0"/>
                  <a:t>This approximation breaks at intense heating regions or wave resonances.</a:t>
                </a:r>
              </a:p>
              <a:p>
                <a:pPr>
                  <a:spcBef>
                    <a:spcPts val="2400"/>
                  </a:spcBef>
                </a:pPr>
                <a:r>
                  <a:rPr lang="en-GB" dirty="0"/>
                  <a:t>There are different modes depending on the propagation angle.</a:t>
                </a:r>
              </a:p>
              <a:p>
                <a:pPr>
                  <a:spcBef>
                    <a:spcPts val="2400"/>
                  </a:spcBef>
                </a:pPr>
                <a:r>
                  <a:rPr lang="en-GB" dirty="0"/>
                  <a:t>In 2D, the propagation is perpendicular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𝐵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ea typeface="Calibri"/>
                    <a:cs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𝜋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den>
                    </m:f>
                  </m:oMath>
                </a14:m>
                <a:endParaRPr lang="en-GB" dirty="0"/>
              </a:p>
              <a:p>
                <a:pPr>
                  <a:spcBef>
                    <a:spcPts val="2400"/>
                  </a:spcBef>
                </a:pPr>
                <a:r>
                  <a:rPr lang="en-GB" dirty="0"/>
                  <a:t>Two propagation modes:</a:t>
                </a:r>
              </a:p>
              <a:p>
                <a:pPr lvl="1"/>
                <a:r>
                  <a:rPr lang="en-GB" dirty="0">
                    <a:ea typeface="Calibri"/>
                    <a:cs typeface="Calibri"/>
                  </a:rPr>
                  <a:t>Ordinary waves: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𝑃</m:t>
                    </m:r>
                  </m:oMath>
                </a14:m>
                <a:endParaRPr lang="en-GB" dirty="0">
                  <a:ea typeface="Calibri"/>
                  <a:cs typeface="Calibri"/>
                </a:endParaRPr>
              </a:p>
              <a:p>
                <a:pPr lvl="1"/>
                <a:r>
                  <a:rPr lang="en-GB" dirty="0">
                    <a:ea typeface="Calibri"/>
                    <a:cs typeface="Calibri"/>
                  </a:rPr>
                  <a:t>Extraordinary waves: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𝑆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2</m:t>
                            </m:r>
                          </m:sup>
                        </m:sSup>
                        <m:r>
                          <a:rPr lang="es-ES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−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𝐷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𝑆</m:t>
                        </m:r>
                      </m:den>
                    </m:f>
                  </m:oMath>
                </a14:m>
                <a:endParaRPr lang="en-GB" dirty="0">
                  <a:ea typeface="Calibri"/>
                  <a:cs typeface="Calibri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en-GB" dirty="0">
                    <a:ea typeface="Calibri"/>
                    <a:cs typeface="Calibri"/>
                  </a:rPr>
                  <a:t>For ICRH, we are mostly interested in the extraordinary polarisation</a:t>
                </a:r>
                <a:br>
                  <a:rPr lang="en-GB" dirty="0">
                    <a:ea typeface="Calibri"/>
                    <a:cs typeface="Calibri"/>
                  </a:rPr>
                </a:br>
                <a:r>
                  <a:rPr lang="en-GB" dirty="0">
                    <a:ea typeface="Calibri"/>
                    <a:cs typeface="Calibri"/>
                  </a:rPr>
                  <a:t>(a.k.a. fast </a:t>
                </a:r>
                <a:r>
                  <a:rPr lang="en-GB" dirty="0" err="1">
                    <a:ea typeface="Calibri"/>
                    <a:cs typeface="Calibri"/>
                  </a:rPr>
                  <a:t>magnetosonic</a:t>
                </a:r>
                <a:r>
                  <a:rPr lang="en-GB" dirty="0">
                    <a:ea typeface="Calibri"/>
                    <a:cs typeface="Calibri"/>
                  </a:rPr>
                  <a:t> wave)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4DCF30-C5C0-EE33-E447-7403C83509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9" t="-1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B0AE7-1825-0683-FDBD-665FDFDC1F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18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BE6BC9-213E-17DC-9E3A-F83A635431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72398" y="6269299"/>
            <a:ext cx="3820136" cy="365125"/>
          </a:xfrm>
        </p:spPr>
        <p:txBody>
          <a:bodyPr>
            <a:normAutofit fontScale="92500"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pic>
        <p:nvPicPr>
          <p:cNvPr id="7" name="Picture Placeholder 11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02963DBC-F384-7E0A-00A6-49510C9C88F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</p:spTree>
    <p:extLst>
      <p:ext uri="{BB962C8B-B14F-4D97-AF65-F5344CB8AC3E}">
        <p14:creationId xmlns:p14="http://schemas.microsoft.com/office/powerpoint/2010/main" val="198405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142EF6-6E76-22A4-907B-FD8776A8F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do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plot</a:t>
            </a:r>
            <a:r>
              <a:rPr lang="es-ES" dirty="0"/>
              <a:t>?</a:t>
            </a:r>
          </a:p>
        </p:txBody>
      </p:sp>
      <p:pic>
        <p:nvPicPr>
          <p:cNvPr id="11" name="te_tot_vacuum">
            <a:hlinkClick r:id="" action="ppaction://media"/>
            <a:extLst>
              <a:ext uri="{FF2B5EF4-FFF2-40B4-BE49-F238E27FC236}">
                <a16:creationId xmlns:a16="http://schemas.microsoft.com/office/drawing/2014/main" id="{EBEA033E-9F10-6E5B-0348-9B6F1BC9A367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3250" y="2065338"/>
            <a:ext cx="5275263" cy="3560762"/>
          </a:xfrm>
        </p:spPr>
      </p:pic>
      <p:pic>
        <p:nvPicPr>
          <p:cNvPr id="13" name="Content Placeholder 12" descr="A red circle on a black background&#10;&#10;AI-generated content may be incorrect.">
            <a:extLst>
              <a:ext uri="{FF2B5EF4-FFF2-40B4-BE49-F238E27FC236}">
                <a16:creationId xmlns:a16="http://schemas.microsoft.com/office/drawing/2014/main" id="{8C465477-BFBB-96DD-4EA9-4AEE913F899E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488" y="2065318"/>
            <a:ext cx="5275262" cy="3560801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211214-CABE-9745-0CC2-F77929357983}"/>
              </a:ext>
            </a:extLst>
          </p:cNvPr>
          <p:cNvSpPr txBox="1"/>
          <p:nvPr/>
        </p:nvSpPr>
        <p:spPr>
          <a:xfrm>
            <a:off x="2412865" y="1241284"/>
            <a:ext cx="1481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/>
              <a:t>Real </a:t>
            </a:r>
            <a:r>
              <a:rPr lang="es-ES" sz="2800" dirty="0" err="1"/>
              <a:t>Part</a:t>
            </a:r>
            <a:endParaRPr lang="es-ES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146EE6-190D-45EB-1927-561B60F7DCC1}"/>
              </a:ext>
            </a:extLst>
          </p:cNvPr>
          <p:cNvSpPr txBox="1"/>
          <p:nvPr/>
        </p:nvSpPr>
        <p:spPr>
          <a:xfrm>
            <a:off x="8150259" y="1241284"/>
            <a:ext cx="1779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 err="1"/>
              <a:t>Magnitude</a:t>
            </a:r>
            <a:endParaRPr lang="es-ES" sz="2800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2766914-DACC-6B99-D8CE-2735E23480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1825" y="6269038"/>
            <a:ext cx="4610100" cy="365125"/>
          </a:xfrm>
        </p:spPr>
        <p:txBody>
          <a:bodyPr>
            <a:no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3EAD4BE-51A2-5CAD-C63F-661A6F864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8E441BF-5F25-472C-890A-B3E0CFED072E}" type="slidenum">
              <a:rPr lang="es-ES" smtClean="0"/>
              <a:pPr algn="ctr"/>
              <a:t>19</a:t>
            </a:fld>
            <a:endParaRPr lang="es-ES" dirty="0"/>
          </a:p>
        </p:txBody>
      </p:sp>
      <p:pic>
        <p:nvPicPr>
          <p:cNvPr id="5" name="Picture Placeholder 4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8D8E131B-9976-0F29-5B9C-4683EDAC5AD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9" b="21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0934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C465477-BFBB-96DD-4EA9-4AEE913F899E}"/>
              </a:ext>
            </a:extLst>
          </p:cNvPr>
          <p:cNvPicPr>
            <a:picLocks noGrp="1" noChangeAspect="1"/>
          </p:cNvPicPr>
          <p:nvPr>
            <p:ph idx="16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3488" y="2065318"/>
            <a:ext cx="5275262" cy="3560801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146EE6-190D-45EB-1927-561B60F7DCC1}"/>
              </a:ext>
            </a:extLst>
          </p:cNvPr>
          <p:cNvSpPr txBox="1"/>
          <p:nvPr/>
        </p:nvSpPr>
        <p:spPr>
          <a:xfrm>
            <a:off x="8150259" y="1241284"/>
            <a:ext cx="1779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 err="1"/>
              <a:t>Magnitude</a:t>
            </a:r>
            <a:endParaRPr lang="es-ES" sz="2800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2766914-DACC-6B99-D8CE-2735E23480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1825" y="6269038"/>
            <a:ext cx="4610100" cy="365125"/>
          </a:xfrm>
        </p:spPr>
        <p:txBody>
          <a:bodyPr>
            <a:no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3EAD4BE-51A2-5CAD-C63F-661A6F864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8E441BF-5F25-472C-890A-B3E0CFED072E}" type="slidenum">
              <a:rPr lang="es-ES" smtClean="0"/>
              <a:pPr algn="ctr"/>
              <a:t>20</a:t>
            </a:fld>
            <a:endParaRPr lang="es-ES" dirty="0"/>
          </a:p>
        </p:txBody>
      </p:sp>
      <p:pic>
        <p:nvPicPr>
          <p:cNvPr id="4" name="te_tot_antena">
            <a:hlinkClick r:id="" action="ppaction://media"/>
            <a:extLst>
              <a:ext uri="{FF2B5EF4-FFF2-40B4-BE49-F238E27FC236}">
                <a16:creationId xmlns:a16="http://schemas.microsoft.com/office/drawing/2014/main" id="{09882553-392E-B5EB-A29B-4B058C8178B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3250" y="2065338"/>
            <a:ext cx="5275263" cy="3560762"/>
          </a:xfrm>
        </p:spPr>
      </p:pic>
      <p:pic>
        <p:nvPicPr>
          <p:cNvPr id="7" name="Picture Placeholder 6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B2E4F10D-CBC4-870B-2D4C-3F6E2F90663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9" b="2139"/>
          <a:stretch>
            <a:fillRect/>
          </a:stretch>
        </p:blipFill>
        <p:spPr/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F8074A25-B296-C47B-DB17-8A9F44FA2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5588"/>
            <a:ext cx="12192000" cy="801687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do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plot</a:t>
            </a:r>
            <a:r>
              <a:rPr lang="es-ES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22B200-2B76-78C1-ACA6-67F54DDF77AA}"/>
              </a:ext>
            </a:extLst>
          </p:cNvPr>
          <p:cNvSpPr txBox="1"/>
          <p:nvPr/>
        </p:nvSpPr>
        <p:spPr>
          <a:xfrm>
            <a:off x="2412865" y="1241284"/>
            <a:ext cx="1481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/>
              <a:t>Real </a:t>
            </a:r>
            <a:r>
              <a:rPr lang="es-ES" sz="2800" dirty="0" err="1"/>
              <a:t>Part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93484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D34D2-8001-1F94-6CE4-461AAE660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079B1-F597-EA59-E311-28061441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Propagation of O-Waves and X-Waves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AC686-F5BC-BF65-7673-14BDC307E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657" y="1047750"/>
            <a:ext cx="10984685" cy="4662488"/>
          </a:xfrm>
        </p:spPr>
        <p:txBody>
          <a:bodyPr/>
          <a:lstStyle/>
          <a:p>
            <a:r>
              <a:rPr lang="en-GB" dirty="0"/>
              <a:t>For most of the cases: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D2E4E-F9BD-3352-FFAE-5395D3CAD5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8E441BF-5F25-472C-890A-B3E0CFED072E}" type="slidenum">
              <a:rPr lang="en-GB" smtClean="0"/>
              <a:pPr algn="ctr"/>
              <a:t>21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B3D838-AE72-4CA9-5806-173ADDA0B0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4241" y="1572493"/>
            <a:ext cx="5400000" cy="432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11EADA-BF84-7F2F-7AEF-A15B8B9667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56241" y="1572493"/>
            <a:ext cx="5400001" cy="4320000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DC2A23B-222E-C823-445D-73C8060667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1825" y="6269038"/>
            <a:ext cx="4610100" cy="365125"/>
          </a:xfrm>
        </p:spPr>
        <p:txBody>
          <a:bodyPr>
            <a:noAutofit/>
          </a:bodyPr>
          <a:lstStyle/>
          <a:p>
            <a:r>
              <a:rPr lang="en-GB" dirty="0"/>
              <a:t>Hernán Domingo | PhD Research Plan Defence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3BF33A-63EE-66B2-6A1B-5ABE8C56F937}"/>
              </a:ext>
            </a:extLst>
          </p:cNvPr>
          <p:cNvGrpSpPr/>
          <p:nvPr/>
        </p:nvGrpSpPr>
        <p:grpSpPr>
          <a:xfrm>
            <a:off x="426384" y="2945958"/>
            <a:ext cx="1199816" cy="866071"/>
            <a:chOff x="456088" y="3027448"/>
            <a:chExt cx="1199816" cy="86607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9BAD9D-F241-949F-8381-3494EEBA144F}"/>
                </a:ext>
              </a:extLst>
            </p:cNvPr>
            <p:cNvSpPr txBox="1"/>
            <p:nvPr/>
          </p:nvSpPr>
          <p:spPr>
            <a:xfrm>
              <a:off x="549896" y="3027448"/>
              <a:ext cx="10122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 dirty="0"/>
                <a:t>O-Wave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8E3806E-3947-7474-AF6C-E197DD6AB102}"/>
                    </a:ext>
                  </a:extLst>
                </p:cNvPr>
                <p:cNvSpPr txBox="1"/>
                <p:nvPr/>
              </p:nvSpPr>
              <p:spPr>
                <a:xfrm>
                  <a:off x="456088" y="3427558"/>
                  <a:ext cx="1199816" cy="4659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s-E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8E3806E-3947-7474-AF6C-E197DD6AB1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88" y="3427558"/>
                  <a:ext cx="1199816" cy="465961"/>
                </a:xfrm>
                <a:prstGeom prst="rect">
                  <a:avLst/>
                </a:prstGeom>
                <a:blipFill>
                  <a:blip r:embed="rId5"/>
                  <a:stretch>
                    <a:fillRect b="-259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8FE2998-7891-C87A-928A-538E5499B07E}"/>
              </a:ext>
            </a:extLst>
          </p:cNvPr>
          <p:cNvGrpSpPr/>
          <p:nvPr/>
        </p:nvGrpSpPr>
        <p:grpSpPr>
          <a:xfrm>
            <a:off x="10232379" y="2835450"/>
            <a:ext cx="1366913" cy="1145576"/>
            <a:chOff x="10232379" y="2978884"/>
            <a:chExt cx="1366913" cy="114557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4A1587-33C8-2F7F-9F50-906A2972DFBC}"/>
                </a:ext>
              </a:extLst>
            </p:cNvPr>
            <p:cNvSpPr txBox="1"/>
            <p:nvPr/>
          </p:nvSpPr>
          <p:spPr>
            <a:xfrm>
              <a:off x="10373413" y="2978884"/>
              <a:ext cx="10848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dirty="0"/>
                <a:t>X-Wave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3D56F12-B4E3-5FC6-9072-71F9A5B120C9}"/>
                    </a:ext>
                  </a:extLst>
                </p:cNvPr>
                <p:cNvSpPr txBox="1"/>
                <p:nvPr/>
              </p:nvSpPr>
              <p:spPr>
                <a:xfrm>
                  <a:off x="10232379" y="3340527"/>
                  <a:ext cx="1366913" cy="7839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  <m:sup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E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𝑅𝐿</m:t>
                            </m:r>
                          </m:num>
                          <m:den>
                            <m:r>
                              <a:rPr lang="es-E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den>
                        </m:f>
                      </m:oMath>
                    </m:oMathPara>
                  </a14:m>
                  <a:endParaRPr lang="es-ES" sz="2400" b="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3D56F12-B4E3-5FC6-9072-71F9A5B12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2379" y="3340527"/>
                  <a:ext cx="1366913" cy="78393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" name="Picture Placeholder 10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76E80D9D-13CB-A450-C296-1F280CA48B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9" b="21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53239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89EC-A3E5-FC86-DA6A-6C539A88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libri"/>
                <a:ea typeface="Calibri"/>
                <a:cs typeface="Calibri"/>
              </a:rPr>
              <a:t>Cold Plasma: Benchmark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A89FF-097D-E32D-9597-AB9030E9F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ERMES [9] is a code established within the community.</a:t>
            </a:r>
          </a:p>
          <a:p>
            <a:pPr lvl="1"/>
            <a:r>
              <a:rPr lang="en-US" dirty="0">
                <a:ea typeface="Calibri"/>
                <a:cs typeface="Calibri"/>
              </a:rPr>
              <a:t>Among its various capabilities, it is used to evaluate wave propagation in regions close to the antenna.</a:t>
            </a:r>
          </a:p>
          <a:p>
            <a:r>
              <a:rPr lang="en-US" dirty="0">
                <a:ea typeface="Calibri"/>
                <a:cs typeface="Calibri"/>
              </a:rPr>
              <a:t>The results are perfectly consistent with the cold plasma model.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9A8C4-D2E7-C52E-49EA-A5CDCB01F3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8E441BF-5F25-472C-890A-B3E0CFED072E}" type="slidenum">
              <a:rPr lang="en-GB" smtClean="0"/>
              <a:pPr algn="ctr"/>
              <a:t>22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7BFD8-42D0-A1FF-02E2-0929E62731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05625" y="6269299"/>
            <a:ext cx="4686909" cy="365125"/>
          </a:xfrm>
        </p:spPr>
        <p:txBody>
          <a:bodyPr>
            <a:noAutofit/>
          </a:bodyPr>
          <a:lstStyle/>
          <a:p>
            <a:r>
              <a:rPr lang="en-GB" dirty="0"/>
              <a:t>Hernán Domingo | PhD Research Plan Defence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7FC4887D-1B69-A32B-F631-66EA9B32DF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78" t="19028" b="8584"/>
          <a:stretch/>
        </p:blipFill>
        <p:spPr>
          <a:xfrm>
            <a:off x="7117021" y="2987993"/>
            <a:ext cx="2872759" cy="288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951BA-A584-7561-9B4D-86DDCC1FC9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7156" y="2791949"/>
            <a:ext cx="4557104" cy="3076044"/>
          </a:xfrm>
          <a:prstGeom prst="rect">
            <a:avLst/>
          </a:prstGeom>
        </p:spPr>
      </p:pic>
      <p:pic>
        <p:nvPicPr>
          <p:cNvPr id="13" name="Picture Placeholder 12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0DD14281-2728-985E-A1DC-A8DEEEB581E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9" b="21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18588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F7673-0A19-9458-2796-F061D705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latin typeface="Calibri"/>
                <a:ea typeface="Calibri"/>
                <a:cs typeface="Calibri"/>
              </a:rPr>
              <a:t>Cold</a:t>
            </a:r>
            <a:r>
              <a:rPr lang="es-ES" dirty="0">
                <a:latin typeface="Calibri"/>
                <a:ea typeface="Calibri"/>
                <a:cs typeface="Calibri"/>
              </a:rPr>
              <a:t> Plasma: ITER </a:t>
            </a:r>
            <a:r>
              <a:rPr lang="es-ES" dirty="0" err="1">
                <a:latin typeface="Calibri"/>
                <a:ea typeface="Calibri"/>
                <a:cs typeface="Calibri"/>
              </a:rPr>
              <a:t>Scenario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FE3E2-46DC-EFA9-CB88-006DC244D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18E441BF-5F25-472C-890A-B3E0CFED072E}" type="slidenum">
              <a:rPr lang="es-ES" smtClean="0"/>
              <a:pPr algn="ctr"/>
              <a:t>23</a:t>
            </a:fld>
            <a:endParaRPr lang="es-E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2777BB-4D85-2A33-207F-90A10B2D88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15220" y="6269299"/>
            <a:ext cx="4777314" cy="365125"/>
          </a:xfrm>
        </p:spPr>
        <p:txBody>
          <a:bodyPr>
            <a:no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graphicFrame>
        <p:nvGraphicFramePr>
          <p:cNvPr id="9" name="Tabla 2">
            <a:extLst>
              <a:ext uri="{FF2B5EF4-FFF2-40B4-BE49-F238E27FC236}">
                <a16:creationId xmlns:a16="http://schemas.microsoft.com/office/drawing/2014/main" id="{E7F12DDB-139B-F827-A446-A9F319BE5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768485"/>
              </p:ext>
            </p:extLst>
          </p:nvPr>
        </p:nvGraphicFramePr>
        <p:xfrm>
          <a:off x="865908" y="1327727"/>
          <a:ext cx="5787890" cy="1849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945">
                  <a:extLst>
                    <a:ext uri="{9D8B030D-6E8A-4147-A177-3AD203B41FA5}">
                      <a16:colId xmlns:a16="http://schemas.microsoft.com/office/drawing/2014/main" val="2696745380"/>
                    </a:ext>
                  </a:extLst>
                </a:gridCol>
                <a:gridCol w="2893945">
                  <a:extLst>
                    <a:ext uri="{9D8B030D-6E8A-4147-A177-3AD203B41FA5}">
                      <a16:colId xmlns:a16="http://schemas.microsoft.com/office/drawing/2014/main" val="2371319299"/>
                    </a:ext>
                  </a:extLst>
                </a:gridCol>
              </a:tblGrid>
              <a:tr h="3607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noProof="0" dirty="0" err="1"/>
                        <a:t>Parameter</a:t>
                      </a:r>
                      <a:endParaRPr lang="es-E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noProof="0" dirty="0" err="1"/>
                        <a:t>Value</a:t>
                      </a:r>
                      <a:endParaRPr lang="es-E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450475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noProof="0" dirty="0"/>
                        <a:t>Plasma </a:t>
                      </a:r>
                      <a:r>
                        <a:rPr lang="es-ES" noProof="0" dirty="0" err="1"/>
                        <a:t>composition</a:t>
                      </a:r>
                      <a:endParaRPr lang="es-E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noProof="0" dirty="0"/>
                        <a:t>50:50 D-T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00844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noProof="0" dirty="0"/>
                        <a:t>Wave </a:t>
                      </a:r>
                      <a:r>
                        <a:rPr lang="es-ES" noProof="0" dirty="0" err="1"/>
                        <a:t>frequency</a:t>
                      </a:r>
                      <a:endParaRPr lang="es-E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noProof="0" dirty="0"/>
                        <a:t>53 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98273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noProof="0" dirty="0"/>
                        <a:t>Toroidal </a:t>
                      </a:r>
                      <a:r>
                        <a:rPr lang="es-ES" noProof="0" dirty="0" err="1"/>
                        <a:t>magnetic</a:t>
                      </a:r>
                      <a:r>
                        <a:rPr lang="es-ES" noProof="0" dirty="0"/>
                        <a:t> </a:t>
                      </a:r>
                      <a:r>
                        <a:rPr lang="es-ES" noProof="0" dirty="0" err="1"/>
                        <a:t>field</a:t>
                      </a:r>
                      <a:endParaRPr lang="es-E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noProof="0" dirty="0"/>
                        <a:t>5.3 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99372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noProof="0" dirty="0"/>
                        <a:t>Central </a:t>
                      </a:r>
                      <a:r>
                        <a:rPr lang="es-ES" noProof="0" dirty="0" err="1"/>
                        <a:t>density</a:t>
                      </a:r>
                      <a:endParaRPr lang="es-E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noProof="0" dirty="0"/>
                        <a:t>3.5 x 10</a:t>
                      </a:r>
                      <a:r>
                        <a:rPr lang="es-ES" baseline="30000" noProof="0" dirty="0"/>
                        <a:t>19</a:t>
                      </a:r>
                      <a:r>
                        <a:rPr lang="es-ES" noProof="0" dirty="0"/>
                        <a:t> m</a:t>
                      </a:r>
                      <a:r>
                        <a:rPr lang="es-ES" baseline="30000" noProof="0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1057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6">
                <a:extLst>
                  <a:ext uri="{FF2B5EF4-FFF2-40B4-BE49-F238E27FC236}">
                    <a16:creationId xmlns:a16="http://schemas.microsoft.com/office/drawing/2014/main" id="{926F2110-0A0B-189B-CFE1-92F2642E479B}"/>
                  </a:ext>
                </a:extLst>
              </p:cNvPr>
              <p:cNvSpPr txBox="1"/>
              <p:nvPr/>
            </p:nvSpPr>
            <p:spPr>
              <a:xfrm>
                <a:off x="822808" y="3620712"/>
                <a:ext cx="5860705" cy="163121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85750" indent="-285750">
                  <a:buFont typeface="Arial"/>
                  <a:buChar char="•"/>
                </a:pPr>
                <a:r>
                  <a:rPr lang="en-US" sz="2000" dirty="0">
                    <a:ea typeface="Calibri" panose="020F0502020204030204"/>
                    <a:cs typeface="Calibri" panose="020F0502020204030204"/>
                  </a:rPr>
                  <a:t>The main ICRH heating scenario for ITER is expected to be with the 2nd harmonic of tritium </a:t>
                </a:r>
                <a:r>
                  <a:rPr lang="es-ES" sz="2000" dirty="0">
                    <a:ea typeface="Calibri" panose="020F0502020204030204"/>
                    <a:cs typeface="Calibri" panose="020F0502020204030204"/>
                  </a:rPr>
                  <a:t>(</a:t>
                </a:r>
                <a14:m>
                  <m:oMath xmlns:m="http://schemas.openxmlformats.org/officeDocument/2006/math">
                    <m:r>
                      <a:rPr lang="es-ES" sz="2000" b="0" i="1" smtClean="0"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𝜔</m:t>
                    </m:r>
                    <m:r>
                      <a:rPr lang="es-ES" sz="2000" b="0" i="1" smtClean="0">
                        <a:latin typeface="Cambria Math" panose="02040503050406030204" pitchFamily="18" charset="0"/>
                        <a:ea typeface="Calibri" panose="020F0502020204030204"/>
                        <a:cs typeface="Calibri" panose="020F0502020204030204"/>
                      </a:rPr>
                      <m:t>=2</m:t>
                    </m:r>
                    <m:sSub>
                      <m:sSubPr>
                        <m:ctrlPr>
                          <a:rPr lang="es-ES" sz="2000" b="0" i="1" smtClean="0"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</m:ctrlPr>
                      </m:sSubPr>
                      <m:e>
                        <m:r>
                          <a:rPr lang="es-ES" sz="2000" b="0" i="1" smtClean="0"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𝜔</m:t>
                        </m:r>
                      </m:e>
                      <m:sub>
                        <m:r>
                          <a:rPr lang="es-ES" sz="2000" b="0" i="1" smtClean="0">
                            <a:latin typeface="Cambria Math" panose="02040503050406030204" pitchFamily="18" charset="0"/>
                            <a:ea typeface="Calibri" panose="020F0502020204030204"/>
                            <a:cs typeface="Calibri" panose="020F0502020204030204"/>
                          </a:rPr>
                          <m:t>𝑐𝑇</m:t>
                        </m:r>
                      </m:sub>
                    </m:sSub>
                  </m:oMath>
                </a14:m>
                <a:r>
                  <a:rPr lang="es-ES" sz="2000" dirty="0">
                    <a:ea typeface="Calibri" panose="020F0502020204030204"/>
                    <a:cs typeface="Calibri" panose="020F0502020204030204"/>
                  </a:rPr>
                  <a:t>).</a:t>
                </a:r>
              </a:p>
              <a:p>
                <a:endParaRPr lang="es-ES" sz="2000" dirty="0">
                  <a:ea typeface="Calibri" panose="020F0502020204030204"/>
                  <a:cs typeface="Calibri" panose="020F0502020204030204"/>
                </a:endParaRPr>
              </a:p>
              <a:p>
                <a:pPr marL="285750" indent="-285750">
                  <a:buFont typeface="Arial"/>
                  <a:buChar char="•"/>
                </a:pPr>
                <a:r>
                  <a:rPr lang="en-US" sz="2000" dirty="0">
                    <a:ea typeface="Calibri" panose="020F0502020204030204"/>
                    <a:cs typeface="Calibri" panose="020F0502020204030204"/>
                  </a:rPr>
                  <a:t>Accessibility is satisfactorily evaluated in a scenario derived from</a:t>
                </a:r>
                <a:r>
                  <a:rPr lang="es-ES" sz="2000" dirty="0">
                    <a:ea typeface="Calibri" panose="020F0502020204030204"/>
                    <a:cs typeface="Calibri" panose="020F0502020204030204"/>
                  </a:rPr>
                  <a:t>[14].</a:t>
                </a:r>
              </a:p>
            </p:txBody>
          </p:sp>
        </mc:Choice>
        <mc:Fallback xmlns="">
          <p:sp>
            <p:nvSpPr>
              <p:cNvPr id="10" name="CuadroTexto 6">
                <a:extLst>
                  <a:ext uri="{FF2B5EF4-FFF2-40B4-BE49-F238E27FC236}">
                    <a16:creationId xmlns:a16="http://schemas.microsoft.com/office/drawing/2014/main" id="{926F2110-0A0B-189B-CFE1-92F2642E4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08" y="3620712"/>
                <a:ext cx="5860705" cy="1631216"/>
              </a:xfrm>
              <a:prstGeom prst="rect">
                <a:avLst/>
              </a:prstGeom>
              <a:blipFill>
                <a:blip r:embed="rId4"/>
                <a:stretch>
                  <a:fillRect l="-937" t="-2239" r="-1353" b="-55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2">
            <a:extLst>
              <a:ext uri="{FF2B5EF4-FFF2-40B4-BE49-F238E27FC236}">
                <a16:creationId xmlns:a16="http://schemas.microsoft.com/office/drawing/2014/main" id="{D3CE9608-8564-7A4C-6572-5C5ED131DA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3690" y="712883"/>
            <a:ext cx="6602246" cy="5633917"/>
          </a:xfrm>
          <a:prstGeom prst="rect">
            <a:avLst/>
          </a:prstGeom>
        </p:spPr>
      </p:pic>
      <p:pic>
        <p:nvPicPr>
          <p:cNvPr id="8" name="Picture Placeholder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4EFED51E-D672-2C47-4739-8A6F0B37941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9" b="213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43039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7593E8-0454-AB18-55CC-DC99FB00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Order Edge Elements Results</a:t>
            </a:r>
          </a:p>
        </p:txBody>
      </p:sp>
      <p:pic>
        <p:nvPicPr>
          <p:cNvPr id="17" name="Content Placeholder 16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491638EF-2D65-16F0-835A-2E3C8CAB8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9" y="2548838"/>
            <a:ext cx="5940000" cy="2997990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EA5CE1-C927-0A27-4F68-1D2EAEB953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72402" y="6269299"/>
            <a:ext cx="3820132" cy="365125"/>
          </a:xfrm>
        </p:spPr>
        <p:txBody>
          <a:bodyPr>
            <a:normAutofit fontScale="92500"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pic>
        <p:nvPicPr>
          <p:cNvPr id="15" name="Picture Placeholder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57D25394-635B-9985-3EBA-05D23A4BA20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  <p:pic>
        <p:nvPicPr>
          <p:cNvPr id="19" name="Picture 18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11571C7A-4FA9-A31A-5D39-E5F3A751C3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854" y="2548839"/>
            <a:ext cx="5940000" cy="29979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4AF6C6-20B5-F2ED-5E94-43D64E7AC8E5}"/>
                  </a:ext>
                </a:extLst>
              </p:cNvPr>
              <p:cNvSpPr txBox="1"/>
              <p:nvPr/>
            </p:nvSpPr>
            <p:spPr>
              <a:xfrm>
                <a:off x="295564" y="1292855"/>
                <a:ext cx="11628581" cy="1067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Cube: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=2 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s-E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Current: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2 </m:t>
                    </m:r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s-ES" dirty="0"/>
                  <a:t>,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=50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s-E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s-E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s-E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/>
                  <a:t>Medium: </a:t>
                </a:r>
                <a:r>
                  <a:rPr lang="es-ES" dirty="0" err="1"/>
                  <a:t>Vacuum</a:t>
                </a:r>
                <a:endParaRPr lang="es-E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54AF6C6-20B5-F2ED-5E94-43D64E7AC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64" y="1292855"/>
                <a:ext cx="11628581" cy="1067023"/>
              </a:xfrm>
              <a:prstGeom prst="rect">
                <a:avLst/>
              </a:prstGeom>
              <a:blipFill>
                <a:blip r:embed="rId6"/>
                <a:stretch>
                  <a:fillRect l="-314" t="-2286"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770693-9BC2-DBFF-5E5D-2E263D5D1C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96453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A0D30-91A8-4E85-E17D-CF4FC6B98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BF43-6B51-053F-DA3C-1CFE5BDC7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Potential journals and conferences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51470-AD53-4436-56FF-8060A31AC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GB" b="1" dirty="0"/>
              <a:t>Already attended:</a:t>
            </a:r>
          </a:p>
          <a:p>
            <a:pPr lvl="1">
              <a:spcBef>
                <a:spcPts val="1800"/>
              </a:spcBef>
            </a:pPr>
            <a:r>
              <a:rPr lang="en-GB" dirty="0"/>
              <a:t>51</a:t>
            </a:r>
            <a:r>
              <a:rPr lang="en-GB" baseline="30000" dirty="0"/>
              <a:t>st</a:t>
            </a:r>
            <a:r>
              <a:rPr lang="en-GB" dirty="0"/>
              <a:t> IOP Annual Plasma Physics Conference — Oral presentation</a:t>
            </a:r>
          </a:p>
          <a:p>
            <a:pPr lvl="1">
              <a:spcBef>
                <a:spcPts val="1800"/>
              </a:spcBef>
            </a:pPr>
            <a:r>
              <a:rPr lang="en-GB" dirty="0"/>
              <a:t>14</a:t>
            </a:r>
            <a:r>
              <a:rPr lang="en-GB" baseline="30000" dirty="0"/>
              <a:t>th</a:t>
            </a:r>
            <a:r>
              <a:rPr lang="en-GB" dirty="0"/>
              <a:t> ITER International School — Poster presentation</a:t>
            </a:r>
          </a:p>
          <a:p>
            <a:pPr lvl="1">
              <a:spcBef>
                <a:spcPts val="1800"/>
              </a:spcBef>
            </a:pPr>
            <a:r>
              <a:rPr lang="es-ES" dirty="0"/>
              <a:t>XL Simposio Nacional de la Unión Científica Internacional de Radio (URSI) </a:t>
            </a:r>
            <a:r>
              <a:rPr lang="en-GB" dirty="0"/>
              <a:t>— Oral presentation and candidate to INDRA’s youth research prize</a:t>
            </a:r>
            <a:endParaRPr lang="es-ES" dirty="0"/>
          </a:p>
          <a:p>
            <a:pPr lvl="1">
              <a:spcBef>
                <a:spcPts val="1800"/>
              </a:spcBef>
            </a:pPr>
            <a:r>
              <a:rPr lang="en-US" dirty="0"/>
              <a:t>11</a:t>
            </a:r>
            <a:r>
              <a:rPr lang="en-US" baseline="30000" dirty="0"/>
              <a:t>th</a:t>
            </a:r>
            <a:r>
              <a:rPr lang="en-US" dirty="0"/>
              <a:t> and 12</a:t>
            </a:r>
            <a:r>
              <a:rPr lang="en-US" baseline="30000" dirty="0"/>
              <a:t>th</a:t>
            </a:r>
            <a:r>
              <a:rPr lang="en-US" dirty="0"/>
              <a:t> International BSC Severo Ochoa Doctoral Symposium </a:t>
            </a:r>
            <a:r>
              <a:rPr lang="en-GB" dirty="0"/>
              <a:t>— Poster presentation</a:t>
            </a:r>
            <a:endParaRPr lang="en-US" dirty="0"/>
          </a:p>
          <a:p>
            <a:pPr lvl="1">
              <a:spcBef>
                <a:spcPts val="1800"/>
              </a:spcBef>
            </a:pP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HPC Fusion Workshop </a:t>
            </a:r>
            <a:r>
              <a:rPr lang="en-GB" dirty="0"/>
              <a:t>— Oral presentation</a:t>
            </a:r>
          </a:p>
          <a:p>
            <a:pPr lvl="1">
              <a:spcBef>
                <a:spcPts val="1800"/>
              </a:spcBef>
            </a:pPr>
            <a:r>
              <a:rPr lang="en-GB" dirty="0"/>
              <a:t>51</a:t>
            </a:r>
            <a:r>
              <a:rPr lang="en-GB" baseline="30000" dirty="0"/>
              <a:t>st</a:t>
            </a:r>
            <a:r>
              <a:rPr lang="en-GB" dirty="0"/>
              <a:t> EPS Conference on Plasma Physics — Poster coauthor</a:t>
            </a:r>
            <a:endParaRPr lang="en-US" dirty="0"/>
          </a:p>
          <a:p>
            <a:r>
              <a:rPr lang="en-GB" b="1" dirty="0"/>
              <a:t>Yet to be attended:</a:t>
            </a:r>
          </a:p>
          <a:p>
            <a:pPr lvl="1">
              <a:spcBef>
                <a:spcPts val="1000"/>
              </a:spcBef>
            </a:pPr>
            <a:r>
              <a:rPr lang="en-GB" dirty="0"/>
              <a:t>EPS Conference on Plasma Physics — Presenter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Topical Conference on Radio-Frequency Power in Plasmas</a:t>
            </a:r>
          </a:p>
          <a:p>
            <a:pPr lvl="1">
              <a:spcBef>
                <a:spcPts val="1000"/>
              </a:spcBef>
            </a:pPr>
            <a:r>
              <a:rPr lang="en-GB" dirty="0"/>
              <a:t>International Conference on Plasma Physics (ICPP)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Iberian Meeting on Computational Electromagnetics</a:t>
            </a:r>
          </a:p>
          <a:p>
            <a:r>
              <a:rPr lang="en-GB" b="1" dirty="0"/>
              <a:t>Journals:</a:t>
            </a:r>
          </a:p>
          <a:p>
            <a:pPr lvl="1">
              <a:spcBef>
                <a:spcPts val="1000"/>
              </a:spcBef>
            </a:pPr>
            <a:r>
              <a:rPr lang="en-GB" dirty="0"/>
              <a:t>Plasma Physics and Controlled Fusion (PPCF)</a:t>
            </a:r>
          </a:p>
          <a:p>
            <a:pPr lvl="1">
              <a:spcBef>
                <a:spcPts val="1000"/>
              </a:spcBef>
            </a:pPr>
            <a:r>
              <a:rPr lang="en-GB" dirty="0"/>
              <a:t>Nuclear Fusion</a:t>
            </a:r>
          </a:p>
          <a:p>
            <a:pPr lvl="1">
              <a:spcBef>
                <a:spcPts val="1000"/>
              </a:spcBef>
            </a:pPr>
            <a:r>
              <a:rPr lang="en-GB" dirty="0"/>
              <a:t>Fusion Engineering and Design</a:t>
            </a:r>
          </a:p>
          <a:p>
            <a:pPr lvl="1">
              <a:spcBef>
                <a:spcPts val="1000"/>
              </a:spcBef>
            </a:pPr>
            <a:r>
              <a:rPr lang="en-GB" dirty="0"/>
              <a:t>IEEE Antennas &amp; Propagation</a:t>
            </a:r>
          </a:p>
          <a:p>
            <a:pPr lvl="1">
              <a:spcBef>
                <a:spcPts val="1000"/>
              </a:spcBef>
            </a:pPr>
            <a:r>
              <a:rPr lang="fr-FR" dirty="0"/>
              <a:t>IEEE Transactions on Plasma Science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Computer Physics Communications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86E12-FB91-D626-8683-2788851196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25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43EBDE-F667-4AE0-6A62-8A0E647A06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67625" y="6269299"/>
            <a:ext cx="3924909" cy="365125"/>
          </a:xfrm>
        </p:spPr>
        <p:txBody>
          <a:bodyPr>
            <a:normAutofit fontScale="92500"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pic>
        <p:nvPicPr>
          <p:cNvPr id="8" name="Picture Placeholder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8B983A6B-DEF4-E2F2-7081-089A351B602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/>
        </p:blipFill>
        <p:spPr/>
      </p:pic>
    </p:spTree>
    <p:extLst>
      <p:ext uri="{BB962C8B-B14F-4D97-AF65-F5344CB8AC3E}">
        <p14:creationId xmlns:p14="http://schemas.microsoft.com/office/powerpoint/2010/main" val="1443294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BDD29754-CC98-552F-85C9-F8979A27B8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63887" y="1667655"/>
            <a:ext cx="6702593" cy="1107427"/>
          </a:xfrm>
        </p:spPr>
        <p:txBody>
          <a:bodyPr>
            <a:normAutofit/>
          </a:bodyPr>
          <a:lstStyle/>
          <a:p>
            <a:r>
              <a:rPr lang="en-GB" sz="3200" dirty="0"/>
              <a:t>These slides and their references can be found in the following repository: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AED79C38-D81D-A857-B31D-1883C6374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63887" y="5272943"/>
            <a:ext cx="6702593" cy="822742"/>
          </a:xfrm>
        </p:spPr>
        <p:txBody>
          <a:bodyPr/>
          <a:lstStyle/>
          <a:p>
            <a:r>
              <a:rPr lang="en-GB" sz="4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Thank you!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54BC36D-93BA-DC27-8C2A-9D1FA08C47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hernan.domingo@bsc.es</a:t>
            </a:r>
          </a:p>
        </p:txBody>
      </p:sp>
      <p:pic>
        <p:nvPicPr>
          <p:cNvPr id="3" name="Picture Placeholder 2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986D1135-942A-B43B-764F-2C4C744F70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41" b="8141"/>
          <a:stretch>
            <a:fillRect/>
          </a:stretch>
        </p:blipFill>
        <p:spPr/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57DFF04-0222-0A5B-9BB3-3EBD1BC7A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27/10/2025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52FEB7C-53FE-38D4-707C-7D941D0B14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813" y="2820642"/>
            <a:ext cx="2406740" cy="24067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2322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80CC-5039-B28F-D9EC-C96C42C1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143A0-0F57-EB94-404D-DA6BFA116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27</a:t>
            </a:fld>
            <a:endParaRPr lang="en-GB" dirty="0"/>
          </a:p>
        </p:txBody>
      </p:sp>
      <p:pic>
        <p:nvPicPr>
          <p:cNvPr id="15" name="2ndharmonic_vid">
            <a:hlinkClick r:id="" action="ppaction://media"/>
            <a:extLst>
              <a:ext uri="{FF2B5EF4-FFF2-40B4-BE49-F238E27FC236}">
                <a16:creationId xmlns:a16="http://schemas.microsoft.com/office/drawing/2014/main" id="{8B5D73A2-DF98-587B-3F52-C5794101EE1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51565" y="1197637"/>
            <a:ext cx="8288867" cy="4662488"/>
          </a:xfrm>
          <a:prstGeom prst="rect">
            <a:avLst/>
          </a:prstGeom>
        </p:spPr>
      </p:pic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25104C3-0C0A-5CEB-9A44-CA92B6CA3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43539" y="6269038"/>
            <a:ext cx="3448386" cy="365125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pic>
        <p:nvPicPr>
          <p:cNvPr id="8" name="Picture Placeholder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519D83F2-DBF8-4767-FCC1-81E8D44EEA8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</p:spTree>
    <p:extLst>
      <p:ext uri="{BB962C8B-B14F-4D97-AF65-F5344CB8AC3E}">
        <p14:creationId xmlns:p14="http://schemas.microsoft.com/office/powerpoint/2010/main" val="2574320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 fullScrn="1"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871E-E59D-06A0-44E3-F5099CA58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90F32C-F747-3BFA-EDF6-E55217F9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Coupling between modules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A404BD-B5C5-A72A-3524-A71A7E3209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72402" y="6269299"/>
            <a:ext cx="3820132" cy="365125"/>
          </a:xfrm>
        </p:spPr>
        <p:txBody>
          <a:bodyPr>
            <a:normAutofit fontScale="92500"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pic>
        <p:nvPicPr>
          <p:cNvPr id="15" name="Picture Placeholder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5304E724-2088-6866-865A-D6BC248BFAD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  <p:pic>
        <p:nvPicPr>
          <p:cNvPr id="4" name="Content Placeholder 17" descr="Several different colored parts of a tank&#10;&#10;AI-generated content may be incorrect.">
            <a:extLst>
              <a:ext uri="{FF2B5EF4-FFF2-40B4-BE49-F238E27FC236}">
                <a16:creationId xmlns:a16="http://schemas.microsoft.com/office/drawing/2014/main" id="{7A87F1C5-59B0-0267-5219-AC06F6720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8" y="1105710"/>
            <a:ext cx="2989909" cy="4320000"/>
          </a:xfrm>
          <a:prstGeom prst="rect">
            <a:avLst/>
          </a:prstGeom>
        </p:spPr>
      </p:pic>
      <p:pic>
        <p:nvPicPr>
          <p:cNvPr id="5" name="Picture 4" descr="A close-up of a temperature measurement&#10;&#10;AI-generated content may be incorrect.">
            <a:extLst>
              <a:ext uri="{FF2B5EF4-FFF2-40B4-BE49-F238E27FC236}">
                <a16:creationId xmlns:a16="http://schemas.microsoft.com/office/drawing/2014/main" id="{EC9EFD6F-4A38-0C14-3011-F05243D75E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604" y="1105710"/>
            <a:ext cx="1606432" cy="4320000"/>
          </a:xfrm>
          <a:prstGeom prst="rect">
            <a:avLst/>
          </a:prstGeom>
        </p:spPr>
      </p:pic>
      <p:pic>
        <p:nvPicPr>
          <p:cNvPr id="6" name="Picture 5" descr="A blue rectangular object with holes and numbers&#10;&#10;AI-generated content may be incorrect.">
            <a:extLst>
              <a:ext uri="{FF2B5EF4-FFF2-40B4-BE49-F238E27FC236}">
                <a16:creationId xmlns:a16="http://schemas.microsoft.com/office/drawing/2014/main" id="{D40D5C11-5F38-F65C-FC76-3F36922ECE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383" y="1105710"/>
            <a:ext cx="2051458" cy="4320000"/>
          </a:xfrm>
          <a:prstGeom prst="rect">
            <a:avLst/>
          </a:prstGeom>
        </p:spPr>
      </p:pic>
      <p:pic>
        <p:nvPicPr>
          <p:cNvPr id="8" name="Picture 7" descr="A computer generated image of a machine&#10;&#10;AI-generated content may be incorrect.">
            <a:extLst>
              <a:ext uri="{FF2B5EF4-FFF2-40B4-BE49-F238E27FC236}">
                <a16:creationId xmlns:a16="http://schemas.microsoft.com/office/drawing/2014/main" id="{0496EBC5-DFB9-4FC4-0E9A-81D8AAB785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187" y="2006288"/>
            <a:ext cx="3563088" cy="25188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B7453E-5C3B-E9E2-EBB7-F59EC3A5F6B4}"/>
              </a:ext>
            </a:extLst>
          </p:cNvPr>
          <p:cNvSpPr txBox="1"/>
          <p:nvPr/>
        </p:nvSpPr>
        <p:spPr>
          <a:xfrm>
            <a:off x="2722415" y="5457457"/>
            <a:ext cx="674716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/>
              <a:t>NEUTRO + TEMPER + NASTIN</a:t>
            </a:r>
          </a:p>
          <a:p>
            <a:r>
              <a:rPr lang="en-US" dirty="0">
                <a:latin typeface="-apple-system"/>
              </a:rPr>
              <a:t>Goldberg, E. </a:t>
            </a:r>
            <a:r>
              <a:rPr lang="en-US" i="1" dirty="0">
                <a:latin typeface="-apple-system"/>
              </a:rPr>
              <a:t>et al.</a:t>
            </a:r>
            <a:r>
              <a:rPr lang="en-US" dirty="0">
                <a:latin typeface="-apple-system"/>
              </a:rPr>
              <a:t> (2025), </a:t>
            </a:r>
            <a:r>
              <a:rPr lang="en-US" i="1" dirty="0">
                <a:latin typeface="-apple-system"/>
              </a:rPr>
              <a:t>Fusion Science and Technology</a:t>
            </a:r>
            <a:r>
              <a:rPr lang="en-US" dirty="0">
                <a:latin typeface="-apple-system"/>
              </a:rPr>
              <a:t>, pp. 1–15. </a:t>
            </a:r>
            <a:endParaRPr lang="en-GB" sz="2000" b="1" dirty="0">
              <a:latin typeface="-apple-system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803054-983B-3035-8E1C-AAB4C0D24C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57403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7C22-4812-7ABF-A5AB-D50955751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EQUILI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638F0-D0E4-F742-49A9-D135BDE40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Solves the Grad-</a:t>
            </a:r>
            <a:r>
              <a:rPr lang="en-GB" dirty="0" err="1"/>
              <a:t>Shafranov</a:t>
            </a:r>
            <a:r>
              <a:rPr lang="en-GB" dirty="0"/>
              <a:t> equation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Uses embedded geometry discretization (</a:t>
            </a:r>
            <a:r>
              <a:rPr lang="en-GB" dirty="0" err="1"/>
              <a:t>CutFEM</a:t>
            </a:r>
            <a:r>
              <a:rPr lang="en-GB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B5A2B-E623-BA4C-8E0F-F1AF4E9EE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29</a:t>
            </a:fld>
            <a:endParaRPr lang="en-GB" dirty="0"/>
          </a:p>
        </p:txBody>
      </p:sp>
      <p:pic>
        <p:nvPicPr>
          <p:cNvPr id="8" name="Imagen 15">
            <a:extLst>
              <a:ext uri="{FF2B5EF4-FFF2-40B4-BE49-F238E27FC236}">
                <a16:creationId xmlns:a16="http://schemas.microsoft.com/office/drawing/2014/main" id="{A3AF26C4-DBB1-6600-64AE-CB93A7D8C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467" y="2001762"/>
            <a:ext cx="4630579" cy="6287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B62CDC-46A1-D8B3-8BBB-ED33E57BD576}"/>
              </a:ext>
            </a:extLst>
          </p:cNvPr>
          <p:cNvSpPr txBox="1"/>
          <p:nvPr/>
        </p:nvSpPr>
        <p:spPr>
          <a:xfrm>
            <a:off x="3820942" y="5798030"/>
            <a:ext cx="4113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0" i="0" dirty="0" err="1">
                <a:solidFill>
                  <a:srgbClr val="212529"/>
                </a:solidFill>
                <a:effectLst/>
                <a:latin typeface="system-ui"/>
              </a:rPr>
              <a:t>Manyer</a:t>
            </a:r>
            <a:r>
              <a:rPr lang="en-GB" sz="1100" b="0" i="0" dirty="0">
                <a:solidFill>
                  <a:srgbClr val="212529"/>
                </a:solidFill>
                <a:effectLst/>
                <a:latin typeface="system-ui"/>
              </a:rPr>
              <a:t> Fuertes, Pau. </a:t>
            </a:r>
            <a:r>
              <a:rPr lang="en-GB" sz="1100" b="0" i="1" dirty="0" err="1">
                <a:solidFill>
                  <a:srgbClr val="212529"/>
                </a:solidFill>
                <a:effectLst/>
                <a:latin typeface="system-ui"/>
              </a:rPr>
              <a:t>Universitat</a:t>
            </a:r>
            <a:r>
              <a:rPr lang="en-GB" sz="1100" b="0" i="1" dirty="0">
                <a:solidFill>
                  <a:srgbClr val="212529"/>
                </a:solidFill>
                <a:effectLst/>
                <a:latin typeface="system-ui"/>
              </a:rPr>
              <a:t> </a:t>
            </a:r>
            <a:r>
              <a:rPr lang="en-GB" sz="1100" b="0" i="1" dirty="0" err="1">
                <a:solidFill>
                  <a:srgbClr val="212529"/>
                </a:solidFill>
                <a:effectLst/>
                <a:latin typeface="system-ui"/>
              </a:rPr>
              <a:t>Politècnica</a:t>
            </a:r>
            <a:r>
              <a:rPr lang="en-GB" sz="1100" b="0" i="1" dirty="0">
                <a:solidFill>
                  <a:srgbClr val="212529"/>
                </a:solidFill>
                <a:effectLst/>
                <a:latin typeface="system-ui"/>
              </a:rPr>
              <a:t> de Catalunya</a:t>
            </a:r>
            <a:r>
              <a:rPr lang="en-GB" sz="1100" b="0" i="0" dirty="0">
                <a:solidFill>
                  <a:srgbClr val="212529"/>
                </a:solidFill>
                <a:effectLst/>
                <a:latin typeface="system-ui"/>
              </a:rPr>
              <a:t>, Oct. 2024</a:t>
            </a:r>
            <a:endParaRPr lang="en-GB" sz="1100" dirty="0"/>
          </a:p>
        </p:txBody>
      </p:sp>
      <p:pic>
        <p:nvPicPr>
          <p:cNvPr id="14" name="Picture 13" descr="A close-up of a graph&#10;&#10;AI-generated content may be incorrect.">
            <a:extLst>
              <a:ext uri="{FF2B5EF4-FFF2-40B4-BE49-F238E27FC236}">
                <a16:creationId xmlns:a16="http://schemas.microsoft.com/office/drawing/2014/main" id="{63EB672D-C751-E25E-EC35-22AF26380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064" y="3201865"/>
            <a:ext cx="6991869" cy="257137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4AB5FEF-8D29-D04F-A027-44CBE94E28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70376" y="6269299"/>
            <a:ext cx="4322158" cy="365125"/>
          </a:xfrm>
        </p:spPr>
        <p:txBody>
          <a:bodyPr>
            <a:norm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p:pic>
        <p:nvPicPr>
          <p:cNvPr id="11" name="Picture Placeholder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8F1153A5-8406-D868-537F-60686DD9468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</p:spTree>
    <p:extLst>
      <p:ext uri="{BB962C8B-B14F-4D97-AF65-F5344CB8AC3E}">
        <p14:creationId xmlns:p14="http://schemas.microsoft.com/office/powerpoint/2010/main" val="4251008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CAC5-6BD9-2A46-A0C4-8A539BF15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FEM in 2D Scalar Equations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F3594-5CD4-410E-7870-A4E669C20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30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F09F6-8FF3-AD97-93C8-1D5DD9BD2D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01435" y="6269299"/>
            <a:ext cx="4591099" cy="365125"/>
          </a:xfrm>
        </p:spPr>
        <p:txBody>
          <a:bodyPr>
            <a:norm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65DB2BC-232F-0219-0851-A79238EDC1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250" y="1514475"/>
                <a:ext cx="10985500" cy="4662488"/>
              </a:xfrm>
            </p:spPr>
            <p:txBody>
              <a:bodyPr/>
              <a:lstStyle/>
              <a:p>
                <a:r>
                  <a:rPr lang="en-GB" dirty="0"/>
                  <a:t>The Finite Element Method (FEM) is a numerical tool to transform a PDE into a linear system of equations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endChr m:val="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𝑞𝑢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 ⟹ </m:t>
                      </m:r>
                      <m:nary>
                        <m:naryPr>
                          <m:chr m:val="∑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The PDE is transformed to its weak form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bSup>
                                <m:sSub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nary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∮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mtClean="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d>
                            <m:d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GB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sSup>
                                <m:s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a:rPr lang="en-GB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∬"/>
                          <m:supHide m:val="on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</m:sub>
                        <m:sup/>
                        <m:e>
                          <m:sSubSup>
                            <m:sSub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GB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GB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nary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Being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.	For Galerkin method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65DB2BC-232F-0219-0851-A79238EDC1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250" y="1514475"/>
                <a:ext cx="10985500" cy="4662488"/>
              </a:xfrm>
              <a:blipFill>
                <a:blip r:embed="rId2"/>
                <a:stretch>
                  <a:fillRect l="-499" t="-1307" b="-100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Placeholder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8D83766F-BF1C-9DCC-6ED7-33B8A879115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</p:spTree>
    <p:extLst>
      <p:ext uri="{BB962C8B-B14F-4D97-AF65-F5344CB8AC3E}">
        <p14:creationId xmlns:p14="http://schemas.microsoft.com/office/powerpoint/2010/main" val="13224543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16F26-CD75-0FDC-DC50-8B8F003D1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D5EF-AC27-68EE-751F-D10B942E4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FEM in 3D Vector Equations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F671E-734C-711A-7399-E98A4A657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E441BF-5F25-472C-890A-B3E0CFED072E}" type="slidenum">
              <a:rPr lang="en-GB" smtClean="0"/>
              <a:t>31</a:t>
            </a:fld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E623A4-62FC-26D1-D5EC-1703589127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01435" y="6269299"/>
            <a:ext cx="4591099" cy="365125"/>
          </a:xfrm>
        </p:spPr>
        <p:txBody>
          <a:bodyPr>
            <a:normAutofit/>
          </a:bodyPr>
          <a:lstStyle/>
          <a:p>
            <a:r>
              <a:rPr lang="es-ES" dirty="0"/>
              <a:t>Hernán Domingo | PhD </a:t>
            </a:r>
            <a:r>
              <a:rPr lang="es-ES" dirty="0" err="1"/>
              <a:t>Research</a:t>
            </a:r>
            <a:r>
              <a:rPr lang="es-ES" dirty="0"/>
              <a:t> Plan </a:t>
            </a:r>
            <a:r>
              <a:rPr lang="es-ES" dirty="0" err="1"/>
              <a:t>Defence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2EC7BC9-8E2D-9307-0E05-71F7EE238D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3250" y="1514475"/>
                <a:ext cx="10985500" cy="4662488"/>
              </a:xfrm>
            </p:spPr>
            <p:txBody>
              <a:bodyPr/>
              <a:lstStyle/>
              <a:p>
                <a:r>
                  <a:rPr lang="en-GB" dirty="0"/>
                  <a:t>Similar as shown before but now the equation looks like: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endChr m:val="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</m:e>
                          </m:d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PDE is transformed to its weak form</a:t>
                </a:r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supHide m:val="on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s-ES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s-E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1" i="1" smtClean="0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</m:e>
                          </m:d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s-ES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s-E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</m:e>
                          </m:d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∯"/>
                          <m:supHide m:val="on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b="0" i="0" smtClean="0">
                                      <a:latin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sSup>
                                    <m:sSupPr>
                                      <m:ctrlPr>
                                        <a:rPr lang="es-E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ES" b="1" i="1">
                                          <a:latin typeface="Cambria Math" panose="02040503050406030204" pitchFamily="18" charset="0"/>
                                        </a:rPr>
                                        <m:t>𝑼</m:t>
                                      </m:r>
                                    </m:e>
                                    <m:sup>
                                      <m:r>
                                        <a:rPr lang="es-E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s-ES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ES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bSup>
                            </m:e>
                          </m:d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∭"/>
                          <m:supHide m:val="on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E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1" i="1" smtClean="0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p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s-E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b="1" i="1">
                                      <a:latin typeface="Cambria Math" panose="02040503050406030204" pitchFamily="18" charset="0"/>
                                    </a:rPr>
                                    <m:t>𝑼</m:t>
                                  </m:r>
                                </m:e>
                                <m:sup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</m:e>
                          </m:d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s-E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∭"/>
                          <m:supHide m:val="on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s-ES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  <m:sup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s-E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ES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es-ES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Being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dirty="0"/>
                  <a:t>.	For Galerkin method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b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0" indent="0" algn="ctr">
                  <a:buNone/>
                </a:pPr>
                <a:endParaRPr lang="en-GB" dirty="0"/>
              </a:p>
              <a:p>
                <a:r>
                  <a:rPr lang="en-GB" dirty="0" err="1"/>
                  <a:t>Nédélec</a:t>
                </a:r>
                <a:r>
                  <a:rPr lang="en-GB" dirty="0"/>
                  <a:t> shape functions force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, which is convenient for EM fields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2EC7BC9-8E2D-9307-0E05-71F7EE238D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3250" y="1514475"/>
                <a:ext cx="10985500" cy="4662488"/>
              </a:xfrm>
              <a:blipFill>
                <a:blip r:embed="rId2"/>
                <a:stretch>
                  <a:fillRect l="-499" t="-13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Placeholder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35034EBE-DC32-6309-707A-F508C5FA45F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3" b="2113"/>
          <a:stretch>
            <a:fillRect/>
          </a:stretch>
        </p:blipFill>
        <p:spPr>
          <a:xfrm>
            <a:off x="2971800" y="6000750"/>
            <a:ext cx="1447800" cy="601663"/>
          </a:xfrm>
        </p:spPr>
      </p:pic>
    </p:spTree>
    <p:extLst>
      <p:ext uri="{BB962C8B-B14F-4D97-AF65-F5344CB8AC3E}">
        <p14:creationId xmlns:p14="http://schemas.microsoft.com/office/powerpoint/2010/main" val="2639179426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2291</Words>
  <Application>Microsoft Office PowerPoint</Application>
  <PresentationFormat>Widescreen</PresentationFormat>
  <Paragraphs>297</Paragraphs>
  <Slides>31</Slides>
  <Notes>16</Notes>
  <HiddenSlides>0</HiddenSlides>
  <MMClips>3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-apple-system</vt:lpstr>
      <vt:lpstr>Arial</vt:lpstr>
      <vt:lpstr>Calibri</vt:lpstr>
      <vt:lpstr>Cambria Math</vt:lpstr>
      <vt:lpstr>system-ui</vt:lpstr>
      <vt:lpstr>Diseño personalizado</vt:lpstr>
      <vt:lpstr>EMWAVE</vt:lpstr>
      <vt:lpstr>Outline</vt:lpstr>
      <vt:lpstr>Motivation</vt:lpstr>
      <vt:lpstr>What is fusion?</vt:lpstr>
      <vt:lpstr>What is fusion?</vt:lpstr>
      <vt:lpstr>How do we heat the plasma?</vt:lpstr>
      <vt:lpstr>Fusion simulations</vt:lpstr>
      <vt:lpstr>What is Alya?</vt:lpstr>
      <vt:lpstr>What is Alya4fusion?</vt:lpstr>
      <vt:lpstr>Goals</vt:lpstr>
      <vt:lpstr>State of the Art</vt:lpstr>
      <vt:lpstr>State of the Art</vt:lpstr>
      <vt:lpstr>Work Plan</vt:lpstr>
      <vt:lpstr>Tasks</vt:lpstr>
      <vt:lpstr>Gantt Chart</vt:lpstr>
      <vt:lpstr>Work done so far</vt:lpstr>
      <vt:lpstr>Work done so far: EMWAVE</vt:lpstr>
      <vt:lpstr>Cold Plasma</vt:lpstr>
      <vt:lpstr>What do we plot?</vt:lpstr>
      <vt:lpstr>What do we plot?</vt:lpstr>
      <vt:lpstr>Propagation of O-Waves and X-Waves</vt:lpstr>
      <vt:lpstr>Cold Plasma: Benchmark</vt:lpstr>
      <vt:lpstr>Cold Plasma: ITER Scenario</vt:lpstr>
      <vt:lpstr>1st Order Edge Elements Results</vt:lpstr>
      <vt:lpstr>Potential journals and conferences</vt:lpstr>
      <vt:lpstr>These slides and their references can be found in the following repository:</vt:lpstr>
      <vt:lpstr>PowerPoint Presentation</vt:lpstr>
      <vt:lpstr>Coupling between modules</vt:lpstr>
      <vt:lpstr>EQUILI</vt:lpstr>
      <vt:lpstr>FEM in 2D Scalar Equations</vt:lpstr>
      <vt:lpstr>FEM in 3D Vector Equations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Gemma Ribas</dc:creator>
  <cp:lastModifiedBy>hernán domingo ramos</cp:lastModifiedBy>
  <cp:revision>289</cp:revision>
  <dcterms:created xsi:type="dcterms:W3CDTF">2019-06-06T09:57:11Z</dcterms:created>
  <dcterms:modified xsi:type="dcterms:W3CDTF">2025-10-27T09:08:57Z</dcterms:modified>
</cp:coreProperties>
</file>